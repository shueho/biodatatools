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tags/tag7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tags/tag10.xml" ContentType="application/vnd.openxmlformats-officedocument.presentationml.tags+xml"/>
  <Override PartName="/ppt/notesSlides/notesSlide13.xml" ContentType="application/vnd.openxmlformats-officedocument.presentationml.notesSlide+xml"/>
  <Override PartName="/ppt/tags/tag11.xml" ContentType="application/vnd.openxmlformats-officedocument.presentationml.tags+xml"/>
  <Override PartName="/ppt/notesSlides/notesSlide14.xml" ContentType="application/vnd.openxmlformats-officedocument.presentationml.notesSlide+xml"/>
  <Override PartName="/ppt/tags/tag12.xml" ContentType="application/vnd.openxmlformats-officedocument.presentationml.tags+xml"/>
  <Override PartName="/ppt/notesSlides/notesSlide15.xml" ContentType="application/vnd.openxmlformats-officedocument.presentationml.notesSlide+xml"/>
  <Override PartName="/ppt/tags/tag13.xml" ContentType="application/vnd.openxmlformats-officedocument.presentationml.tags+xml"/>
  <Override PartName="/ppt/notesSlides/notesSlide16.xml" ContentType="application/vnd.openxmlformats-officedocument.presentationml.notesSlide+xml"/>
  <Override PartName="/ppt/tags/tag14.xml" ContentType="application/vnd.openxmlformats-officedocument.presentationml.tags+xml"/>
  <Override PartName="/ppt/notesSlides/notesSlide17.xml" ContentType="application/vnd.openxmlformats-officedocument.presentationml.notesSlide+xml"/>
  <Override PartName="/ppt/tags/tag15.xml" ContentType="application/vnd.openxmlformats-officedocument.presentationml.tags+xml"/>
  <Override PartName="/ppt/notesSlides/notesSlide18.xml" ContentType="application/vnd.openxmlformats-officedocument.presentationml.notesSlide+xml"/>
  <Override PartName="/ppt/tags/tag16.xml" ContentType="application/vnd.openxmlformats-officedocument.presentationml.tags+xml"/>
  <Override PartName="/ppt/notesSlides/notesSlide19.xml" ContentType="application/vnd.openxmlformats-officedocument.presentationml.notesSlide+xml"/>
  <Override PartName="/ppt/tags/tag17.xml" ContentType="application/vnd.openxmlformats-officedocument.presentationml.tags+xml"/>
  <Override PartName="/ppt/notesSlides/notesSlide20.xml" ContentType="application/vnd.openxmlformats-officedocument.presentationml.notesSlide+xml"/>
  <Override PartName="/ppt/tags/tag18.xml" ContentType="application/vnd.openxmlformats-officedocument.presentationml.tags+xml"/>
  <Override PartName="/ppt/notesSlides/notesSlide21.xml" ContentType="application/vnd.openxmlformats-officedocument.presentationml.notesSlide+xml"/>
  <Override PartName="/ppt/tags/tag19.xml" ContentType="application/vnd.openxmlformats-officedocument.presentationml.tags+xml"/>
  <Override PartName="/ppt/notesSlides/notesSlide22.xml" ContentType="application/vnd.openxmlformats-officedocument.presentationml.notesSlide+xml"/>
  <Override PartName="/ppt/tags/tag20.xml" ContentType="application/vnd.openxmlformats-officedocument.presentationml.tags+xml"/>
  <Override PartName="/ppt/notesSlides/notesSlide23.xml" ContentType="application/vnd.openxmlformats-officedocument.presentationml.notesSlide+xml"/>
  <Override PartName="/ppt/tags/tag21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ags/tag22.xml" ContentType="application/vnd.openxmlformats-officedocument.presentationml.tag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ags/tag23.xml" ContentType="application/vnd.openxmlformats-officedocument.presentationml.tags+xml"/>
  <Override PartName="/ppt/notesSlides/notesSlide28.xml" ContentType="application/vnd.openxmlformats-officedocument.presentationml.notesSlide+xml"/>
  <Override PartName="/ppt/tags/tag24.xml" ContentType="application/vnd.openxmlformats-officedocument.presentationml.tags+xml"/>
  <Override PartName="/ppt/notesSlides/notesSlide29.xml" ContentType="application/vnd.openxmlformats-officedocument.presentationml.notesSlide+xml"/>
  <Override PartName="/ppt/tags/tag25.xml" ContentType="application/vnd.openxmlformats-officedocument.presentationml.tags+xml"/>
  <Override PartName="/ppt/notesSlides/notesSlide30.xml" ContentType="application/vnd.openxmlformats-officedocument.presentationml.notesSlide+xml"/>
  <Override PartName="/ppt/tags/tag26.xml" ContentType="application/vnd.openxmlformats-officedocument.presentationml.tags+xml"/>
  <Override PartName="/ppt/notesSlides/notesSlide31.xml" ContentType="application/vnd.openxmlformats-officedocument.presentationml.notesSlide+xml"/>
  <Override PartName="/ppt/tags/tag27.xml" ContentType="application/vnd.openxmlformats-officedocument.presentationml.tags+xml"/>
  <Override PartName="/ppt/notesSlides/notesSlide32.xml" ContentType="application/vnd.openxmlformats-officedocument.presentationml.notesSlide+xml"/>
  <Override PartName="/ppt/tags/tag28.xml" ContentType="application/vnd.openxmlformats-officedocument.presentationml.tags+xml"/>
  <Override PartName="/ppt/notesSlides/notesSlide33.xml" ContentType="application/vnd.openxmlformats-officedocument.presentationml.notesSlide+xml"/>
  <Override PartName="/ppt/tags/tag29.xml" ContentType="application/vnd.openxmlformats-officedocument.presentationml.tags+xml"/>
  <Override PartName="/ppt/notesSlides/notesSlide34.xml" ContentType="application/vnd.openxmlformats-officedocument.presentationml.notesSlide+xml"/>
  <Override PartName="/ppt/tags/tag30.xml" ContentType="application/vnd.openxmlformats-officedocument.presentationml.tags+xml"/>
  <Override PartName="/ppt/notesSlides/notesSlide35.xml" ContentType="application/vnd.openxmlformats-officedocument.presentationml.notesSlide+xml"/>
  <Override PartName="/ppt/tags/tag31.xml" ContentType="application/vnd.openxmlformats-officedocument.presentationml.tags+xml"/>
  <Override PartName="/ppt/notesSlides/notesSlide36.xml" ContentType="application/vnd.openxmlformats-officedocument.presentationml.notesSlide+xml"/>
  <Override PartName="/ppt/tags/tag32.xml" ContentType="application/vnd.openxmlformats-officedocument.presentationml.tags+xml"/>
  <Override PartName="/ppt/notesSlides/notesSlide37.xml" ContentType="application/vnd.openxmlformats-officedocument.presentationml.notesSlide+xml"/>
  <Override PartName="/ppt/tags/tag33.xml" ContentType="application/vnd.openxmlformats-officedocument.presentationml.tags+xml"/>
  <Override PartName="/ppt/notesSlides/notesSlide38.xml" ContentType="application/vnd.openxmlformats-officedocument.presentationml.notesSlide+xml"/>
  <Override PartName="/ppt/tags/tag34.xml" ContentType="application/vnd.openxmlformats-officedocument.presentationml.tags+xml"/>
  <Override PartName="/ppt/notesSlides/notesSlide39.xml" ContentType="application/vnd.openxmlformats-officedocument.presentationml.notesSlide+xml"/>
  <Override PartName="/ppt/tags/tag35.xml" ContentType="application/vnd.openxmlformats-officedocument.presentationml.tags+xml"/>
  <Override PartName="/ppt/notesSlides/notesSlide40.xml" ContentType="application/vnd.openxmlformats-officedocument.presentationml.notesSlide+xml"/>
  <Override PartName="/ppt/tags/tag36.xml" ContentType="application/vnd.openxmlformats-officedocument.presentationml.tags+xml"/>
  <Override PartName="/ppt/notesSlides/notesSlide41.xml" ContentType="application/vnd.openxmlformats-officedocument.presentationml.notesSlide+xml"/>
  <Override PartName="/ppt/tags/tag37.xml" ContentType="application/vnd.openxmlformats-officedocument.presentationml.tags+xml"/>
  <Override PartName="/ppt/notesSlides/notesSlide42.xml" ContentType="application/vnd.openxmlformats-officedocument.presentationml.notesSlide+xml"/>
  <Override PartName="/ppt/tags/tag38.xml" ContentType="application/vnd.openxmlformats-officedocument.presentationml.tags+xml"/>
  <Override PartName="/ppt/notesSlides/notesSlide43.xml" ContentType="application/vnd.openxmlformats-officedocument.presentationml.notesSlide+xml"/>
  <Override PartName="/ppt/tags/tag39.xml" ContentType="application/vnd.openxmlformats-officedocument.presentationml.tags+xml"/>
  <Override PartName="/ppt/notesSlides/notesSlide44.xml" ContentType="application/vnd.openxmlformats-officedocument.presentationml.notesSlide+xml"/>
  <Override PartName="/ppt/tags/tag40.xml" ContentType="application/vnd.openxmlformats-officedocument.presentationml.tags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tags/tag41.xml" ContentType="application/vnd.openxmlformats-officedocument.presentationml.tags+xml"/>
  <Override PartName="/ppt/notesSlides/notesSlide47.xml" ContentType="application/vnd.openxmlformats-officedocument.presentationml.notesSlide+xml"/>
  <Override PartName="/ppt/tags/tag42.xml" ContentType="application/vnd.openxmlformats-officedocument.presentationml.tags+xml"/>
  <Override PartName="/ppt/notesSlides/notesSlide48.xml" ContentType="application/vnd.openxmlformats-officedocument.presentationml.notesSlide+xml"/>
  <Override PartName="/ppt/tags/tag43.xml" ContentType="application/vnd.openxmlformats-officedocument.presentationml.tags+xml"/>
  <Override PartName="/ppt/notesSlides/notesSlide49.xml" ContentType="application/vnd.openxmlformats-officedocument.presentationml.notesSlide+xml"/>
  <Override PartName="/ppt/tags/tag44.xml" ContentType="application/vnd.openxmlformats-officedocument.presentationml.tags+xml"/>
  <Override PartName="/ppt/notesSlides/notesSlide50.xml" ContentType="application/vnd.openxmlformats-officedocument.presentationml.notesSlide+xml"/>
  <Override PartName="/ppt/tags/tag45.xml" ContentType="application/vnd.openxmlformats-officedocument.presentationml.tags+xml"/>
  <Override PartName="/ppt/notesSlides/notesSlide51.xml" ContentType="application/vnd.openxmlformats-officedocument.presentationml.notesSlide+xml"/>
  <Override PartName="/ppt/tags/tag46.xml" ContentType="application/vnd.openxmlformats-officedocument.presentationml.tags+xml"/>
  <Override PartName="/ppt/notesSlides/notesSlide52.xml" ContentType="application/vnd.openxmlformats-officedocument.presentationml.notesSlide+xml"/>
  <Override PartName="/ppt/tags/tag47.xml" ContentType="application/vnd.openxmlformats-officedocument.presentationml.tags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tags/tag48.xml" ContentType="application/vnd.openxmlformats-officedocument.presentationml.tags+xml"/>
  <Override PartName="/ppt/notesSlides/notesSlide55.xml" ContentType="application/vnd.openxmlformats-officedocument.presentationml.notesSlide+xml"/>
  <Override PartName="/ppt/tags/tag49.xml" ContentType="application/vnd.openxmlformats-officedocument.presentationml.tags+xml"/>
  <Override PartName="/ppt/notesSlides/notesSlide56.xml" ContentType="application/vnd.openxmlformats-officedocument.presentationml.notesSlide+xml"/>
  <Override PartName="/ppt/tags/tag50.xml" ContentType="application/vnd.openxmlformats-officedocument.presentationml.tags+xml"/>
  <Override PartName="/ppt/notesSlides/notesSlide57.xml" ContentType="application/vnd.openxmlformats-officedocument.presentationml.notesSlide+xml"/>
  <Override PartName="/ppt/tags/tag51.xml" ContentType="application/vnd.openxmlformats-officedocument.presentationml.tags+xml"/>
  <Override PartName="/ppt/notesSlides/notesSlide58.xml" ContentType="application/vnd.openxmlformats-officedocument.presentationml.notesSlide+xml"/>
  <Override PartName="/ppt/tags/tag52.xml" ContentType="application/vnd.openxmlformats-officedocument.presentationml.tags+xml"/>
  <Override PartName="/ppt/notesSlides/notesSlide59.xml" ContentType="application/vnd.openxmlformats-officedocument.presentationml.notesSlide+xml"/>
  <Override PartName="/ppt/tags/tag53.xml" ContentType="application/vnd.openxmlformats-officedocument.presentationml.tags+xml"/>
  <Override PartName="/ppt/notesSlides/notesSlide60.xml" ContentType="application/vnd.openxmlformats-officedocument.presentationml.notesSlide+xml"/>
  <Override PartName="/ppt/tags/tag54.xml" ContentType="application/vnd.openxmlformats-officedocument.presentationml.tags+xml"/>
  <Override PartName="/ppt/notesSlides/notesSlide61.xml" ContentType="application/vnd.openxmlformats-officedocument.presentationml.notesSlide+xml"/>
  <Override PartName="/ppt/tags/tag55.xml" ContentType="application/vnd.openxmlformats-officedocument.presentationml.tags+xml"/>
  <Override PartName="/ppt/notesSlides/notesSlide62.xml" ContentType="application/vnd.openxmlformats-officedocument.presentationml.notesSlide+xml"/>
  <Override PartName="/ppt/tags/tag56.xml" ContentType="application/vnd.openxmlformats-officedocument.presentationml.tags+xml"/>
  <Override PartName="/ppt/notesSlides/notesSlide63.xml" ContentType="application/vnd.openxmlformats-officedocument.presentationml.notesSlide+xml"/>
  <Override PartName="/ppt/tags/tag57.xml" ContentType="application/vnd.openxmlformats-officedocument.presentationml.tags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tags/tag58.xml" ContentType="application/vnd.openxmlformats-officedocument.presentationml.tags+xml"/>
  <Override PartName="/ppt/notesSlides/notesSlide66.xml" ContentType="application/vnd.openxmlformats-officedocument.presentationml.notesSlide+xml"/>
  <Override PartName="/ppt/tags/tag59.xml" ContentType="application/vnd.openxmlformats-officedocument.presentationml.tags+xml"/>
  <Override PartName="/ppt/notesSlides/notesSlide67.xml" ContentType="application/vnd.openxmlformats-officedocument.presentationml.notesSlide+xml"/>
  <Override PartName="/ppt/tags/tag60.xml" ContentType="application/vnd.openxmlformats-officedocument.presentationml.tags+xml"/>
  <Override PartName="/ppt/notesSlides/notesSlide68.xml" ContentType="application/vnd.openxmlformats-officedocument.presentationml.notesSlide+xml"/>
  <Override PartName="/ppt/tags/tag61.xml" ContentType="application/vnd.openxmlformats-officedocument.presentationml.tags+xml"/>
  <Override PartName="/ppt/notesSlides/notesSlide69.xml" ContentType="application/vnd.openxmlformats-officedocument.presentationml.notesSlide+xml"/>
  <Override PartName="/ppt/tags/tag62.xml" ContentType="application/vnd.openxmlformats-officedocument.presentationml.tags+xml"/>
  <Override PartName="/ppt/notesSlides/notesSlide70.xml" ContentType="application/vnd.openxmlformats-officedocument.presentationml.notesSlide+xml"/>
  <Override PartName="/ppt/tags/tag63.xml" ContentType="application/vnd.openxmlformats-officedocument.presentationml.tags+xml"/>
  <Override PartName="/ppt/notesSlides/notesSlide71.xml" ContentType="application/vnd.openxmlformats-officedocument.presentationml.notesSlide+xml"/>
  <Override PartName="/ppt/tags/tag64.xml" ContentType="application/vnd.openxmlformats-officedocument.presentationml.tags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7"/>
  </p:notesMasterIdLst>
  <p:sldIdLst>
    <p:sldId id="257" r:id="rId2"/>
    <p:sldId id="517" r:id="rId3"/>
    <p:sldId id="518" r:id="rId4"/>
    <p:sldId id="519" r:id="rId5"/>
    <p:sldId id="520" r:id="rId6"/>
    <p:sldId id="521" r:id="rId7"/>
    <p:sldId id="522" r:id="rId8"/>
    <p:sldId id="523" r:id="rId9"/>
    <p:sldId id="524" r:id="rId10"/>
    <p:sldId id="525" r:id="rId11"/>
    <p:sldId id="417" r:id="rId12"/>
    <p:sldId id="285" r:id="rId13"/>
    <p:sldId id="526" r:id="rId14"/>
    <p:sldId id="400" r:id="rId15"/>
    <p:sldId id="407" r:id="rId16"/>
    <p:sldId id="527" r:id="rId17"/>
    <p:sldId id="528" r:id="rId18"/>
    <p:sldId id="401" r:id="rId19"/>
    <p:sldId id="529" r:id="rId20"/>
    <p:sldId id="530" r:id="rId21"/>
    <p:sldId id="531" r:id="rId22"/>
    <p:sldId id="532" r:id="rId23"/>
    <p:sldId id="533" r:id="rId24"/>
    <p:sldId id="534" r:id="rId25"/>
    <p:sldId id="535" r:id="rId26"/>
    <p:sldId id="536" r:id="rId27"/>
    <p:sldId id="537" r:id="rId28"/>
    <p:sldId id="364" r:id="rId29"/>
    <p:sldId id="538" r:id="rId30"/>
    <p:sldId id="487" r:id="rId31"/>
    <p:sldId id="539" r:id="rId32"/>
    <p:sldId id="362" r:id="rId33"/>
    <p:sldId id="363" r:id="rId34"/>
    <p:sldId id="540" r:id="rId35"/>
    <p:sldId id="541" r:id="rId36"/>
    <p:sldId id="542" r:id="rId37"/>
    <p:sldId id="543" r:id="rId38"/>
    <p:sldId id="544" r:id="rId39"/>
    <p:sldId id="545" r:id="rId40"/>
    <p:sldId id="546" r:id="rId41"/>
    <p:sldId id="547" r:id="rId42"/>
    <p:sldId id="548" r:id="rId43"/>
    <p:sldId id="549" r:id="rId44"/>
    <p:sldId id="550" r:id="rId45"/>
    <p:sldId id="551" r:id="rId46"/>
    <p:sldId id="552" r:id="rId47"/>
    <p:sldId id="553" r:id="rId48"/>
    <p:sldId id="554" r:id="rId49"/>
    <p:sldId id="555" r:id="rId50"/>
    <p:sldId id="556" r:id="rId51"/>
    <p:sldId id="557" r:id="rId52"/>
    <p:sldId id="558" r:id="rId53"/>
    <p:sldId id="559" r:id="rId54"/>
    <p:sldId id="560" r:id="rId55"/>
    <p:sldId id="561" r:id="rId56"/>
    <p:sldId id="562" r:id="rId57"/>
    <p:sldId id="563" r:id="rId58"/>
    <p:sldId id="564" r:id="rId59"/>
    <p:sldId id="565" r:id="rId60"/>
    <p:sldId id="566" r:id="rId61"/>
    <p:sldId id="567" r:id="rId62"/>
    <p:sldId id="568" r:id="rId63"/>
    <p:sldId id="569" r:id="rId64"/>
    <p:sldId id="570" r:id="rId65"/>
    <p:sldId id="571" r:id="rId66"/>
    <p:sldId id="572" r:id="rId67"/>
    <p:sldId id="491" r:id="rId68"/>
    <p:sldId id="573" r:id="rId69"/>
    <p:sldId id="482" r:id="rId70"/>
    <p:sldId id="495" r:id="rId71"/>
    <p:sldId id="498" r:id="rId72"/>
    <p:sldId id="574" r:id="rId73"/>
    <p:sldId id="575" r:id="rId74"/>
    <p:sldId id="576" r:id="rId75"/>
    <p:sldId id="297" r:id="rId7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0447F1-515A-40AD-976D-F688464E28DC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57CD99-A7E1-483D-9BE8-A41EFC334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822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C2B3-77A8-2799-410D-DAA569A10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A050BE-299B-7885-E385-A7C839A07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57C5B4-7C1F-A8A7-BAF4-EEAC9254E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2FC22E4-B641-65B6-30C1-A471CEEB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6916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2615E-70A4-3AE2-C4DC-7F0D9233F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5421579-AC2A-69ED-EAEF-C5898F0AE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83F30D-F747-D368-CA90-8ACFF2589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F6C674-ADFB-BB67-E124-2A31E9C1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110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E5264-617A-264D-C0E0-D775C9B8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5DADD4A-C9B2-C3F9-A71B-642E9F9AF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C4EDC4-3F83-E38D-A153-2FC0AA9AD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FB13D0-F78D-7DAC-1939-E921BEEA5F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3648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93216-5A1E-DCC4-8071-728DCC2D2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8A27AC-D2AB-6163-D730-825E36444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826EFF-D715-ADAC-6668-1A93111EA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F1B466-38E6-6DF9-4E83-B84CA337E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32765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4E6B4-DE6F-3AAC-F06F-2017082C4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9A8570-92DF-EF53-36B2-3365C965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D80EB30-D217-BEFB-97C6-D9D6FAA70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9C664D-9101-BAF3-8E1D-6E55CD568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19316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144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52F14-94C5-218F-EE5B-053C75300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97DA36-8D70-F6BD-3D3D-5BFE7F9E9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8ED7526-B2BD-D723-61D4-8DF81067F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428741-8FFE-9AE2-B5AB-CAF1303D4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77146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06F13-EB3D-1297-8037-CB6BFEA3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42CE32B-5A6D-7AEC-252E-57B3FDB0E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9AE756D-D588-1C58-7C5F-37DB7CA108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92ECE1-07D2-83E9-B5D9-07013C1E6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73257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774C1-07AF-2945-059C-EF87ADE50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880C0E-C9A4-1281-E6B4-4A89E9EB1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F18E9BA-152A-0302-9065-43DAAF913D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7F4A6C1-E481-5CAF-7980-A296FAE4AB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89260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1446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2DA38-D1E7-29F4-7E34-8BA676C90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1D9C6BA-14B6-7432-0BF2-2BEEDF53A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65A6307-CFAC-A372-AB9E-06E645F141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942F616-ADAE-7457-EF8C-A4E647EAE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353354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A5B76-0A7D-BE86-82A5-B0194B5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E05B81-C62B-BBBA-5956-DB66E3BC7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4BDD623-C231-3E23-BF5D-5FE154345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3685CC-06A9-B365-F04B-00770EE048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45905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B9705-6FAD-7F40-E00E-50D5A275E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19072C-46F7-9151-245D-A2E87EFF9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90EE2F-8EF8-F79C-B7DF-9B5EC9996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38C1135-D7AC-8B02-31C0-FB028D522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56794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B7F80-D766-7818-CC2F-7AFA57920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697E272-D38B-B610-C364-2E732B0AA7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25CE90-18A3-3372-A1A4-B8939790A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506DD8-D174-0B26-EA66-DDB026E0E0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57594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6530-58D8-143B-5336-58D2E2EAF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DCBE7F-C278-0721-6997-57C5EFC71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213A5-6670-ED09-2356-64979DF71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28E7E84-8E3E-3816-B000-488F0D365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62399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A9790-AD45-DC8F-3BDD-25EAA25F7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92932B3-3698-2C57-F69F-2DD43B569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A6F8B4-22CD-02AA-735D-B7E6F9C275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399621-B10E-7374-FFD9-C352D0203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02748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EBB6-337D-E60A-D85E-BD97FDE5C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266E206-A092-17FD-4C9D-E45FDE17C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C3847DC-C3D8-1424-CD59-EE1BC41DCF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49B4C4D-97B7-DC67-2D89-83CCE5D1E0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09841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388E0-B827-E3D7-29CB-756FDB1CE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CB2EFC2-94EA-861F-9697-2C82A741A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7C487C6-81D3-A0A1-0C8A-1BDF838E3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73A2FCB-3113-36FF-B878-097A7AA0F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14062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BE0EB-6648-ABAB-2E13-1189F1CAE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B70DC75-C6EA-E0A6-5392-86311081C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D1D2487-880D-D3D0-EEB4-3F36BCEC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DCD3FB-BB09-21DC-F15E-4B52393C70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7603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A360-9298-8846-1DBB-3E3CBE90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286C32A-10EF-3527-E1CB-2683F9DE3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3CB9505-7FFE-3699-F816-0DCC6887E4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6CBEAE-36CF-3E81-448C-F9FB1859B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04767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DE4EA-CCB1-67A3-F1F2-A5A0848B0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896EE97-DF2B-062E-DB15-6E34E3671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85FD0D5-BAEA-87FC-BE30-3EECCB8FD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25B4FD-A23B-D90B-E056-C16B5BB81A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10391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E64F3-3A34-E9DD-38EC-ADD567678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183974F-17F6-07ED-8109-E8D8EB388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BA75B02-A73C-83F6-9051-1A4288633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1D0E085-9529-1734-596C-8CE6B95AE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52153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C4F9F-AB10-AEBD-0157-52DC690D4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94917A1-D85F-B742-9FFE-B622D27312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7B13DEF-0F0D-5D81-3CF7-F9A556F490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98B02C-AD21-74FD-2EF8-779C9E680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69882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1446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64477-A984-D051-180A-0B0CFB81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488E243-496B-8C19-0606-DABE51741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537905-4358-2A83-1039-C3C285102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442088-238F-E82E-2D9B-C206DD1DE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69994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C2E8-551A-2970-A219-62B093724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FBA4B5-7459-7B9A-610C-BD05AEF7E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BE23F3-914C-B498-3EEA-9988EAC49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D533F2-5B92-C0A7-A861-28BD692F3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02935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E291-DEF0-B826-C0E6-EA3094A87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14EE0CE-A96F-34B5-5438-A5FD75BCC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C226631-FC5C-0A80-8B12-9B21665FD5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88F76D3-B9F7-F6D1-9FBE-4FA808E9A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020702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0A13-EAC0-8C88-B3EB-3002966F5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482F54-3F9A-162E-3159-DE1E576E5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07CCF39-0F0C-DBB6-DAF4-2039D42F37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E21F859-26D9-17EC-0580-AB6CF71D1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9141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41D9B-4364-D762-385A-BCEF676AD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234DBB-5F9B-6EE4-EE91-97A0F306A3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E499FFD-B1CB-A1EB-A084-8E35433C3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91E73E-B387-8D91-0D47-804618F108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309849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7D28B-D31F-79DC-1EB7-699803E6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F76EC0-4EFD-18B1-30F2-0D717BF1EB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94E41C9-E16A-ACDF-10F2-97E96F47CC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36E7B8-02EB-FC7F-9590-D569BCBA0A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084050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665A5-9153-C4BB-0702-93C9C549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2F97BDF-6326-AF7A-7EB1-DD6281D75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7B3AE5-1B13-C783-5306-2F3C8F791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0EF27B-1E22-F4B4-E49F-ADAD78FFEB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93625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3D185-F350-4E01-4871-F80197C7A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654B2F-7931-D67F-EBE2-7952CAAB9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E1902-075E-5454-7153-36BC425E5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CF9194-485F-8784-76E2-58A06863C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62850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8FD5-3F5B-10B8-3F10-7CC1F9337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83BD707-1E68-2D77-53A7-1A8CF80D1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ED2249-0FA4-CDB6-DD97-D5B9715B4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BCBA2B-A5BE-F093-DDF9-D58229CF90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06049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820DC-BAF8-9994-E6B2-2EC054779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08526EC-4273-9B36-C75B-207743895B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7DE7CA2-CC66-6919-3E82-054D6C51A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6674BAF-EFAE-47CA-59C1-B2F6714F42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96286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ACC90-16F0-1783-DB4C-0FA984DE6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3729A7A-BFED-52C3-6816-D5DF112AC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23E8CD-6FDC-B50E-C18B-24187B1D3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E551BE7-84E6-2C6D-DB9C-A51F7C8A9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41508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BAF4-4964-075B-C7C4-EA7057589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EAA0BDD-C697-9DE2-2BA8-A64DDEAE3C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D9AB52F-4083-C361-5847-79B9CC005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84A3B4-1FD5-96D1-826D-A6D7E5070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20823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828B7-234A-C94C-0F94-FD8D62089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9100134-A383-31EE-1BBD-D4A6CD85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3666E47-3D3D-089B-A5D8-FF76D7BFBB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A1831F-1451-099E-0575-E89654C18D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8348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8BABC-19AC-10FC-3BC9-F9B6EAD38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2D335A-30B7-F86E-453E-D671C480E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2C037-4241-17A8-46BD-1DA01BAE8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778D259-FC65-ABC5-C075-98B1426CE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19106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D5AF9-AB3B-7626-2725-4AE87D80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CBC7FF-BF31-EB14-DFE4-541107A4C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EC4AE7C-CB30-A25F-BF60-F584641002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0778EFC-CA5A-C419-30F1-D7FE9163EE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79351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02837-7242-233B-C519-3F61D36B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2BF819E-C299-D19F-C477-2F639CA18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EF53513-5122-6916-A719-D2CAA606A3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C8F64F-D388-86F1-A750-8A6568045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36596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277CB-82C1-B6ED-7EB7-B126BE8F2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1110A1-E71E-C577-B023-8845F191B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0A80A7-F30D-9CD8-80AB-921091EC5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81289B-F58D-3BE6-F92C-670194B9DD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268335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E3F97-4510-5097-CE8E-25B48D9AE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745CA90-1018-40DA-415D-44C4B2CDC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C0BEAA3-ACAB-729F-FAAF-4EB07E2F2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A79263-4FA0-16AF-87AA-6463A431E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786256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9FE36-940E-4BCC-9855-DFE29B1F5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C1ACCCC-962B-0936-ACA2-6947C6E00F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B68D8CE-2348-22D4-33B9-6387D6A37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BA84BE7-B631-AF2A-0414-6768A8FBA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24153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7D786-55E1-C31C-D65E-7C5C51404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05BF766-A5B4-A8DB-99E1-1B61E805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C3252BB-DBC2-E529-7799-D68F8DA08B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3E396E8-420C-3477-1EFA-AE05A8EC0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89305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75795-1FC3-D661-5D3A-2AF424379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26FCC91-A80D-59E7-CD20-78BFCE2E0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3BCBCB-9612-2F96-ED90-DE5333680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7BB5E8C-D996-A870-A6B0-91C976B037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720365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83D2D-69C6-16CA-A1BF-A53AA656F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E9CB2C-AE07-DD80-8160-B0AB1FBF8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9091E8A-87E1-B6E9-AAE7-1039BECD6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6FD476-A969-0999-5592-19DE994388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512697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92C49-C562-DE56-AF9E-45E2F993A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43E843-6D27-B78C-957A-2162E9D88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FBF859D-0DE6-CA22-F374-227C003E44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7624AEE-C506-CFDA-FC15-911B86F20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034059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1C2A-94F8-E947-EC12-442906566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7D9631A-252E-22C5-9505-10511D0895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5AC9CA6-433E-C3A4-93A7-553EF457E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E0AC49-5F6D-3C03-B7B7-5575DC96A2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501300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01948-AB27-CA30-399B-7E6078A9A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9AD096-CF1A-F349-9E16-22CA1793E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7BCFCCB-FE7E-98F6-446D-738C5F33B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0C243C-FC4C-B7B6-F4FB-12A7A77759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42309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65043-8EE0-49D5-B1AC-26866CBC0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AB82456-42A8-782A-0E0B-6E7D33CF7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108C17C-A70B-5F07-CAB9-0F2DECB2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4898BB-8574-BFD9-5E47-733864CE9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331661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DD2C-8478-1343-2B90-5A1EE31EB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2078946-69C9-F4B0-6048-2DCC43D31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71399BF-72FE-D385-F046-D916183B5E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BB3F16-035F-E1C4-AD69-7ECEEFCBD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301302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6FA5A-F43C-80CB-DAE0-5C880E663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A56B210-0EB4-E66B-16BB-7FF0B0088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1A6FC2-4311-40ED-047A-3E326E096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AF24E8-1E01-3076-F4B2-22FEEE468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846851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67CFF-9DDF-D1C6-3CED-33827786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FD5EC23-D924-68CB-A6CF-11DBB5B13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E4C3D5-C399-0338-2883-7D570FC21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A65A6A-5697-3168-E278-3A9FC32D56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252399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9169D-93AF-74B6-A16B-714701287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E7D591D-AF2A-DBCB-32DF-ACE604300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88BB30A-D0FE-9E79-3555-328371A48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243703D-488E-C0ED-8897-7E04C213B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162697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11384-498D-379F-BE11-983404C85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08177D-15C9-648D-34DA-FD5326ED8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48C429-5867-B0C0-D228-BD3DB54C2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114EC0-18DA-422E-6792-B6586A2D3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1443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DB4C-276E-E21B-BCDD-A894D5E68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0B4CB6-960B-FFB0-FC3D-A69B04F51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8075F3-9A7F-E7A2-A1B3-D632EF9C2D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DD3CD77-9CC9-91E2-9C92-94CFE6C93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894468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87F9-347C-D4D8-16DD-16B49D53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AF6E739-BC06-B7A4-31DE-7FDB82D8C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7282AB-DFC6-4BDB-E3B2-3845A7A73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2A0847-35B9-F597-6DD6-F7BDCAD6CD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49117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3AA8-ADFD-6969-1AE5-6FABA220F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2261997-9930-0F7A-0369-F01027153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90E5E8-750F-5F24-23AA-3AFD2D977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EC8051-934A-F17D-109C-95926C632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058335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93355-F5FB-0764-0C32-D3EAB336D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13E649-E236-3234-3B44-1B150677C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4A9926-300E-9D48-01E6-78DBC9DEB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953EA3-39E2-1951-CDA0-9A43B9D10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249864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F58A1-C0A1-1809-73A8-D8829AF7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6565A34-A8A0-7DFE-A202-390E1ED8C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3569FD6-1B29-F4C0-6126-32653B6C4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B725B79-6B08-9641-1C3A-56FF5D9C7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165786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E4C56-4E79-977B-2C2D-D9E91D502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C0D3ED6-6500-A495-1E28-033702E6D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7C4BF-AFB6-9528-DE55-89ABCECE5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E509BBA-790C-BF83-AB02-DFBEDC148E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963507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1EDA6-3626-B954-8F5C-598F12092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8C1205-0A35-5D9E-F53B-D2E6CE4D2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D021CD-67C9-D205-2F5E-FDDA0113A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FD5B43-3A69-BCB6-6778-4569A3606A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888707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E825A-BEC2-B1FF-E563-BC540C34E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E258ECA-2BA1-3BF6-A10E-AB8CA7E80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0C8943-5EDE-2E4F-661A-38D200686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38A08C-50DD-CABF-D574-6A688A02AC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53258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F0A6E-E9D6-AB03-2CB2-098A9CDD7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075235C-AB19-C917-58D8-F53A41420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201A28B-A62B-7ED4-8072-AC39C3197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8282C74-2EB5-B15A-FBB7-AEA26A04A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53307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5B92E-C323-EF01-1E15-ADB3BE65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31FFB4-F913-60C2-311F-6761EF500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B57BAB-4E0C-45BF-F23E-BF83D4FC5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7EDDA2-785B-A6FA-1CE3-EF221A510B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70926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1AB87-1A31-0E28-7336-FBCB9766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4A7E236-629C-F551-BD36-77585606C8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875FEF3-45D8-2F01-6808-74525453F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BD23A8-ED8D-849B-CAB8-165455123C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9734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9AD24-165F-E0F7-6287-9BF364E8B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CFCCEF-2F49-5349-289F-537228F92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8575D1-543B-3555-ED75-D8D5FDF20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5E71F-6939-414C-BD31-6CEAF88FF45E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510BD1-F516-E8CE-DF37-2A117C742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218F14-9A8D-DE68-7AE2-6A9BEBD8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5128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0DD1D1-C75F-4B28-A93A-AAC868221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2AFFCC-B34E-21FE-81A3-CB6DE7276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1090AB-61D5-8720-FB04-9511A6F1A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BBE94-0B50-4834-8370-0A5AC5521CB7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5BCF9D-34E7-9773-7825-20FFC846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A4491C-30AA-6567-47A7-2DEB37BB7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06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98DFF-6DBD-432D-BBEA-829BE4E0D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7EDD09-AECE-08AD-FC58-7F38181D4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176AA6-1061-F39A-44D2-B317C21EB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326D8-7161-4444-A7B5-98302CD3B4FE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C43694-C7EF-A6D1-D9DE-1B58B3D6F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879E7D-7685-FB46-1EE4-88D6B9C8B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943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BBA72B-E0B6-F339-D089-9E9959111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1DA96E-61D1-9228-F65E-3C936F502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C3EB93F-CEA3-D8D7-8A62-2DA5A03F90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A0BFC0-5391-C499-504D-30FD12FB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6384-DD9F-4B06-9C40-A026C1023E8B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C96270-CA95-893E-1987-E09C54DC6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8BE5B0-C100-FCD2-FB1F-509CB4CE2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945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76DBC3-9566-EA2F-149E-E0AD44553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AC825E-2250-A2B0-3B14-70D110967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9B32BD-D688-5309-1926-062B44918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9014FC6-7955-67AF-961D-356F6712E3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CAC9F6B-C11B-9BF6-D662-794D533A3C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EC9BB6-AD40-9D29-A445-39D1BD49D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C7A48-5ED2-41E6-9A8A-F94D211D872B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DADAB8B-4D91-D752-45DF-D52E6DB2E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86F0B29-A065-429C-6177-C68F25B7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606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5F36CC-3CC6-CCAD-6B08-B1F5D6EFA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7EB9A6D-310D-3081-DC0A-03C60D47C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DC21A-449E-4CD3-AFA7-F53373306E15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4DABA8-87BB-7B55-3E1A-286531B27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B1886CA-87C3-3D58-3DC7-0FB6E71CB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92727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D6FA-14EC-4B80-B1E0-DDF3F535C189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A3AEEF2-E485-B873-0B98-2EAC3A8FF74A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4172301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1FB30A-193F-5228-678A-90754B650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DDB0F-6DA5-CB58-587B-BD18EA6DE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EF7EF3E-6468-24B0-D7CD-850CE0F9B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B37C5F-808D-11DA-0E65-5972E68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2E1E-0099-47AA-A182-A849DCB81AD5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11BF31-06C9-F073-EAC0-7140FCABB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1802C8-73F3-CC59-93AC-EDD3565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0126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1C16D0-184A-F659-70BD-E0E3BC9B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D778F01-EE0D-05D7-C666-12974D3FB7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52F40F-A2D4-94E8-0980-46449DEF4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4AD412-08D3-9AD4-ECF4-F84495817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0F1B5-82FE-491B-A756-21ED348B517B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230F88-5A1C-BDEC-DB8B-65387FB3A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491A03-FAC4-90E0-BD84-047712C05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06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A1D4AF-F46A-C921-9863-056204E15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EF078C-F069-9D55-F3F9-BA0183325F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B73537-991C-FA66-2093-1D1BA684F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7A156-5968-4164-862B-986608806F2C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C79D6E-F511-4720-DC68-6763E9707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9B2DC6-E276-0E18-80E3-B563DE26C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13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2CD6FA-14EC-4B80-B1E0-DDF3F535C189}" type="datetime1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F95B4BC-3074-A8BE-2382-AFF93A4CB12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526971"/>
            <a:ext cx="12192000" cy="33102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101EBB1F-6D9F-F4A2-A571-00D31384FF62}"/>
              </a:ext>
            </a:extLst>
          </p:cNvPr>
          <p:cNvSpPr txBox="1"/>
          <p:nvPr userDrawn="1"/>
        </p:nvSpPr>
        <p:spPr>
          <a:xfrm>
            <a:off x="3453737" y="6561680"/>
            <a:ext cx="5284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生物信息学教学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| 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地上飞猪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| E-mail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studid@163.com</a:t>
            </a:r>
            <a:endParaRPr kumimoji="0" lang="zh-CN" altLang="en-US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06646B9-A0D9-DD3D-0A3D-DFEBDDFBB41B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2673149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813FDC-CA08-E093-1ED9-9DED664AC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D740681-7837-3737-B767-EBFA8D5D3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ACF84F-E193-AF2A-E894-E901C7D7A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D45D8-F34D-4E14-BB68-8B203452FFF0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FFE64B-ED11-025A-62E1-06836A14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BF0CF9-3CEF-4176-F46B-3719932D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974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6F8A608-86F0-AE62-4C22-692999A4E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B64499-4B3F-6A20-76DE-E0114E7E0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0507A-5134-2D1A-1631-8F83401AF4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5AFBAA-B4B9-4901-A71A-C2527D37FAB5}" type="datetime1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4BE2BF-23B4-0A53-8559-60ED173D4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509840-5F13-931E-724A-E32CEFCBD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4060" y="636746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71881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9.xml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audio" Target="../media/media1.m4a"/><Relationship Id="rId2" Type="http://schemas.microsoft.com/office/2007/relationships/media" Target="../media/media1.m4a"/><Relationship Id="rId1" Type="http://schemas.openxmlformats.org/officeDocument/2006/relationships/tags" Target="../tags/tag38.xml"/><Relationship Id="rId6" Type="http://schemas.openxmlformats.org/officeDocument/2006/relationships/image" Target="../media/image6.png"/><Relationship Id="rId5" Type="http://schemas.openxmlformats.org/officeDocument/2006/relationships/notesSlide" Target="../notesSlides/notesSlide43.xml"/><Relationship Id="rId4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0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6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8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9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F61DC8B8-CF3A-8383-9872-9A9F51E5FBBE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16S</a:t>
            </a: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扩增子分析全</a:t>
            </a:r>
            <a:r>
              <a:rPr kumimoji="0" lang="zh-CN" altLang="en-US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流程逐步演示（流程脚本）</a:t>
            </a: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044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AB1-541F-F4A2-DC3A-9981606E6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FA42D40-417A-0504-2113-D06CCFCEB795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56F31C7-9496-2DED-21B4-C744941DC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EB88E-DDD8-95ED-B297-1919BE591B30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Ⅰ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示例数据下载（不需要可跳过）</a:t>
            </a:r>
          </a:p>
        </p:txBody>
      </p:sp>
    </p:spTree>
    <p:extLst>
      <p:ext uri="{BB962C8B-B14F-4D97-AF65-F5344CB8AC3E}">
        <p14:creationId xmlns:p14="http://schemas.microsoft.com/office/powerpoint/2010/main" val="67095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65"/>
    </mc:Choice>
    <mc:Fallback xmlns="">
      <p:transition spd="slow" advTm="7965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AF770-CDBC-79EC-118D-2B7D41228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9DA60A-D7EA-897C-6B2D-03EE556D0745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流程介绍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80ACC22-21EE-4DD6-8182-A3237D3182E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2DF237B-AA30-65F9-CDB0-E57743D52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A7371E9-B000-D67F-7FD3-119A03CA7477}"/>
              </a:ext>
            </a:extLst>
          </p:cNvPr>
          <p:cNvSpPr txBox="1"/>
          <p:nvPr/>
        </p:nvSpPr>
        <p:spPr>
          <a:xfrm>
            <a:off x="1474716" y="6365358"/>
            <a:ext cx="10092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演示代码：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https://github.com/shueho/BioDataTools/blob/master/Toy/16S.pptx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44D55CD6-F6ED-BEAA-2998-A5FA2F8B68B1}"/>
              </a:ext>
            </a:extLst>
          </p:cNvPr>
          <p:cNvGraphicFramePr>
            <a:graphicFrameLocks noGrp="1"/>
          </p:cNvGraphicFramePr>
          <p:nvPr/>
        </p:nvGraphicFramePr>
        <p:xfrm>
          <a:off x="2154872" y="1276350"/>
          <a:ext cx="7882256" cy="472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128">
                  <a:extLst>
                    <a:ext uri="{9D8B030D-6E8A-4147-A177-3AD203B41FA5}">
                      <a16:colId xmlns:a16="http://schemas.microsoft.com/office/drawing/2014/main" val="2071831372"/>
                    </a:ext>
                  </a:extLst>
                </a:gridCol>
                <a:gridCol w="3941128">
                  <a:extLst>
                    <a:ext uri="{9D8B030D-6E8A-4147-A177-3AD203B41FA5}">
                      <a16:colId xmlns:a16="http://schemas.microsoft.com/office/drawing/2014/main" val="396194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Ⅰ 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示例数据下载（不需要可跳过）</a:t>
                      </a:r>
                    </a:p>
                    <a:p>
                      <a:pPr marL="0" algn="l" defTabSz="9144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Ⅱ  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安装</a:t>
                      </a:r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QIIME 2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（不需要可跳过）</a:t>
                      </a:r>
                    </a:p>
                    <a:p>
                      <a:pPr marL="0" algn="l" defTabSz="9144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Ⅲ  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分类器下载与创建（不需要可跳过）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第一项：旧版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16S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分类器下载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第二项：新版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16S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分类器下载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第三项：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ITS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分类器下载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第四项：训练最新分类器</a:t>
                      </a:r>
                    </a:p>
                    <a:p>
                      <a:pPr marL="0" algn="l" defTabSz="9144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Ⅳ  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准备</a:t>
                      </a:r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manifest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与</a:t>
                      </a:r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metadata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文件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第一步：准备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manifest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文件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第二步：准备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metadata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文件</a:t>
                      </a:r>
                    </a:p>
                    <a:p>
                      <a:pPr marL="0" algn="l" defTabSz="9144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Ⅴ  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上游数据分析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第一步：导入序列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第二步：去引物（如需）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第三步：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DADA2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去噪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第四步：原始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ASV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丰度表统计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第五步：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OTU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聚类（可选）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第六步：低数据量样本过滤（可选）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第七步：低丰度序列过滤</a:t>
                      </a:r>
                    </a:p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Ⅵ  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物种注释与丰度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第一步：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ASV/OTU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丰度表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第二步：物种注释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第三步：合并表格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第四步：物种堆叠图（可选）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第五步：按阶元等级合并丰度表（可选）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第六步：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ANCOM-BC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分析（可选）</a:t>
                      </a:r>
                    </a:p>
                    <a:p>
                      <a:pPr marL="0" algn="l" defTabSz="9144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Ⅶ  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多样性指数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第一步：构建系统发育树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第二步：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Alpha/Beta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多样性指数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第三步：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Alpha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多样性指数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第四步：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Alpha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稀疏曲线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第五步：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Beta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多样性指数</a:t>
                      </a:r>
                    </a:p>
                    <a:p>
                      <a:pPr marL="0" algn="l" defTabSz="9144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Ⅷ  PICRUSt2</a:t>
                      </a:r>
                      <a:r>
                        <a:rPr lang="zh-CN" altLang="en-US" sz="16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功能注释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第一步：准备工作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第二步：配置</a:t>
                      </a:r>
                      <a:r>
                        <a:rPr lang="en-US" altLang="zh-CN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PICRUSt2</a:t>
                      </a:r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环境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第三步：功能注释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第四步：添加描述信息</a:t>
                      </a:r>
                    </a:p>
                    <a:p>
                      <a:pPr marL="0" algn="l" defTabSz="914400" rtl="0" eaLnBrk="1" latinLnBrk="0" hangingPunct="1"/>
                      <a:r>
                        <a:rPr lang="zh-CN" altLang="en-US" sz="1600" b="0" kern="12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+mn-cs"/>
                        </a:rPr>
                        <a:t>第五步：汇总结果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0932839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843675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68"/>
    </mc:Choice>
    <mc:Fallback xmlns="">
      <p:transition spd="slow" advTm="9168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B9CB1-0897-219C-CADD-C20AD866A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7FA8FCE-F33A-939E-22B6-0BD0CB06965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流程介绍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EA4E1AD-29DA-FF8E-409A-1ECF2BF2F25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CD5E209-CEBB-F0AF-C5C1-29C95D3AC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6C991213-8A4F-A24E-BFB2-100989C5BD1E}"/>
              </a:ext>
            </a:extLst>
          </p:cNvPr>
          <p:cNvGrpSpPr/>
          <p:nvPr/>
        </p:nvGrpSpPr>
        <p:grpSpPr>
          <a:xfrm>
            <a:off x="1025041" y="3332912"/>
            <a:ext cx="10141920" cy="603439"/>
            <a:chOff x="461038" y="3734079"/>
            <a:chExt cx="6921190" cy="60343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4F45091-0D17-8C50-FC2B-B26F82BACFE7}"/>
                </a:ext>
              </a:extLst>
            </p:cNvPr>
            <p:cNvSpPr/>
            <p:nvPr/>
          </p:nvSpPr>
          <p:spPr>
            <a:xfrm>
              <a:off x="461038" y="3734079"/>
              <a:ext cx="1674421" cy="60343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下机数据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5FD6BCF-458A-7DB1-5E75-FD1AB9F35188}"/>
                </a:ext>
              </a:extLst>
            </p:cNvPr>
            <p:cNvSpPr/>
            <p:nvPr/>
          </p:nvSpPr>
          <p:spPr>
            <a:xfrm>
              <a:off x="2578900" y="3734079"/>
              <a:ext cx="1674421" cy="60343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分析流程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C8F0BFB6-7697-5BE3-DE4C-CC1DBD0DD75F}"/>
                </a:ext>
              </a:extLst>
            </p:cNvPr>
            <p:cNvSpPr/>
            <p:nvPr/>
          </p:nvSpPr>
          <p:spPr>
            <a:xfrm>
              <a:off x="4696763" y="3734079"/>
              <a:ext cx="2685465" cy="603439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后续统计作图</a:t>
              </a:r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34D37301-9870-6BC4-D1D6-363F72BE4BF4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>
              <a:off x="2135459" y="4035799"/>
              <a:ext cx="44344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6024A5F7-C756-8799-A363-77551633B76F}"/>
                </a:ext>
              </a:extLst>
            </p:cNvPr>
            <p:cNvCxnSpPr/>
            <p:nvPr/>
          </p:nvCxnSpPr>
          <p:spPr>
            <a:xfrm>
              <a:off x="4253321" y="4035799"/>
              <a:ext cx="44344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矩形 16">
            <a:extLst>
              <a:ext uri="{FF2B5EF4-FFF2-40B4-BE49-F238E27FC236}">
                <a16:creationId xmlns:a16="http://schemas.microsoft.com/office/drawing/2014/main" id="{7DD1ED15-CE52-C0FC-B336-64BDBE8E6C0B}"/>
              </a:ext>
            </a:extLst>
          </p:cNvPr>
          <p:cNvSpPr/>
          <p:nvPr/>
        </p:nvSpPr>
        <p:spPr>
          <a:xfrm>
            <a:off x="1025041" y="4502125"/>
            <a:ext cx="5556997" cy="738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2E5C10D-F4FB-0E1E-6821-F4E84BA2090E}"/>
              </a:ext>
            </a:extLst>
          </p:cNvPr>
          <p:cNvSpPr/>
          <p:nvPr/>
        </p:nvSpPr>
        <p:spPr>
          <a:xfrm>
            <a:off x="1025041" y="2691538"/>
            <a:ext cx="10141920" cy="756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98DD76D-68A2-078E-6CFB-8C8592B6EBDD}"/>
              </a:ext>
            </a:extLst>
          </p:cNvPr>
          <p:cNvSpPr txBox="1"/>
          <p:nvPr/>
        </p:nvSpPr>
        <p:spPr>
          <a:xfrm>
            <a:off x="5285521" y="211433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60000"/>
                    <a:lumOff val="40000"/>
                  </a:srgbClr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合集内容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61063B-2DF0-996E-9D6D-88E4E54ECAF7}"/>
              </a:ext>
            </a:extLst>
          </p:cNvPr>
          <p:cNvSpPr txBox="1"/>
          <p:nvPr/>
        </p:nvSpPr>
        <p:spPr>
          <a:xfrm>
            <a:off x="2993060" y="461856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60000"/>
                    <a:lumOff val="40000"/>
                  </a:srgbClr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本期教程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1398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894"/>
    </mc:Choice>
    <mc:Fallback xmlns="">
      <p:transition spd="slow" advTm="989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53DE-DC84-D33B-32AE-E6FE0A766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5FA086E-4987-C329-22C3-9FEFE49593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Metadata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38E71F0-28B2-92AD-691C-5D4933EE85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598235-C61E-BC5A-5EFC-7FE9EFA84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A3F29FE-8586-B739-8CD9-BD8A8397BFD3}"/>
              </a:ext>
            </a:extLst>
          </p:cNvPr>
          <p:cNvSpPr txBox="1"/>
          <p:nvPr/>
        </p:nvSpPr>
        <p:spPr>
          <a:xfrm>
            <a:off x="334403" y="1045196"/>
            <a:ext cx="1152319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替换下方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project 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https://www.ncbi.nlm.nih.gov/Traces/study/?acc=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PRJNA763109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766973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465"/>
    </mc:Choice>
    <mc:Fallback>
      <p:transition spd="slow" advTm="14465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EA61-10AE-97C6-1D61-DE98ABBE2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0EEED92-5F95-71D7-0A25-6A2D1945F27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示例数据：下载数据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02CFE00-D9B5-F265-0052-1DADBB023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88E0B5-A6AB-0285-47ED-F97F79F4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55EEB5-9EDC-8D4B-58BC-0A4ED025AF58}"/>
              </a:ext>
            </a:extLst>
          </p:cNvPr>
          <p:cNvSpPr txBox="1"/>
          <p:nvPr/>
        </p:nvSpPr>
        <p:spPr>
          <a:xfrm>
            <a:off x="334404" y="2274838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需要安装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-tools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，单独下载替换下边的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编号即可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fasterq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-dump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SRR15886967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批量下载，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sra_ids.txt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编号列表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bash -c "cat sra_ids.txt |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xargs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-n 1 -P 8 -I {}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'fasterq-dump --split-3 -e 2 -t /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tmp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./00RawData {} &amp;&amp;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gzip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./00RawData/{}*.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'" &gt; download.log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26247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742"/>
    </mc:Choice>
    <mc:Fallback>
      <p:transition spd="slow" advTm="5742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E7D7B8B-6D1D-BA63-249B-B9BE6309136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22374D9-C02B-1CD1-D5EA-410DF4EE5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9B4D55-D768-F94D-1DDC-82A726BC5EA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Ⅱ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安装</a:t>
            </a: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QIIME 2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（不需要可跳过）</a:t>
            </a:r>
          </a:p>
        </p:txBody>
      </p:sp>
    </p:spTree>
    <p:extLst>
      <p:ext uri="{BB962C8B-B14F-4D97-AF65-F5344CB8AC3E}">
        <p14:creationId xmlns:p14="http://schemas.microsoft.com/office/powerpoint/2010/main" val="3603704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52"/>
    </mc:Choice>
    <mc:Fallback xmlns="">
      <p:transition spd="slow" advTm="4552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8185F8F-829B-B7CF-2182-D9E113A7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D9ABE65-58BD-D1E0-5C47-C5733C38A4B6}"/>
              </a:ext>
            </a:extLst>
          </p:cNvPr>
          <p:cNvGraphicFramePr>
            <a:graphicFrameLocks noGrp="1"/>
          </p:cNvGraphicFramePr>
          <p:nvPr/>
        </p:nvGraphicFramePr>
        <p:xfrm>
          <a:off x="3044481" y="1636739"/>
          <a:ext cx="5638166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380">
                  <a:extLst>
                    <a:ext uri="{9D8B030D-6E8A-4147-A177-3AD203B41FA5}">
                      <a16:colId xmlns:a16="http://schemas.microsoft.com/office/drawing/2014/main" val="2431581903"/>
                    </a:ext>
                  </a:extLst>
                </a:gridCol>
                <a:gridCol w="1629093">
                  <a:extLst>
                    <a:ext uri="{9D8B030D-6E8A-4147-A177-3AD203B41FA5}">
                      <a16:colId xmlns:a16="http://schemas.microsoft.com/office/drawing/2014/main" val="3532408828"/>
                    </a:ext>
                  </a:extLst>
                </a:gridCol>
                <a:gridCol w="2619693">
                  <a:extLst>
                    <a:ext uri="{9D8B030D-6E8A-4147-A177-3AD203B41FA5}">
                      <a16:colId xmlns:a16="http://schemas.microsoft.com/office/drawing/2014/main" val="361296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QIIME2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scikit-learn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分类器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6178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待发布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-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993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1.7.1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Silva</a:t>
                      </a: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数据库（不好打开）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86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1.7.1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数据库（不好打开）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250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81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82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080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3542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26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2024.5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937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5569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2023.9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1765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953324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88EC63D8-4729-068B-37B3-14D9AB1F3DFB}"/>
              </a:ext>
            </a:extLst>
          </p:cNvPr>
          <p:cNvSpPr txBox="1"/>
          <p:nvPr/>
        </p:nvSpPr>
        <p:spPr>
          <a:xfrm>
            <a:off x="3425236" y="1075607"/>
            <a:ext cx="487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版本与预训练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16S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分类器兼容性对照表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047065-BDB4-1C43-D13D-9CC57A79F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版本选择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DA9C35-FE89-2F99-C8BC-E06E53E1452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6415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088"/>
    </mc:Choice>
    <mc:Fallback xmlns="">
      <p:transition spd="slow" advTm="26088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550-37E0-33B8-43F3-5C4B8A9A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39E52D4-FD89-2BB1-07FA-B56D51DF5E4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136135B-BA83-14E7-F5A0-E452D35FF65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570ED04-9436-260B-5742-58908A801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F5CD11D-EDB5-2BB7-01AB-D7C671829853}"/>
              </a:ext>
            </a:extLst>
          </p:cNvPr>
          <p:cNvSpPr txBox="1"/>
          <p:nvPr/>
        </p:nvSpPr>
        <p:spPr>
          <a:xfrm>
            <a:off x="334404" y="1013814"/>
            <a:ext cx="11523191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64439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16"/>
    </mc:Choice>
    <mc:Fallback xmlns="">
      <p:transition spd="slow" advTm="6016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B5BF5-0BFB-5942-4C9B-065497F96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C1B1A12-0D4B-5123-1CF7-EC19A8D6E6B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常见问题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BE3A7B5-3154-3428-E3A8-C4B9EADF1B7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9354C62-9896-C9E7-7FC0-73EDD56EF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D07658-971C-4488-82BE-D93503B66675}"/>
              </a:ext>
            </a:extLst>
          </p:cNvPr>
          <p:cNvSpPr txBox="1"/>
          <p:nvPr/>
        </p:nvSpPr>
        <p:spPr>
          <a:xfrm>
            <a:off x="334404" y="1192976"/>
            <a:ext cx="11523191" cy="53860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参考官方文档：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无法读取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文件代理网页，或者手动从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到本地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https://gh-proxy.org/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codna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运行太慢，可以使用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版本太新依赖文件找不到，可以下载旧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稳定版本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/amplicon/released/qiime2-amplicon-ubuntu-latest-conda.yml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95327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502"/>
    </mc:Choice>
    <mc:Fallback xmlns="">
      <p:transition spd="slow" advTm="3450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B39D4-9946-0928-C046-9F0BCFB49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A39EEC8-2376-7C76-9665-449615876905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8CD4DCD-AF5C-2765-4A5F-D73C9ABE69B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949C95-FEB5-E626-A2C8-8C747435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4C213F4-BBC8-F3DC-A12E-675451CB472A}"/>
              </a:ext>
            </a:extLst>
          </p:cNvPr>
          <p:cNvSpPr txBox="1"/>
          <p:nvPr/>
        </p:nvSpPr>
        <p:spPr>
          <a:xfrm>
            <a:off x="334404" y="1013814"/>
            <a:ext cx="11523191" cy="2554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如果环境名称忘记可以输入以下命令查看配置过的环境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env list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激活环境，红色字体文字改为真实环境名称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activate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qiime2-2026.1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scikit-learn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包的版本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python -m pip show scikit-learn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30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7684"/>
    </mc:Choice>
    <mc:Fallback xmlns="">
      <p:transition spd="slow" advTm="27684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E7D7B8B-6D1D-BA63-249B-B9BE6309136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22374D9-C02B-1CD1-D5EA-410DF4EE5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9B4D55-D768-F94D-1DDC-82A726BC5EA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Ⅲ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分类器下载与创建（不需要可跳过）</a:t>
            </a:r>
          </a:p>
        </p:txBody>
      </p:sp>
    </p:spTree>
    <p:extLst>
      <p:ext uri="{BB962C8B-B14F-4D97-AF65-F5344CB8AC3E}">
        <p14:creationId xmlns:p14="http://schemas.microsoft.com/office/powerpoint/2010/main" val="2523882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671"/>
    </mc:Choice>
    <mc:Fallback xmlns="">
      <p:transition spd="slow" advTm="467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0E420-CAD6-E597-4B3D-0C9291D5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F4F8C36-2FC7-8730-A2B8-5E4E879B97E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分类器的选择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B895D48-A856-44FB-AC58-54C0DA95C55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6261D31-75CB-F252-7E6C-B9140F9E7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BDD4D0-E7F4-2E5E-C7F5-B1D5370B0A3D}"/>
              </a:ext>
            </a:extLst>
          </p:cNvPr>
          <p:cNvSpPr txBox="1"/>
          <p:nvPr/>
        </p:nvSpPr>
        <p:spPr>
          <a:xfrm>
            <a:off x="334404" y="1382286"/>
            <a:ext cx="11523191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前期处理得到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之后需要进行物种注释，在这个过程中需要使用物种分类器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可以提前准备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下载用于后续分析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演示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16S/ITS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分类器下载流程以及训练分类器的方法，其他的扩增子分类器同理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scikit-learn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包的版本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python -m pip show scikit-learn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0935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1042"/>
    </mc:Choice>
    <mc:Fallback xmlns="">
      <p:transition spd="slow" advTm="41042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BA02D-9ED4-9C3D-3CF6-6FD2C3F28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878FAB6-A7C4-EF1B-BB76-B6F5079765B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第一项：旧版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16S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分类器下载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96EC2C-6230-B303-3483-0417C1EF9F06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42D9DA8-3B3F-367D-50B7-20806EFC8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774CB4-8131-4498-C606-465963D2AECF}"/>
              </a:ext>
            </a:extLst>
          </p:cNvPr>
          <p:cNvSpPr txBox="1"/>
          <p:nvPr/>
        </p:nvSpPr>
        <p:spPr>
          <a:xfrm>
            <a:off x="334404" y="1005127"/>
            <a:ext cx="11523191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#16S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注意下载的分类器版本要与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版本对应。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https://data.qiime2.org/classifiers/sklearn-1.4.2/silva/silva-138-99-nb-classifier.qza&amp;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https://data.qiime2.org/2024.2/common/silva-138-99-nb-classifier.qza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99604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161"/>
    </mc:Choice>
    <mc:Fallback xmlns="">
      <p:transition spd="slow" advTm="516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3DB24-C947-85CA-E615-99F811071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CD99490-7975-04B4-1292-AAD11E5393A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第一项：旧版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16S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分类器下载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6EB9873-F7FF-1983-259B-FF8C477833E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26D89B9-2E76-86B4-3EB2-F12F846DD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ADD71F5-B8AB-E573-9D1C-1987D2AA5A8C}"/>
              </a:ext>
            </a:extLst>
          </p:cNvPr>
          <p:cNvSpPr txBox="1"/>
          <p:nvPr/>
        </p:nvSpPr>
        <p:spPr>
          <a:xfrm>
            <a:off x="334404" y="1420758"/>
            <a:ext cx="11523191" cy="6155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#16S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wget https://data.qiime2.org/classifiers/sklearn-1.4.2/silva/silva-138-99-nb-classifier.qza&amp;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49846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788"/>
    </mc:Choice>
    <mc:Fallback xmlns="">
      <p:transition spd="slow" advTm="25788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第二项：新版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16S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分类器下载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1144325"/>
            <a:ext cx="11523191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https://www.arb-silva.de/documentation/classifiers/qiime-2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https://library.qiime2.org/data-resources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0526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933"/>
    </mc:Choice>
    <mc:Fallback xmlns="">
      <p:transition spd="slow" advTm="5933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CC8A6-A070-22AB-4007-F56B72A9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09221AA-1371-AC6E-E6CC-DA53666DD7D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第二项：新版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16S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分类器下载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4A0E788-46AA-F592-63EE-DE484512A44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23CB954-DB04-E1CC-54E5-3F6E7855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861C2A4-4192-1AF9-8649-623898C36846}"/>
              </a:ext>
            </a:extLst>
          </p:cNvPr>
          <p:cNvSpPr txBox="1"/>
          <p:nvPr/>
        </p:nvSpPr>
        <p:spPr>
          <a:xfrm>
            <a:off x="334404" y="3075057"/>
            <a:ext cx="11523191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https://www.arb-silva.de/fileadmin/silva_databases/current/QIIME2/2025.7/SSU/full-length/uniform/SILVA138.2_SSURef_NR99_uniform_classifier_full-length.qza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72538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015"/>
    </mc:Choice>
    <mc:Fallback xmlns="">
      <p:transition spd="slow" advTm="7015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61009-7878-74DD-C566-2D776AFC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DD7A8B-08D3-9D73-3A56-DB4F7BBAA2E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ITS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分类器下载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3EC933A-B799-359D-C1ED-F2C0D11B40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3D63227-88A3-AE80-E8E0-EEED1185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9CDFC4-E559-776C-8898-42886F6067ED}"/>
              </a:ext>
            </a:extLst>
          </p:cNvPr>
          <p:cNvSpPr txBox="1"/>
          <p:nvPr/>
        </p:nvSpPr>
        <p:spPr>
          <a:xfrm>
            <a:off x="334402" y="1098947"/>
            <a:ext cx="11523191" cy="6155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UNITE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https://unite.ut.ee/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（建议有条件从官网下载）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ITS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https://github.com/colinbrislawn/unite-train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764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985"/>
    </mc:Choice>
    <mc:Fallback xmlns="">
      <p:transition spd="slow" advTm="14985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977C8-62A4-3FDE-84F7-15589BF96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6A3D3E4-BFF6-D7F4-9BBC-14D21525A12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9A134E5-B8D8-9578-B9F3-A7E07AD939D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B7E9176-0E3D-84C8-F0C5-032DB26C6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50278D-62BA-2C75-B647-1747A3AEBDA2}"/>
              </a:ext>
            </a:extLst>
          </p:cNvPr>
          <p:cNvSpPr txBox="1"/>
          <p:nvPr/>
        </p:nvSpPr>
        <p:spPr>
          <a:xfrm>
            <a:off x="334404" y="1291769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数据库为例，使用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RESCRIPt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插件自建分类器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从其他数据库自建分类器可以参考：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https://amplicon-docs.qiime2.org/en/stable/references/plugins/rescript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https://github.com/bokulich-lab/RESCRIPt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第一步：读取数据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get-silva-data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--p-version '138.2'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--p-target 'SSURef_NR99'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--o-silva-sequences silva-138.2-ssu-nr99-rna-seqs.qza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--o-silva-taxonomy silva-138.2-ssu-nr99-tax.qza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第二步：反转录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reverse-transcribe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rna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silva-138.2-ssu-nr99-rna-seqs.qza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45682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98"/>
    </mc:Choice>
    <mc:Fallback xmlns="">
      <p:transition spd="slow" advTm="9198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01913-E9FA-D910-B367-46F579704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1414C20-FD5D-5810-0C22-C2EAD6B4B41F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A981266-8C9B-A668-0A96-A7208CF7123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E5A614B-11AB-0B2F-C5A7-92867D385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481F0CE-2A32-3620-FD30-65FF50BB338C}"/>
              </a:ext>
            </a:extLst>
          </p:cNvPr>
          <p:cNvGraphicFramePr>
            <a:graphicFrameLocks noGrp="1"/>
          </p:cNvGraphicFramePr>
          <p:nvPr/>
        </p:nvGraphicFramePr>
        <p:xfrm>
          <a:off x="774851" y="1928276"/>
          <a:ext cx="10642298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541">
                  <a:extLst>
                    <a:ext uri="{9D8B030D-6E8A-4147-A177-3AD203B41FA5}">
                      <a16:colId xmlns:a16="http://schemas.microsoft.com/office/drawing/2014/main" val="2600724345"/>
                    </a:ext>
                  </a:extLst>
                </a:gridCol>
                <a:gridCol w="2343494">
                  <a:extLst>
                    <a:ext uri="{9D8B030D-6E8A-4147-A177-3AD203B41FA5}">
                      <a16:colId xmlns:a16="http://schemas.microsoft.com/office/drawing/2014/main" val="2203590387"/>
                    </a:ext>
                  </a:extLst>
                </a:gridCol>
                <a:gridCol w="6259263">
                  <a:extLst>
                    <a:ext uri="{9D8B030D-6E8A-4147-A177-3AD203B41FA5}">
                      <a16:colId xmlns:a16="http://schemas.microsoft.com/office/drawing/2014/main" val="8417029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QIIME 2</a:t>
                      </a:r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命令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场景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1584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get-silva-data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16S/18S rRNA</a:t>
                      </a:r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数据库，覆盖细菌、古菌、真核生物（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SSU</a:t>
                      </a:r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527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NCBI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get-</a:t>
                      </a:r>
                      <a:r>
                        <a:rPr lang="en-US" altLang="zh-CN" baseline="0" dirty="0" err="1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ncbi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-data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核酸序列数据库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52512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NCBI Protein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get-</a:t>
                      </a:r>
                      <a:r>
                        <a:rPr lang="en-US" altLang="zh-CN" baseline="0" dirty="0" err="1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ncbi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-data-protein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蛋白质序列数据库，适用于功能基因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3456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NCBI Genomes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get-</a:t>
                      </a:r>
                      <a:r>
                        <a:rPr lang="en-US" altLang="zh-CN" baseline="0" dirty="0" err="1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ncbi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-genomes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完整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/</a:t>
                      </a:r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参考基因组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9807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GTDB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get-</a:t>
                      </a:r>
                      <a:r>
                        <a:rPr lang="en-US" altLang="zh-CN" baseline="0" dirty="0" err="1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gtdb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-data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细菌和古菌基因组分类数据库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86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UNITE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get-unite-data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真菌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ITS</a:t>
                      </a:r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参考数据库，适用于真菌群落分析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1856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PR2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get-pr2-data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原生生物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/</a:t>
                      </a:r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真核微生物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18S rRNA</a:t>
                      </a:r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747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MIDORI 2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get-midori2-data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真核生物线粒体、质体及核糖体序列数据库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99008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aseline="0" dirty="0" err="1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Eukaryome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get-</a:t>
                      </a:r>
                      <a:r>
                        <a:rPr lang="en-US" altLang="zh-CN" baseline="0" dirty="0" err="1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eukaryome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-data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真核生物相关序列数据库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6173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BV-BRC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get-bv-</a:t>
                      </a:r>
                      <a:r>
                        <a:rPr lang="en-US" altLang="zh-CN" baseline="0" dirty="0" err="1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brc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-genomes</a:t>
                      </a:r>
                      <a:endParaRPr lang="zh-CN" altLang="en-US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细菌和病毒基因组数据库，适用于病原菌</a:t>
                      </a:r>
                      <a:r>
                        <a:rPr lang="en-US" altLang="zh-CN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/</a:t>
                      </a:r>
                      <a:r>
                        <a:rPr lang="zh-CN" altLang="en-US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病毒研究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6530038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046313A9-A2AB-C0BE-B947-148E01BFB87B}"/>
              </a:ext>
            </a:extLst>
          </p:cNvPr>
          <p:cNvSpPr txBox="1"/>
          <p:nvPr/>
        </p:nvSpPr>
        <p:spPr>
          <a:xfrm>
            <a:off x="2446989" y="1348193"/>
            <a:ext cx="72980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RESCRIPt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插件可以对以下数据库可以流程化创建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读取分类器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3343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245"/>
    </mc:Choice>
    <mc:Fallback xmlns="">
      <p:transition spd="slow" advTm="13245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564D4-76E9-123E-5B9F-D430CA75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20196AF-A21E-334E-029E-5490AEB0508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8BBFDC2-2DFF-04B1-A268-E46ED06FE54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1326FEA-8140-91B6-7DD5-533A3CDD2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80912-CF1A-6BEC-7EF7-7784CFB04777}"/>
              </a:ext>
            </a:extLst>
          </p:cNvPr>
          <p:cNvSpPr txBox="1"/>
          <p:nvPr/>
        </p:nvSpPr>
        <p:spPr>
          <a:xfrm>
            <a:off x="334404" y="991229"/>
            <a:ext cx="11523191" cy="5478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第三步：序列清洗与长度过滤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剔除低质量序列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cull-seqs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silva-138.2-ssu-nr99-seqs.qza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--o-clean-sequences silva-138.2-ssu-nr99-seqs-cleaned.qza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按不同界（古菌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细菌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真核）过滤长度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filter-seqs-length-by-taxon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silva-138.2-ssu-nr99-seqs-cleaned.qza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silva-138.2-ssu-nr99-tax.qza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--p-labels Archaea Bacteria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Eukaryota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--p-min-lens 900 1200 1400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--o-filtered-seqs silva-138.2-ssu-nr99-seqs-filt.qza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--o-discarded-seqs silva-138.2-ssu-nr99-seqs-discard.qza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第一次去冗余（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模式）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dereplicate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silva-138.2-ssu-nr99-seqs-filt.qza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-taxa silva-138.2-ssu-nr99-tax.qza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--p-mode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--o-dereplicated-sequences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--o-dereplicated-taxa silva-138.2-ssu-nr99-tax-derep-uniq.qza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11585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06"/>
    </mc:Choice>
    <mc:Fallback xmlns="">
      <p:transition spd="slow" advTm="2906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1A5A8-25A5-9DE2-5A0B-3705590EA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55707A-2A23-C029-6AA4-700AE2B7A9B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16C6078-EBBD-CB17-2F84-2C271CDB750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405C6877-EDE2-161F-DFF4-49EBBEAF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74FF0-7D40-1B29-1E94-1A992F2BA471}"/>
              </a:ext>
            </a:extLst>
          </p:cNvPr>
          <p:cNvSpPr txBox="1"/>
          <p:nvPr/>
        </p:nvSpPr>
        <p:spPr>
          <a:xfrm>
            <a:off x="374069" y="1413032"/>
            <a:ext cx="11523191" cy="44319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如果构建全长的分类器直接运行下边的命令即可，时间较长建议挂后台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第五步：训练朴素贝叶斯分类器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feature-classifier fit-classifier-naive-bayes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-reference-reads 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-reference-taxonomy silva-138.2-ssu-nr99-tax-derep-uniq.qza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--o-classifier silva-138.2-ssu-nr99-classifier.qza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挂后台的命令如下：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feature-classifier fit-classifier-naive-bayes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-reference-reads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-reference-taxonomy silva-138.2-ssu-nr99-tax-derep-uniq.qza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--o-classifier silva-138.2-ssu-nr99-classifier.qza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&gt; train_classifier.log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84172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23"/>
    </mc:Choice>
    <mc:Fallback xmlns="">
      <p:transition spd="slow" advTm="5223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1C1B8-2E11-7741-000B-4892C83A3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461472E-10BA-771D-6D2E-37EF9C2E9D3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1FDBE5F-2888-406E-E819-E1620E362EA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86EFEF0-337F-C1A6-61B8-C592527F1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45D014-6B53-07DF-4F06-DFE6B79934A6}"/>
              </a:ext>
            </a:extLst>
          </p:cNvPr>
          <p:cNvSpPr txBox="1"/>
          <p:nvPr/>
        </p:nvSpPr>
        <p:spPr>
          <a:xfrm>
            <a:off x="334404" y="1102064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如果需要构建扩增子区域的特定分类器可以运行：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第五步：提取与测序引物匹配的区域，以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V3-V4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区的引物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341f-785r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为例（如需）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feature-classifier extract-reads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--p-f-primer CCTACGGGNGGCWGCAG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--p-r-primer GACTACHVGGGTATCTAATCC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--p-n-jobs 25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--p-read-orientation 'forward'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--o-reads silva-138.2-ssu-nr99-seqs-341f-785r.qza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第六步：对提取出的区域再次去冗余（如需）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dereplicate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silva-138.1-ssu-nr99-seqs-515f-806r.qza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-taxa silva-138.1-ssu-nr99-tax-derep-uniq.qza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--p-mode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--o-dereplicated-sequences silva-138.1-ssu-nr99-seqs-341f-785r-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--o-dereplicated-taxa silva-138.1-ssu-nr99-tax-341f-785r-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derep-uniq.qza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第七步：训练朴素贝叶斯分类器（如需）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feature-classifier fit-classifier-naive-bayes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-reference-reads silva-138.2-ssu-nr99-seqs-341f-785r-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-reference-taxonomy silva-138.2-ssu-nr99-tax-341f-785r-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derep-uniq.qza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--o-classifier silva-138.2-ssu-nr99-341f-785r-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classifier.qza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50281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844"/>
    </mc:Choice>
    <mc:Fallback xmlns="">
      <p:transition spd="slow" advTm="6844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6DD2C-49FD-12EA-CD8B-79F673DFD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0F8AEB-F242-3A77-6A30-8410472B42B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第五项：自建库分类器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E9DC6CC-E504-73CE-8678-4DBF17D0229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EE61CB9-BA4C-7939-DB58-9D9D44DFD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176CCE4-D268-BAC6-0E90-C58139BC8EBC}"/>
              </a:ext>
            </a:extLst>
          </p:cNvPr>
          <p:cNvSpPr txBox="1"/>
          <p:nvPr/>
        </p:nvSpPr>
        <p:spPr>
          <a:xfrm>
            <a:off x="334404" y="1123699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https://github.com/bokulich-lab/RESCRIP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可以构建其他数据的分类器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第一步：下载四个文件并解压（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示例以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数据库提供的为例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Taxonomy Rank file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，将分类学等级（界门纲目科属种）及其对应的分类学名称对应到分类学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ID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taxid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）；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Taxonomy Map file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，将序列登录号对应到物种名称及分类学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ID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；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3. Taxonomy Tree file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，以树状结构的形式表示各个分类学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ID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之间的层级关系；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4.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非冗余未比对的序列文件，比如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SILVA_138.2_SSURef_NR99_tax_silva_trunc.fasta.gz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https://www.arb-silva.de/current-release/Exports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找到最新版本的这四个文件（路径可能会有变化）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其中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1-3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文件在：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https://www.arb-silva.de/current-release/Exports/taxonomy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个文件在：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https://www.arb-silva.de/current-release/Exports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https://www.arb-silva.de/fileadmin/silva_databases/current/Exports/taxonomy/tax_slv_ssu_138.2.txt.gz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https://www.arb-silva.de/fileadmin/silva_databases/current/Exports/taxonomy/taxmap_slv_ssu_ref_138.2.txt.gz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https://www.arb-silva.de/fileadmin/silva_databases/current/Exports/taxonomy/tax_slv_ssu_138.2.tre.gz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https://www.arb-silva.de/fileadmin/silva_databases/current/Exports/SILVA_138.2_SSURef_NR99_tax_silva_trunc.fasta.gz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tax_slv_ssu_138.2.txt.gz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taxmap_slv_ssu_ref_138.2.txt.gz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tax_slv_ssu_138.2.tre.gz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SILVA_138.2_SSURef_NR99_tax_silva_trunc.fasta.gz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54055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257"/>
    </mc:Choice>
    <mc:Fallback xmlns="">
      <p:transition spd="slow" advTm="10257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5D143-439C-2804-14C3-EA35902D1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F7E57E7-F444-DC16-E513-D7D751DA91D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第五项：自建库分类器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13F670B-8D30-6779-066D-4FFA6292DA5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16BFE64-E077-459B-326A-3A10D0252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7B5A3D-A331-7A19-87D7-19CA48770C31}"/>
              </a:ext>
            </a:extLst>
          </p:cNvPr>
          <p:cNvSpPr txBox="1"/>
          <p:nvPr/>
        </p:nvSpPr>
        <p:spPr>
          <a:xfrm>
            <a:off x="374069" y="938971"/>
            <a:ext cx="11523191" cy="5509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第二步：导入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个文件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FeatureData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SILVATaxonomy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tax_slv_ssu_138.2.txt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taxranks-silva-138.2-ssu-nr99.qza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FeatureData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SILVATaxidMap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taxmap_slv_ssu_ref_nr_138.2.txt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taxmap-silva-138.2-ssu-nr99.qza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'Phylogeny[Rooted]'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tax_slv_ssu_138.2.tre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taxtree-silva-138.2-nr99.qza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FeatureData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RNASequence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SILVA_138.2_SSURef_NR99_tax_silva_trunc.fasta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silva-138.2-ssu-nr99-rna-seqs.qza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26884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137"/>
    </mc:Choice>
    <mc:Fallback xmlns="">
      <p:transition spd="slow" advTm="11137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85428-04F1-DBAD-0A19-03FBE6E2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AC7228E-9EE7-5EA7-8137-FDC98F53E46F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第五项：自建库分类器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C5FAA94-B824-A0D4-67AB-DD1EA88C610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02255FC-A7A5-0A2C-28F7-E38661020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5B2310-C503-AE17-11CE-51AEC732837C}"/>
              </a:ext>
            </a:extLst>
          </p:cNvPr>
          <p:cNvSpPr txBox="1"/>
          <p:nvPr/>
        </p:nvSpPr>
        <p:spPr>
          <a:xfrm>
            <a:off x="334404" y="1711664"/>
            <a:ext cx="11523191" cy="42780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第三步：使用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RESCRIPt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插件逆转录及分类信息解析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RNA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序列转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reverse-transcribe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rna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silva-138.2-ssu-nr99-rna-seqs.qza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解析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分类信息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parse-silva-taxonomy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-taxonomy-tree taxtree-silva-138.2-nr99.qza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-taxonomy-map taxmap-silva-138.2-ssu-nr99.qza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-taxonomy-ranks taxranks-silva-138.2-ssu-nr99.qza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--o-taxonomy silva-138.2-ssu-nr99-tax.qza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随后生成了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silva-138.2-ssu-nr99-seqs.qza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silva-138.2-ssu-nr99-tax.qza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两个文件，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参考第四项的第三步开始进行后续操作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87757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295"/>
    </mc:Choice>
    <mc:Fallback xmlns="">
      <p:transition spd="slow" advTm="11295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E7D7B8B-6D1D-BA63-249B-B9BE6309136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22374D9-C02B-1CD1-D5EA-410DF4EE5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9B4D55-D768-F94D-1DDC-82A726BC5EA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Ⅳ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准备</a:t>
            </a: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manifest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与</a:t>
            </a: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metadata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文件</a:t>
            </a:r>
          </a:p>
        </p:txBody>
      </p:sp>
    </p:spTree>
    <p:extLst>
      <p:ext uri="{BB962C8B-B14F-4D97-AF65-F5344CB8AC3E}">
        <p14:creationId xmlns:p14="http://schemas.microsoft.com/office/powerpoint/2010/main" val="4058711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96"/>
    </mc:Choice>
    <mc:Fallback xmlns="">
      <p:transition spd="slow" advTm="3496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27544-0781-4263-CB19-AB620DFE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7D72F02-1DBB-AAB0-4EF2-944FFE49675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第一步：准备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manifest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文件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9911601-FB8C-FBCB-D923-EEAE1DB433B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BFA430F-AE5F-5119-80A2-07355965E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746B26-2578-CE25-DA0F-6622AEFCB7B7}"/>
              </a:ext>
            </a:extLst>
          </p:cNvPr>
          <p:cNvSpPr txBox="1"/>
          <p:nvPr/>
        </p:nvSpPr>
        <p:spPr>
          <a:xfrm>
            <a:off x="334404" y="1394645"/>
            <a:ext cx="11523191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首先准备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，可以使用下边的命令快速整理文件路径，第一列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sample-id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应当是样本名称。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红色部分按照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文件命名规则修改。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你也可以在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excel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中完成修改。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"sample-id\tforward-absolute-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treverse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=${f%_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}; echo -e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tabsolute-filepath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echo -e "${f%.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3997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516"/>
    </mc:Choice>
    <mc:Fallback xmlns="">
      <p:transition spd="slow" advTm="3516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DAF29-3E2D-26B0-98AB-EB18F0D91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188E6EC-6AD1-DCAA-902A-008D0CCE8009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E0AF8EC-D79F-1545-046D-C6A4E75B9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3172B7-D6A6-258D-32E4-79D1CF6EA3E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Ⅴ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上游数据分析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1558182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124"/>
    </mc:Choice>
    <mc:Fallback xmlns="">
      <p:transition spd="slow" advTm="4124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1D1B4-DC77-5DF3-9971-600AFA8B1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1795098-87B4-2026-EDC9-A8B25A3E3FA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3A6793C-BFB9-423F-B2AF-6816ADE84B9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81C745E0-AC64-7955-208B-7FC916D55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D741E26-CE9C-DBEC-19F3-85862EDB44EC}"/>
              </a:ext>
            </a:extLst>
          </p:cNvPr>
          <p:cNvSpPr txBox="1"/>
          <p:nvPr/>
        </p:nvSpPr>
        <p:spPr>
          <a:xfrm>
            <a:off x="334404" y="1394645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01QC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01QC/01RawDemux.qza\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PairedEndFastqManifestPhred33V2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01QC/01RawDemux.qza\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SingleEndFastqManifestPhred33V2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2707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505"/>
    </mc:Choice>
    <mc:Fallback xmlns="">
      <p:transition spd="slow" advTm="10505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746BF-0BF0-A052-4EFB-FF7784D84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D15CBC-1DC2-51F5-3CD2-CD4D66DFA63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E77FC44-2552-CA19-3DC8-E557DE98437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0B2F580-215F-C3DA-F458-674A32205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E637BE-4242-A7BC-D9C4-2F01519E9623}"/>
              </a:ext>
            </a:extLst>
          </p:cNvPr>
          <p:cNvSpPr txBox="1"/>
          <p:nvPr/>
        </p:nvSpPr>
        <p:spPr>
          <a:xfrm>
            <a:off x="334403" y="4107391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查看数据质量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将红色部分替换为刚才输出的文件名称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01QC/01RawDemux.qza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01QC/02RawDemux_summary.qzv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82957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863"/>
    </mc:Choice>
    <mc:Fallback xmlns="">
      <p:transition spd="slow" advTm="686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38644-C2AE-18B8-45E3-19764D24B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99D608-21C2-1CDA-64B8-D42D760EDAC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第二步：去引物（如需）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180B6FB-8C69-87FE-C29A-03D99531F7C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2201AA04-5B45-015D-E991-A0A010330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77CA156-A5F0-EE83-1433-24046A522C14}"/>
              </a:ext>
            </a:extLst>
          </p:cNvPr>
          <p:cNvSpPr txBox="1"/>
          <p:nvPr/>
        </p:nvSpPr>
        <p:spPr>
          <a:xfrm>
            <a:off x="1836465" y="944494"/>
            <a:ext cx="69288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表格来源：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https://zhangzl96.github.io/16S-rRNA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基因测序引物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66735D-3E2D-459D-B40D-62CC91E8ED12}"/>
              </a:ext>
            </a:extLst>
          </p:cNvPr>
          <p:cNvSpPr txBox="1"/>
          <p:nvPr/>
        </p:nvSpPr>
        <p:spPr>
          <a:xfrm>
            <a:off x="932584" y="2554855"/>
            <a:ext cx="100399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图片截自：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https://www.ihb.cas.cn/fxcszx/fxcs_xgxz/202007/P020200724555738152416.pdf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15490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535"/>
    </mc:Choice>
    <mc:Fallback xmlns="">
      <p:transition spd="slow" advTm="13535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7404A-C46C-62A8-888E-CF2F4278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3357365-F85D-EBD5-0CB4-872D59503623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第二步：去引物（如需）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155EBE9-F314-DDF5-24C0-4CEFF20D2B79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D6ED20C-F206-CB5B-8CDC-52CB555F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E980400-03C8-E32C-DFAA-A846DDD34A6D}"/>
              </a:ext>
            </a:extLst>
          </p:cNvPr>
          <p:cNvGrpSpPr/>
          <p:nvPr/>
        </p:nvGrpSpPr>
        <p:grpSpPr>
          <a:xfrm>
            <a:off x="334404" y="1318614"/>
            <a:ext cx="11523191" cy="4832092"/>
            <a:chOff x="334404" y="1013814"/>
            <a:chExt cx="11523191" cy="4832092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9A78C56-EAB3-9462-CD7F-C1E8AD61BC53}"/>
                </a:ext>
              </a:extLst>
            </p:cNvPr>
            <p:cNvSpPr txBox="1"/>
            <p:nvPr/>
          </p:nvSpPr>
          <p:spPr>
            <a:xfrm>
              <a:off x="334404" y="1013814"/>
              <a:ext cx="11523191" cy="483209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# 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检查是否有接头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/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引物，可以检查前几条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reads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是否有固定的序列，如果首位随机说明已经去除过了</a:t>
              </a:r>
              <a:endPara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zcat 00RawData/SRR15887008_1.fastq.gz|head -n 40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zcat 00RawData/SRR15887008_2.fastq.gz|head -n 40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# 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问测序公司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/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看数据对应论文的材料方法</a:t>
              </a:r>
              <a:endPara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# 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双端测序</a:t>
              </a:r>
              <a:endPara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qiime </a:t>
              </a:r>
              <a:r>
                <a:rPr kumimoji="0" lang="en-US" altLang="zh-CN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cutadapt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trim-paired 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</a:t>
              </a:r>
              <a:r>
                <a:rPr kumimoji="0" lang="en-US" altLang="zh-CN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i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-demultiplexed-sequences 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01QC/01RawDemux.qza 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--p-front-f 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GTGYCAGCMGCCGCGGTAA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--p-front-r 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CCGYCAATTYMTTTRAGTTT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--p-match-read-wildcards 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--p-discard-untrimmed 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--p-cores 10 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--o-trimmed-sequences 01QC/03CutadaptDemux.qza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# 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参考文档：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https://amplicon-docs.qiime2.org/en/stable/references/plugins/cutadapt/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BAC52125-F2E5-938C-DB70-ADCF7A7CFE69}"/>
                </a:ext>
              </a:extLst>
            </p:cNvPr>
            <p:cNvSpPr txBox="1"/>
            <p:nvPr/>
          </p:nvSpPr>
          <p:spPr>
            <a:xfrm>
              <a:off x="5924994" y="2663195"/>
              <a:ext cx="5789274" cy="203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# 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单端测序</a:t>
              </a:r>
              <a:endPara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qiime </a:t>
              </a:r>
              <a:r>
                <a:rPr kumimoji="0" lang="en-US" altLang="zh-CN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cutadapt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trim-single 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</a:t>
              </a:r>
              <a:r>
                <a:rPr kumimoji="0" lang="en-US" altLang="zh-CN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i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-demultiplexed-sequences 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01QC/01RawDemux.qza 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--p-front 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&lt;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引物序列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&gt;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--p-match-read-wildcards 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--p-discard-untrimmed \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 --o-trimmed-sequences 01QC/03CutadaptDemux.qza</a:t>
              </a:r>
              <a:endPara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423749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55"/>
    </mc:Choice>
    <mc:Fallback xmlns="">
      <p:transition spd="slow" advTm="5755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631C-B729-ACC6-23F5-F044DC316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56B74BA-15FD-6967-B000-BC77B987385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第二步：去引物（如需）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3311D3A-92EF-0740-2818-C0F880B9A2F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664BE0A-2B99-4175-AEA0-F5A17D0D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3B6F0D1-3AB1-2148-C3FD-BE2A6305DBC1}"/>
              </a:ext>
            </a:extLst>
          </p:cNvPr>
          <p:cNvSpPr txBox="1"/>
          <p:nvPr/>
        </p:nvSpPr>
        <p:spPr>
          <a:xfrm>
            <a:off x="320549" y="1416197"/>
            <a:ext cx="11523191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如果去除引物了需要再进行一次质量评估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01QC/03CutadaptDemux.qza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01QC/04CutadaptDemux_summary.qza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1C1C1C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如果没有去引物后续直接使用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01QC/01RawDemux.qza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文件继续分析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74442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513"/>
    </mc:Choice>
    <mc:Fallback xmlns="">
      <p:transition spd="slow" advTm="5513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6BDC-3940-72F4-5622-9791D23E0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BCA767F-CAF1-9396-4265-F35247C9ED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0751D25-BF3C-7725-4F28-57771FC1A85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6DC6EA87-A411-4A8B-EBC0-013E81D8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C9A9BE-32ED-FD43-F28D-2C6A2AEEE25D}"/>
              </a:ext>
            </a:extLst>
          </p:cNvPr>
          <p:cNvSpPr txBox="1"/>
          <p:nvPr/>
        </p:nvSpPr>
        <p:spPr>
          <a:xfrm>
            <a:off x="334404" y="1009980"/>
            <a:ext cx="11523191" cy="5355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如果没有进行去引物：将导入文件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03CutadaptDemux.qza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可以根据选择的导入文件的评估报告设定截断阈值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denoise-paired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01QC/03CutadaptDemux.qza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234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--p-trim-left-f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--p-trim-left-r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01QC/05DADA2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denoise-single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01QC/03CutadaptDemux.qza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250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01QC/05DADA2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0AFC6A-31EC-5168-7002-F77C235B29DA}"/>
              </a:ext>
            </a:extLst>
          </p:cNvPr>
          <p:cNvSpPr txBox="1"/>
          <p:nvPr/>
        </p:nvSpPr>
        <p:spPr>
          <a:xfrm>
            <a:off x="5630078" y="2169334"/>
            <a:ext cx="6075777" cy="206210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对于单端测序也可以使用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deblur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双端测序可以进行双端合并使用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deblur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16s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可以使用内置数据库：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denoise-16S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其他扩增子可以自定义数据库：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denoise-other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https://blog.csdn.net/weixin_44264742/article/details/135777553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官方文档：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https://amplicon-docs.qiime2.org/en/stable/references/plugins/deblur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04647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359"/>
    </mc:Choice>
    <mc:Fallback xmlns="">
      <p:transition spd="slow" advTm="1035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6522C-D314-7B99-F544-A7D272E3D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26B9159-8D81-22CF-1260-A392F406DFC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EB5732A-982A-892B-E8DD-E68AA97A9E63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2EB6CB09-BB6B-6BC3-545C-B26322E9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820835-9B1D-4C50-5DEC-9E941AB2121D}"/>
              </a:ext>
            </a:extLst>
          </p:cNvPr>
          <p:cNvSpPr txBox="1"/>
          <p:nvPr/>
        </p:nvSpPr>
        <p:spPr>
          <a:xfrm>
            <a:off x="334403" y="1014648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注意事项：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根据质量分数确定截断值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可以找到中位数开始跌破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Q20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或者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Q30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的位置作为截断值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也可以自己设定阈值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--p-n-threads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可以设置线程数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01QC/03CutadaptDemux.qza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240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234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01QC/05DADA2 &gt; 01QC/06DADA2.log 2&gt;&amp;1 &amp;</a:t>
            </a: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69DAABC2-7241-9230-D6C1-023D994D23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0617" y="1204117"/>
            <a:ext cx="3406886" cy="135591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26226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890"/>
    </mc:Choice>
    <mc:Fallback xmlns="">
      <p:transition spd="slow" advTm="689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8BBD5-AD54-6CFE-7D13-8DD8BBE15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D4AA562-15DD-791A-B563-DE4B6671F10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C0FFE36-4BFB-BD8D-9EE2-30BE6F71C54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A0CE6B0-2E3A-04EF-FD0A-B20933CB9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C3B577-53CA-66ED-4C65-328C0BAFEDA1}"/>
              </a:ext>
            </a:extLst>
          </p:cNvPr>
          <p:cNvSpPr txBox="1"/>
          <p:nvPr/>
        </p:nvSpPr>
        <p:spPr>
          <a:xfrm>
            <a:off x="295563" y="3000468"/>
            <a:ext cx="11523191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如果出现以下原因会报错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trunc_len_f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trunc_len_r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的值大于测序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reads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本身长度（去除引物之后有些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reads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实际长度变短）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trunc‑len_f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+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trunc‑len_r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−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扩增子长度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&lt;12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，即重叠区小于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12bp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（可以通过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--p-min-overlap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3.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质控参数如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max‑ee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（默认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2.0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）、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‑q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（默认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2.0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）阈值过严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trunc_len_f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trunc_len_r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取值要同时考虑大多数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reads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的长度和通过碱基质量确定的阈值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查看所有参数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denoise-paired --help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01QC/03CutadaptDemux.qza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231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228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01QC/05DADA2 &gt; 01QC/06DADA2.log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5297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392"/>
    </mc:Choice>
    <mc:Fallback xmlns="">
      <p:transition spd="slow" advTm="32392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697BE-8B82-F846-E3F4-CB2533B3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2B5AFF-D15C-1107-AF5B-96FE409D5CB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4C69CC9-6AE4-DFD1-46F0-61BED813FEF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085AB1-A67F-6803-151D-A6E1E5A9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3D83FA-534C-7048-A616-B08E42571AE1}"/>
              </a:ext>
            </a:extLst>
          </p:cNvPr>
          <p:cNvSpPr txBox="1"/>
          <p:nvPr/>
        </p:nvSpPr>
        <p:spPr>
          <a:xfrm>
            <a:off x="334403" y="1088538"/>
            <a:ext cx="1152319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使用示例数据运行半个小时左右，建议挂后台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01QC/03CutadaptDemux.qza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231 --p-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228 --p-n-threads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01QC/05DADA2 &gt; 01QC/06DADA2.log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生成的四个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文件可以在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68809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947"/>
    </mc:Choice>
    <mc:Fallback xmlns="">
      <p:transition spd="slow" advTm="16947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12A60-5F05-71F4-A03F-E6A74270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2CA53DA-8A47-E782-D638-7F0D3350933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81871D1-52BF-9A9D-BF24-4DDD3D0E795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748D5F0-326F-516B-B674-BFF29B840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74D2DC5-6746-85E6-4066-CAC4209E73A3}"/>
              </a:ext>
            </a:extLst>
          </p:cNvPr>
          <p:cNvSpPr txBox="1"/>
          <p:nvPr/>
        </p:nvSpPr>
        <p:spPr>
          <a:xfrm>
            <a:off x="320549" y="1397730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figaro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可以计算截断值（注意去噪时使用未去接头的文件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https://www.jianshu.com/p/66ebd1d4558a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软件链接：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安装方法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 clone 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pip3 install –r requirements.txt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已经去除引物的数据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选项指定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，没有可以指定引物长度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指定扩增子长度（不含引物接头，如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V3-V4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区长度大概为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  bp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指定测序文件名格式：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XXX_1.fastq.gz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下机数据指定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指定错误可能会报错，你可以尝试指定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zymo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keriksson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fvieira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yzhang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如果报错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-n figaro --file http://john-quensen.com/wp-content/uploads/2020/03/figaro.yml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python $SOFTWARE/figaro/figaro.py -i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1 -r 1 -a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nononsense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6DB36D-24A4-82B3-9B17-9BE0DA930BEB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7657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40"/>
    </mc:Choice>
    <mc:Fallback xmlns="">
      <p:transition spd="slow" advTm="914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7ADAC-FCCF-6D96-77AA-DB71C972B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B8C2261-1D21-58C3-4B67-86AD3C2B3C4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3D9320B-C0E1-37CA-BD34-6BC696E4042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F8448DC-5966-863C-59B7-C42D1C01F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AF6130-AE5B-67D9-4696-06583448E9DD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B5F6CFA-A295-42FF-6104-B71DE86E86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626737"/>
            <a:ext cx="12192000" cy="381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D7FE6BE-77F8-3424-6FAB-6D1E26C37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50180"/>
            <a:ext cx="12192000" cy="47648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AD8F6989-9699-EDFD-D0FC-4498DF61B99A}"/>
              </a:ext>
            </a:extLst>
          </p:cNvPr>
          <p:cNvGrpSpPr/>
          <p:nvPr/>
        </p:nvGrpSpPr>
        <p:grpSpPr>
          <a:xfrm>
            <a:off x="5061526" y="1402775"/>
            <a:ext cx="3302032" cy="601516"/>
            <a:chOff x="5061526" y="1402775"/>
            <a:chExt cx="3302032" cy="60151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1DFCDB9-C49C-98F7-AA90-AE17097B1955}"/>
                </a:ext>
              </a:extLst>
            </p:cNvPr>
            <p:cNvSpPr/>
            <p:nvPr/>
          </p:nvSpPr>
          <p:spPr>
            <a:xfrm>
              <a:off x="5061526" y="1404945"/>
              <a:ext cx="1459377" cy="59934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6B79452-4DA7-DD39-6306-B9A99E74C993}"/>
                </a:ext>
              </a:extLst>
            </p:cNvPr>
            <p:cNvSpPr/>
            <p:nvPr/>
          </p:nvSpPr>
          <p:spPr>
            <a:xfrm>
              <a:off x="6904181" y="1402775"/>
              <a:ext cx="1459377" cy="59934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2" name="矩形 11">
            <a:extLst>
              <a:ext uri="{FF2B5EF4-FFF2-40B4-BE49-F238E27FC236}">
                <a16:creationId xmlns:a16="http://schemas.microsoft.com/office/drawing/2014/main" id="{61DE1EDB-A22B-221C-C98B-4DD3338A2D9A}"/>
              </a:ext>
            </a:extLst>
          </p:cNvPr>
          <p:cNvSpPr/>
          <p:nvPr/>
        </p:nvSpPr>
        <p:spPr>
          <a:xfrm>
            <a:off x="9652000" y="1415410"/>
            <a:ext cx="554213" cy="5993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A76563BC-A1C2-2A83-123D-F289DAD25F9A}"/>
              </a:ext>
            </a:extLst>
          </p:cNvPr>
          <p:cNvGrpSpPr/>
          <p:nvPr/>
        </p:nvGrpSpPr>
        <p:grpSpPr>
          <a:xfrm>
            <a:off x="-71041" y="1450180"/>
            <a:ext cx="12053471" cy="4217212"/>
            <a:chOff x="-71041" y="1450180"/>
            <a:chExt cx="12053471" cy="4217212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07F25D18-C1C0-39CB-43DD-151715A36EB1}"/>
                </a:ext>
              </a:extLst>
            </p:cNvPr>
            <p:cNvSpPr/>
            <p:nvPr/>
          </p:nvSpPr>
          <p:spPr>
            <a:xfrm>
              <a:off x="10523053" y="1450180"/>
              <a:ext cx="1459377" cy="55194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1EDED03-D1C0-78F4-5A1C-E82B151E0DB8}"/>
                </a:ext>
              </a:extLst>
            </p:cNvPr>
            <p:cNvSpPr/>
            <p:nvPr/>
          </p:nvSpPr>
          <p:spPr>
            <a:xfrm>
              <a:off x="0" y="4073236"/>
              <a:ext cx="11323782" cy="370193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49C3966B-D41D-102B-F720-CB2AB82B9854}"/>
                </a:ext>
              </a:extLst>
            </p:cNvPr>
            <p:cNvSpPr/>
            <p:nvPr/>
          </p:nvSpPr>
          <p:spPr>
            <a:xfrm>
              <a:off x="-71041" y="5407820"/>
              <a:ext cx="11323782" cy="25957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5275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6865"/>
    </mc:Choice>
    <mc:Fallback xmlns="">
      <p:transition spd="slow" advTm="4686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E70CA-4A74-7DE5-72FC-C21ABFAD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CE8A70-69F7-F40D-6B42-62C8B7555F7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第四步：原始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ASV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丰度表统计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EE1EF56-9638-D574-FD98-18EADB325A9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D49E2CE-F42D-2FF1-6D86-F8568630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B488E2-BE9F-AD81-8675-E0E1ED3961BE}"/>
              </a:ext>
            </a:extLst>
          </p:cNvPr>
          <p:cNvSpPr txBox="1"/>
          <p:nvPr/>
        </p:nvSpPr>
        <p:spPr>
          <a:xfrm>
            <a:off x="334404" y="1926666"/>
            <a:ext cx="11523191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ASV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01QC/05DADA2/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01QC/07RawASV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01QC/05DADA2/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01QC/07RawASV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0337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305"/>
    </mc:Choice>
    <mc:Fallback xmlns="">
      <p:transition spd="slow" advTm="12305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AD8E2-E8C3-2C02-5D3F-CEC7EEC2F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98A2094-3195-8EAF-C808-5B2D3B5B3F1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聚类（可选）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7F9D600-599A-BBB3-7132-2F10F505AF7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25933F1-0FE8-59F9-B348-9D88768A8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D15C0AE-943E-A0BA-5110-9E444BC0A561}"/>
              </a:ext>
            </a:extLst>
          </p:cNvPr>
          <p:cNvSpPr txBox="1"/>
          <p:nvPr/>
        </p:nvSpPr>
        <p:spPr>
          <a:xfrm>
            <a:off x="334404" y="1102313"/>
            <a:ext cx="11523191" cy="50475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有研究使用将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进行聚类生成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进行扩增子分析，但是目前认为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比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的分辨率更高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后续建树、多样性等分析流程基本一致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可以考虑是否进行该步骤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--p-perc-identity 0.97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相似度阈值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vsearch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cluster-features-de-novo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01QC/05DADA2/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01QC/05DADA2/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--p-perc-identity 0.97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--p-strand plus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--p-threads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01QC/08RawOTU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01QC/08RawOTU/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clustered_table.qza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01QC/08RawOTU/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TableSummary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01QC/08RawOTU/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clustered_sequences.qza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01QC/08RawOTU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8248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830"/>
    </mc:Choice>
    <mc:Fallback xmlns="">
      <p:transition spd="slow" advTm="1983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0138-97DE-5ECC-B982-2BD77D350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0D3FF73-DD43-F3C9-6F65-FE79F69B2E0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聚类（可选）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6F716AE-1244-C7CB-8515-7D91EEA3DF0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4DCBDCF-132F-9165-55D2-1CD7A313B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F1B5DB-A644-056A-9FF4-AB19AB571B8F}"/>
              </a:ext>
            </a:extLst>
          </p:cNvPr>
          <p:cNvSpPr txBox="1"/>
          <p:nvPr/>
        </p:nvSpPr>
        <p:spPr>
          <a:xfrm>
            <a:off x="320549" y="1296125"/>
            <a:ext cx="1152319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1C1C1C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47785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889"/>
    </mc:Choice>
    <mc:Fallback xmlns="">
      <p:transition spd="slow" advTm="4889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827CB-AF47-4C87-1359-1617DBA10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FAA59C5-9991-DEC8-4598-07FE39171B9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第六步：低数据量样本过滤（可选）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7485772-9A51-6586-F54E-12251ADE279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F66A63E-D900-3E70-C1CC-129CC090B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D480CDA-E733-2A4B-6720-E1B47F801720}"/>
              </a:ext>
            </a:extLst>
          </p:cNvPr>
          <p:cNvSpPr txBox="1"/>
          <p:nvPr/>
        </p:nvSpPr>
        <p:spPr>
          <a:xfrm>
            <a:off x="334404" y="1291769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可以备份一下原来的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cp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old_metadata.tsv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建立新的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文件：可以使用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vim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编辑，或者在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excel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中删除低数据量的样本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整理完成之后进行下面的操作：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对于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filter-samples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01QC/05DADA2/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01QC/09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FilterSamplesTable.qza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（不演示）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filter-samples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01QC/08RawOTU/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clustered_table.qza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01QC/09FilterSamplesTable.qza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42371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403"/>
    </mc:Choice>
    <mc:Fallback xmlns="">
      <p:transition spd="slow" advTm="9403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302C3-4531-C5BA-758E-28AE50D38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FF2A72D-BA84-6E39-59B5-951E7AF4981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第七步：低丰度序列过滤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04155BD-70A5-7E81-F0BC-E8DD09BF6BB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994FD8C-CED1-CF77-1964-2D0F89739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8CFB437-53AE-9732-E366-945E031F928F}"/>
              </a:ext>
            </a:extLst>
          </p:cNvPr>
          <p:cNvSpPr txBox="1"/>
          <p:nvPr/>
        </p:nvSpPr>
        <p:spPr>
          <a:xfrm>
            <a:off x="334404" y="1630982"/>
            <a:ext cx="11523191" cy="4524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为了方便演示</a:t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如果没有进行第六步（低数据量样本过滤）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，可以将原来的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文件重命名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如果已经有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09FilterSamplesTable.qza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文件了，就不需要这个步骤了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根据后续对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还是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进行分析从下边的命令中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二选一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后续对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cp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01QC/05DADA2/table.qza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01QC/09FilterSamplesTable.qza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后续对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cp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01QC/08RawOTU/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clustered_table.qza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01QC/09FilterSamplesTable.qza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8" name="音频 17">
            <a:hlinkClick r:id="" action="ppaction://media"/>
            <a:extLst>
              <a:ext uri="{FF2B5EF4-FFF2-40B4-BE49-F238E27FC236}">
                <a16:creationId xmlns:a16="http://schemas.microsoft.com/office/drawing/2014/main" id="{EB683565-B9B0-1C74-38D9-4C3CCB532CC1}"/>
              </a:ext>
            </a:extLst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6"/>
          <a:srcRect l="-200000" t="-90625" r="-200000" b="-90625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20863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730"/>
    </mc:Choice>
    <mc:Fallback xmlns="">
      <p:transition spd="slow" advTm="2273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57EE7-7A25-9D1D-9536-E2E0FC7D8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B1EDBDD-84B4-12CE-6282-33689F20276F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第七步：低丰度序列过滤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ED8B72-9B02-9206-6C44-0C47DC8ABD1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219AA52B-A543-A12B-C0DB-C534F9392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A98747-38B5-9568-49E9-97742DB36648}"/>
              </a:ext>
            </a:extLst>
          </p:cNvPr>
          <p:cNvSpPr txBox="1"/>
          <p:nvPr/>
        </p:nvSpPr>
        <p:spPr>
          <a:xfrm>
            <a:off x="334404" y="1192976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创建过滤后的结果文件夹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FilteredData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02FilteredData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低丰度过滤：将总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reads&lt;10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（这个数值可以根据需求修改）的序列过滤掉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01QC/09FilterSamplesTable.qza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02FilteredData/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CleanTable.qza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根据后续对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还是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进行分析从下边的命令中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二选一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后续对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cp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01QC/05DADA2/representative_sequences.qza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02FilteredData/representative_sequences.qza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后续对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cp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01QC/08RawOTU/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clustered_sequences.qza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02FilteredData/representative_sequences.qza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9874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29"/>
    </mc:Choice>
    <mc:Fallback xmlns="">
      <p:transition spd="slow" advTm="11329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8A539-F2F2-EBD5-35A0-68086081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F4959DB-6E16-AEB8-ED88-CEE6969886D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第七步：低丰度序列过滤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B957D67-6EFA-3D40-D0AC-4CF3C49727D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B149BAD-59FE-AA2D-73E1-E9DEDD67C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D879F51-A168-CBA5-7515-B2726091023E}"/>
              </a:ext>
            </a:extLst>
          </p:cNvPr>
          <p:cNvSpPr txBox="1"/>
          <p:nvPr/>
        </p:nvSpPr>
        <p:spPr>
          <a:xfrm>
            <a:off x="334404" y="2459504"/>
            <a:ext cx="11523191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对过滤后的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丰度表进行统计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--output-dir 02FilteredData/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TableSummary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87076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568"/>
    </mc:Choice>
    <mc:Fallback xmlns="">
      <p:transition spd="slow" advTm="5568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Ⅵ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物种注释与丰度</a:t>
            </a:r>
          </a:p>
        </p:txBody>
      </p:sp>
    </p:spTree>
    <p:extLst>
      <p:ext uri="{BB962C8B-B14F-4D97-AF65-F5344CB8AC3E}">
        <p14:creationId xmlns:p14="http://schemas.microsoft.com/office/powerpoint/2010/main" val="1522976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37"/>
    </mc:Choice>
    <mc:Fallback xmlns="">
      <p:transition spd="slow" advTm="6037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1BD80-A048-AE85-9AEA-C277E54DA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3B95C7B-E080-039A-C8A3-04B0366CA8C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ASV/OTU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13051E1-4C4A-5750-FE7C-3CBE72A29153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330DF21-C599-8480-4D88-8814494B6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21A229F-CBF4-D534-3408-34426956353E}"/>
              </a:ext>
            </a:extLst>
          </p:cNvPr>
          <p:cNvSpPr txBox="1"/>
          <p:nvPr/>
        </p:nvSpPr>
        <p:spPr>
          <a:xfrm>
            <a:off x="334404" y="1942450"/>
            <a:ext cx="11523191" cy="30469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注意：选择使用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还是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进行分析在上个步骤进行，接下来的分析是通用操作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03TaxonomyAbundance/01RawAbundance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转换为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表格，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环境中不需要额外配置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03TaxonomyAbundance/01RawAbundance/feature-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03TaxonomyAbundance/01RawAbundance/feature-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4947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51"/>
    </mc:Choice>
    <mc:Fallback xmlns="">
      <p:transition spd="slow" advTm="585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74DA7-9983-4236-811A-FF01C8700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A592EB6-E702-5A50-E758-C0A3738AA1F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823E309-672A-3EF0-92B9-EEF696AEAC3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810C523-F845-8461-A433-71872D507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6205AC-7931-6E26-6F5B-261E45087F52}"/>
              </a:ext>
            </a:extLst>
          </p:cNvPr>
          <p:cNvSpPr txBox="1"/>
          <p:nvPr/>
        </p:nvSpPr>
        <p:spPr>
          <a:xfrm>
            <a:off x="334404" y="989007"/>
            <a:ext cx="11523191" cy="31700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03TaxonomyAbundance/02Taxonomy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版本对应的分类器，比如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，建议挂后台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feature-classifier classify-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sklearn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-classifier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-reads 02FilteredData/representative_sequences.qza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--p-n-jobs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--o-classification 03TaxonomyAbundance/02Taxonomy/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taxonomy.qza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&gt; 03TaxonomyAbundance/02Taxonomy/taxonomy.log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13188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476"/>
    </mc:Choice>
    <mc:Fallback xmlns="">
      <p:transition spd="slow" advTm="8476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AE3FA-2FDD-2950-CE50-3E1BAE110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F23E540-E629-7619-1E93-1182F4D3F795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683B9F0-CE33-6375-A165-12458F786B6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485259BF-184B-8EE2-C358-738D8818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1B2AAE-86D8-6C99-8ABE-1385C2F6A8BF}"/>
              </a:ext>
            </a:extLst>
          </p:cNvPr>
          <p:cNvSpPr txBox="1"/>
          <p:nvPr/>
        </p:nvSpPr>
        <p:spPr>
          <a:xfrm>
            <a:off x="334404" y="2613392"/>
            <a:ext cx="11523191" cy="1631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物种注释：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编号与物种分类对应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03TaxonomyAbundance/02Taxonomy/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taxonomy.qza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03TaxonomyAbundance/02Taxonomy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16724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794"/>
    </mc:Choice>
    <mc:Fallback xmlns="">
      <p:transition spd="slow" advTm="9794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F6EE4-DB17-FF9C-AB9E-65B889DA3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DEA1F88-079A-736A-3F21-3B3FCA27D76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第三步：合并表格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7D45330-83B0-09A5-AE95-D2C7E389063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F047819-F148-2C7A-2A1E-C884C6991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71BF25-33C7-7130-ADF9-CE9DAC1E1792}"/>
              </a:ext>
            </a:extLst>
          </p:cNvPr>
          <p:cNvSpPr txBox="1"/>
          <p:nvPr/>
        </p:nvSpPr>
        <p:spPr>
          <a:xfrm>
            <a:off x="334404" y="947471"/>
            <a:ext cx="11523191" cy="5509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ABUNDIR="03TaxonomyAbundance/01RawAbundance"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TAXDIR="03TaxonomyAbundance/02Taxonomy"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PREFIX="ASV"     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这里是新生成编号的前缀：比如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ASV1/ASV2/.../ASV132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，也可以改成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OTU1/OTU2/.../OTU132</a:t>
            </a: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OUTDIR="03TaxonomyAbundance/03MergeAbundance"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"$OUTDIR"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TAX="${TAXDIR}/taxonomy.tsv"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TABLE="${ABUNDIR}/feature-table.tsv"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IDMAP="${OUTDIR}/id_map.txt"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OUT="${OUTDIR}/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merge_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tail -n +2 "$TAX" | sort -t$'\t' -k3,3gr |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awk -F'\t' -v p="$PREFIX" '{print $1"\t"p sprintf("%d",NR)}' &gt; "$IDMAP"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gawk -v tax="$TAX" -v map="$IDMAP" -v tab="$TABLE" -v p="$PREFIX" '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BEGIN{FS=OFS="\t"}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FILENAME==tax &amp;&amp; FNR&gt;1   {t[$1]=$2}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FILENAME==map            {n[$1]=$2}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FILENAME==tab &amp;&amp; FNR==2  {printf "%s_ID\tTaxon",p;for(i=2;i&lt;=NF;i++)printf "\t%s",$i;print "";next}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FILENAME==tab &amp;&amp; FNR&gt;2   {printf "%s\t%s",n[$1],t[$1];for(i=2;i&lt;=NF;i++)printf "\t%s",$i;print ""}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 "$TAX" "$IDMAP" "$TABLE" &gt; "$OUT"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62486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65"/>
    </mc:Choice>
    <mc:Fallback xmlns="">
      <p:transition spd="slow" advTm="7965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E2AC-A78D-1E4B-24B7-231360A10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BD4CE20-09F5-10CF-574C-9C131B888DB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第四步：物种堆叠图（可选）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209D5D-7641-8690-F766-F4D58873D93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1FC8A29-F41F-3371-87E0-B2A28580D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C42F27-BE96-24A6-B06B-C51FE4A49BAD}"/>
              </a:ext>
            </a:extLst>
          </p:cNvPr>
          <p:cNvSpPr txBox="1"/>
          <p:nvPr/>
        </p:nvSpPr>
        <p:spPr>
          <a:xfrm>
            <a:off x="334404" y="2305615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绘制物种堆叠图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taxa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02FilteredData/CleanTable.qza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03TaxonomyAbundance/02Taxonomy/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taxonomy.qza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03TaxonomyAbundance/03MergeAbundance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/taxa-bar-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plots.qzv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2896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53"/>
    </mc:Choice>
    <mc:Fallback xmlns="">
      <p:transition spd="slow" advTm="3453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D8AFC-037E-97EE-4411-0AD788BD9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27ADA-C797-6394-8C3A-EB3895469849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5490900-83F2-4402-6DC9-2C094C317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D6461B-3BA6-9754-BD91-9022C325A30F}"/>
              </a:ext>
            </a:extLst>
          </p:cNvPr>
          <p:cNvSpPr txBox="1"/>
          <p:nvPr/>
        </p:nvSpPr>
        <p:spPr>
          <a:xfrm>
            <a:off x="334404" y="1192976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--p-level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可以指定物种分类阶元，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域，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门，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纲，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目，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6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属，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7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种。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03TaxonomyAbundance/04TaxaCollapsed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level in 1 2 3 4 5 6 7;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taxa collapse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02FilteredData/CleanTable.qza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03TaxonomyAbundance/02Taxonomy/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taxonomy.qza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--p-level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$level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03TaxonomyAbundance/04TaxaCollapsed/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AbsoluteTable_L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03TaxonomyAbundance/04TaxaCollapsed/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AbsoluteTable_L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collapsed_table.qza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03TaxonomyAbundance/04TaxaCollapsed/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AbsoluteTable_L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03TaxonomyAbundance/04TaxaCollapsed/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AbsoluteTable_L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-o 03TaxonomyAbundance/04TaxaCollapsed/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AbsoluteTable_L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EBD5CC-C648-7E56-A988-2CFF8A128D4E}"/>
              </a:ext>
            </a:extLst>
          </p:cNvPr>
          <p:cNvSpPr txBox="1"/>
          <p:nvPr/>
        </p:nvSpPr>
        <p:spPr>
          <a:xfrm>
            <a:off x="6520904" y="286319"/>
            <a:ext cx="51933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第五步：按阶元等级合并丰度表（可选）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14362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30"/>
    </mc:Choice>
    <mc:Fallback xmlns="">
      <p:transition spd="slow" advTm="1133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24B4D-720F-0971-DDC6-581036A50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337CD1-90EB-D651-2BB2-666D6112CB3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第六步：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分析（可选）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B803818-2D52-CFF4-B15D-90C58726F0D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4249D0CD-D1F8-FD72-044C-F263C9D4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17AC3C-7A9C-22E6-83AE-20211960E204}"/>
              </a:ext>
            </a:extLst>
          </p:cNvPr>
          <p:cNvSpPr txBox="1"/>
          <p:nvPr/>
        </p:nvSpPr>
        <p:spPr>
          <a:xfrm>
            <a:off x="334404" y="1313051"/>
            <a:ext cx="11523191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https://amplicon-docs.qiime2.org/en/stable/tutorials/gut-to-soil/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输入的丰度表可以是任意目标分类阶元等级的丰度表，如果对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进行分析改为：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02FilteredData/CleanTable.qza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ancombc2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03TaxonomyAbundance/04TaxaCollapsed/AbsoluteTable_L6/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collapsed_table.qza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--p-fixed-effects-formula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Depth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--p-p-adjust-method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BH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'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Depth::L1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04AbundanceComparison/01ANCOM-BC2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--p-reference-levels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设置对照组（不设置默认第一个为对照）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--p-p-adj-method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可选择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值校验方法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('holm',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hochberg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hommel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bonferroni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'BH', 'BY',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fdr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'none')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生成差异条形图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ancombc2-visualizer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04AbundanceComparison/01ANCOM-BC2/ancombc2_output.qza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04AbundanceComparison/01ANCOM-BC2/ancombc2_output.qzv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27710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783"/>
    </mc:Choice>
    <mc:Fallback xmlns="">
      <p:transition spd="slow" advTm="11783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Ⅶ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</p:spTree>
    <p:extLst>
      <p:ext uri="{BB962C8B-B14F-4D97-AF65-F5344CB8AC3E}">
        <p14:creationId xmlns:p14="http://schemas.microsoft.com/office/powerpoint/2010/main" val="3395842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03"/>
    </mc:Choice>
    <mc:Fallback xmlns="">
      <p:transition spd="slow" advTm="3603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DBB8B-49E4-80ED-8FB8-ADB1D27E6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54845AC-EAD0-7006-5FDD-FA0F3D75F17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第一步：构建系统发育树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43C8C5D-4212-667F-68A2-4471176904B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C2531F2-5D15-684A-DF86-BE05B33D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773984-BF44-9682-51E4-097F703475E0}"/>
              </a:ext>
            </a:extLst>
          </p:cNvPr>
          <p:cNvSpPr txBox="1"/>
          <p:nvPr/>
        </p:nvSpPr>
        <p:spPr>
          <a:xfrm>
            <a:off x="334404" y="2305615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一些多样性指数会用到系统发育树的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phylogeny align-to-tree-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02FilteredData/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05Diversity/01Tree\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&gt; 05Diversity/02tree.log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03369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37"/>
    </mc:Choice>
    <mc:Fallback xmlns="">
      <p:transition spd="slow" advTm="4737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4FD5B-BB01-E54D-865D-170520920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E853B76-B3D9-B1C0-6F70-C8ADF2CD32D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第一步：构建系统发育树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B44212-6184-A875-D250-350C5944F63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84C8C79-1406-5FD3-2D8E-4695DCCC3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0046EA0-B104-17ED-8A03-870CB3914041}"/>
              </a:ext>
            </a:extLst>
          </p:cNvPr>
          <p:cNvSpPr txBox="1"/>
          <p:nvPr/>
        </p:nvSpPr>
        <p:spPr>
          <a:xfrm>
            <a:off x="334404" y="2413337"/>
            <a:ext cx="11523191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nwk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树形文件，自行在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ITOL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Chiplot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等工具美化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05Diversity/01Tree/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05Diversity/01Tree/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05Diversity/01Tree/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05Diversity/01Tree/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13365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40"/>
    </mc:Choice>
    <mc:Fallback xmlns="">
      <p:transition spd="slow" advTm="1014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80491-2875-3DD4-D503-2F7A0036D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41366B-CF90-4070-257B-2E3C2CB9EBB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Alpha/Beta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8BE9A96-5037-0D34-8C3D-0B6CA297CAC3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811CF56-0816-D439-2E94-A10FEF23B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3BC63E4-25BE-8C05-3AD1-8B35FAC8D4BA}"/>
              </a:ext>
            </a:extLst>
          </p:cNvPr>
          <p:cNvSpPr txBox="1"/>
          <p:nvPr/>
        </p:nvSpPr>
        <p:spPr>
          <a:xfrm>
            <a:off x="334404" y="1843950"/>
            <a:ext cx="11523191" cy="31700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可以将清洗过的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summary.qzv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查看最小的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Frequency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值，取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不大于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最小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Frequency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的值作为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--p-sampling-depth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（抽平深度）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diversity core-metrics-phylogenetic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05Diversity/01T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02FilteredData/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--p-sampling-depth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20000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--p-n-jobs-or-threads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05Diversity/03CoreDiversity &gt; 05Diversity/04core_diversity.log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3995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227"/>
    </mc:Choice>
    <mc:Fallback xmlns="">
      <p:transition spd="slow" advTm="4227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B811C-8425-BE09-0D05-06C7E4333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AB15F1-D792-F513-2D8E-3CF79764135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Alpha/Beta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0C15F0A-0AA6-E9D2-EFE5-DAC1EC968F8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2B13725-CAB7-5F50-3795-BC79D346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8536F5-D5B7-85F3-B8A7-C6B3898559D6}"/>
              </a:ext>
            </a:extLst>
          </p:cNvPr>
          <p:cNvSpPr txBox="1"/>
          <p:nvPr/>
        </p:nvSpPr>
        <p:spPr>
          <a:xfrm>
            <a:off x="334404" y="1040757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多样性指数，注意导入文件的是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diversity core-metrics-phylogenetic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导出的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05Diversity/03CoreDiversity/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05Diversity/03CoreDiversity/chao1_vector.qza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05Diversity/03CoreDiversity/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05Diversity/03CoreDiversity/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('ace',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'chao1_ci', 'dominance', 'doubles',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esty_ci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kempton_taylor_q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osd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'singles', 'strong’)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指标信息查看：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https://scikit.bio/docs/latest/generated/skbio.diversity.alpha.html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37105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571"/>
    </mc:Choice>
    <mc:Fallback xmlns="">
      <p:transition spd="slow" advTm="1157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46D52-CB39-89FA-132F-F37A611A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AB1B12-170C-D722-C774-2B96CD0CBA3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Alpha/Beta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2252D7A-427D-0A99-3652-4F7FB2D3587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B8C254A-3956-3CFE-B043-1EB6E6A22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128BC-F30A-3541-80D0-CA40276B62C4}"/>
              </a:ext>
            </a:extLst>
          </p:cNvPr>
          <p:cNvSpPr txBox="1"/>
          <p:nvPr/>
        </p:nvSpPr>
        <p:spPr>
          <a:xfrm>
            <a:off x="334404" y="128534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05Diversity/03CoreDiversity/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aitchison --o-distance-matrix 05Diversity/03CoreDiversity/aitchison_distance_matrix.qza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Euclidean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05Diversity/03CoreDiversity/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euclidean --o-distance-matrix 05Diversity/03CoreDiversity/euclidean_distance_matrix.qza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braycurtis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canberra_adkins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chebyshev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cityblock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'correlation', 'cosine', 'dice', 'euclidean', 'hamming',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jaccard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jensenshannon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'matching',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minkowski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rogerstanimoto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russellrao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sokalsneath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sqeuclidean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'yule')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961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124"/>
    </mc:Choice>
    <mc:Fallback xmlns="">
      <p:transition spd="slow" advTm="4124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9877-D698-B6A4-7B6C-0C0BC9F71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D817236-627B-6DB0-F172-A9911A39026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B52740-5E3C-57AF-D3CA-484B7EAFB86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B337019-0839-EC54-AB8C-EADE4FF38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EE9A587-6884-A48C-2808-82642B1A0B11}"/>
              </a:ext>
            </a:extLst>
          </p:cNvPr>
          <p:cNvSpPr txBox="1"/>
          <p:nvPr/>
        </p:nvSpPr>
        <p:spPr>
          <a:xfrm>
            <a:off x="334404" y="1035959"/>
            <a:ext cx="11523191" cy="54168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多样性数据导出及差异性检验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05Diversity/05AlphaDiversity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Shannon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05Diversity/03CoreDiversity/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--o-visualization 08Alpha/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Chao1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05Diversity/03CoreDiversity/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--o-visualization 08Alpha/chao1.qzv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05Diversity/03CoreDiversity/*_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base=$(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"$file"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--o-visualization "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05Diversity/05AlphaDiversity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/${base}.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4704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575"/>
    </mc:Choice>
    <mc:Fallback xmlns="">
      <p:transition spd="slow" advTm="5575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5819E-3E0D-488F-95F7-186EFD3B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6F9D80-FCFD-5956-E0BC-326F6B5DAF4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稀疏曲线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537B2B8-E846-3B87-EAD5-8B6CAE69F4E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98750E3-1DF8-8B4A-85A5-13FB75B1C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885343-C3A0-47D7-5972-C7BA322D21B3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多样性指数，不同指数中间空格间隔，注意大小写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alpha-rarefaction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02FilteredData/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CleanTable.qza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05Diversity/01Tree/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--p-max-depth 10000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--p-metrics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chao1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--p-steps 20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05Diversity/05AlphaDiversity/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Alpha_rarefaction_curves.qzv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支持的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metrics: Set[Str % Choices('ace',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'dominance', 'doubles',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faith_pd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指标信息查看：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https://scikit.bio/docs/latest/generated/skbio.diversity.alpha.html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82187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68"/>
    </mc:Choice>
    <mc:Fallback xmlns="">
      <p:transition spd="slow" advTm="3468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C7CCC-0B18-EECF-A5CD-FCEF83644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38ED70-9E7F-CF1E-779E-4320A0A7A02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D6F7651-6090-088C-87C0-DDE65A60CE9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7E6F0C-E170-83FB-224D-CE1F07581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BEF652C-E07B-26CB-51DC-E4336C34D819}"/>
              </a:ext>
            </a:extLst>
          </p:cNvPr>
          <p:cNvSpPr txBox="1"/>
          <p:nvPr/>
        </p:nvSpPr>
        <p:spPr>
          <a:xfrm>
            <a:off x="334404" y="1230872"/>
            <a:ext cx="11523191" cy="4924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05Diversity/06B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Diversity/pcoa_export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05Diversity/03CoreDiversity/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unweighted_unifrac_pcoa_results.qza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05Diversity/06B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Diversity/pcoa_export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05Diversity/03CoreDiversity/*_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"$file"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05Diversity/06BetaDiversity/pcoa_export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5549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915"/>
    </mc:Choice>
    <mc:Fallback xmlns="">
      <p:transition spd="slow" advTm="5915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D5EA9-5274-A29C-4E5F-E6AFAADBB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D977CAF-0DCD-EA43-5EFC-41326E036F8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5FEBE5-50AD-958A-39E8-3D2BDFBE17B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06DDA2-BE68-37DF-5891-561DA8C87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6FB9993-A8B2-3B3F-764E-669601583913}"/>
              </a:ext>
            </a:extLst>
          </p:cNvPr>
          <p:cNvSpPr txBox="1"/>
          <p:nvPr/>
        </p:nvSpPr>
        <p:spPr>
          <a:xfrm>
            <a:off x="334404" y="1507014"/>
            <a:ext cx="11523191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导出距离矩阵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05Diversity/06B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Diversity/distances_export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05Diversity/03CoreDiversity/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bray_curtis_distance_matrix.qza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05Diversity/06B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Diversity/distances_export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05Diversity/03CoreDiversity/*_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--input-path "$f" --output-path 05Diversity/06BetaDiversity/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distances_export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87227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23"/>
    </mc:Choice>
    <mc:Fallback xmlns="">
      <p:transition spd="slow" advTm="3823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693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进行差异检验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05Diversity/06BetaDiversity/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--p-method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可以选择算法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('permanova',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anosim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permdisp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--m-metadata-column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中分类型变量列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05Diversity/03CoreDiversity/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--m-metadata-column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Depth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05Diversity/06BetaDiversity/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bray_curtis_group.qzv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Depth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matrix in 05Diversity/03CoreDiversity/*_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"$matrix" 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"$matrix"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--m-metadata-column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05Diversity/06BetaDiversity/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/"${name}_${COLUMN}".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75456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43"/>
    </mc:Choice>
    <mc:Fallback xmlns="">
      <p:transition spd="slow" advTm="4543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Ⅷ  PICRUSt2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功能注释</a:t>
            </a:r>
          </a:p>
        </p:txBody>
      </p:sp>
    </p:spTree>
    <p:extLst>
      <p:ext uri="{BB962C8B-B14F-4D97-AF65-F5344CB8AC3E}">
        <p14:creationId xmlns:p14="http://schemas.microsoft.com/office/powerpoint/2010/main" val="664987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07"/>
    </mc:Choice>
    <mc:Fallback xmlns="">
      <p:transition spd="slow" advTm="3207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B7000-047D-04E4-043A-57FDB8E3D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9C11D5B-1E5A-24C7-58DA-C6FDAEC0375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第一步：准备工作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EFC8B50-2EDE-2F1A-F2C0-23C6E37CD64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41110D0-C8AF-43DB-1D07-B12664F03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BA5321-A0D7-139B-3831-2A5366CA971A}"/>
              </a:ext>
            </a:extLst>
          </p:cNvPr>
          <p:cNvSpPr txBox="1"/>
          <p:nvPr/>
        </p:nvSpPr>
        <p:spPr>
          <a:xfrm>
            <a:off x="334404" y="1484532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环境中运行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获得特征序列的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文件。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02FilteredData/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02FilteredData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创建文件夹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-p 06FunctionAnalysis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12712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549"/>
    </mc:Choice>
    <mc:Fallback xmlns="">
      <p:transition spd="slow" advTm="19549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第二步：配置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PICRUSt2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2182505"/>
            <a:ext cx="11523191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首先配置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PICRUSt2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环境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https://github.com/picrust/picrust2/wiki/Installation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 create -n picrust2 -c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bioconda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conda-forge picrust2=2.6.2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激活环境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 activate picrust2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713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873"/>
    </mc:Choice>
    <mc:Fallback xmlns="">
      <p:transition spd="slow" advTm="4873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3FE3E-9BFA-00FA-3830-55E468ADB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5194DE0-A6E7-8BF1-3C62-13AFCE8EACB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第三步：功能注释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5BD6617-25B8-E22E-03F6-EE89AE01C25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445B842-D18E-1CC6-5A92-1AB5B19DE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9BECAEF-2BCA-28E6-826A-889BEEA9019E}"/>
              </a:ext>
            </a:extLst>
          </p:cNvPr>
          <p:cNvSpPr txBox="1"/>
          <p:nvPr/>
        </p:nvSpPr>
        <p:spPr>
          <a:xfrm>
            <a:off x="334404" y="1582340"/>
            <a:ext cx="11523191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激活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PICRUSt2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查看参数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picrust2_pipeline.py --help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输入特征序列的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文件及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文件。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picrust2_pipeline.py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02FilteredData/dna-sequences.fasta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03TaxonomyAbundance/01RawAbundance/feature-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-o 06FunctionAnalysis/Picrust2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-p 32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--stratified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per_sequence_contrib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in_traits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EC,KO,GO,PFAM,BIGG,CAZY,GENE_NAMES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60965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275"/>
    </mc:Choice>
    <mc:Fallback xmlns="">
      <p:transition spd="slow" advTm="8275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55E9-6B82-FA80-4403-46FB93AC7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C9646D-D711-02BD-0410-80EF9F23896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第四步：添加描述信息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A05B280-E8C7-937A-B3A7-EBBF81AA435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35A6E0B-B2BD-D067-909A-87D0EB4A8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42F003-2C5C-6F63-0456-F9D223665575}"/>
              </a:ext>
            </a:extLst>
          </p:cNvPr>
          <p:cNvSpPr txBox="1"/>
          <p:nvPr/>
        </p:nvSpPr>
        <p:spPr>
          <a:xfrm>
            <a:off x="334404" y="1384760"/>
            <a:ext cx="11523191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添加描述信息并导出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pathways_out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/path_abun_unstrat.tsv.gz -m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METACYC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pathways.tsv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06FunctionAnalysis/Picrust2/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62350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756"/>
    </mc:Choice>
    <mc:Fallback xmlns="">
      <p:transition spd="slow" advTm="15756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A1C8E-3620-0317-739C-CBE0FFF88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C805CBC-E3AB-3B4D-05DD-50090ED18FF5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第四步：添加描述信息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0C28A4E-B999-3A1E-8E59-53629CD5E46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51E5281-4EB9-5D6C-0031-C04B0828F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C0A288F-E67D-A877-9C55-8F09E09DB4C7}"/>
              </a:ext>
            </a:extLst>
          </p:cNvPr>
          <p:cNvSpPr txBox="1"/>
          <p:nvPr/>
        </p:nvSpPr>
        <p:spPr>
          <a:xfrm>
            <a:off x="334404" y="2767280"/>
            <a:ext cx="11523191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还可以在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Excel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中使用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Vlookup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函数添加描述信息，软件自带的对应表可以通过下面方法查看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pip show picrust2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显示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Location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路径添加“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fr-FR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picrust2/default_files/description_mapfiles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”即为自带的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示例是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~/.env/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envs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/picrust2/lib/python3.9/site-packages/picrust2/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default_files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description_mapfiles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77418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592"/>
    </mc:Choice>
    <mc:Fallback xmlns="">
      <p:transition spd="slow" advTm="8592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8875-F04A-44B2-7E3E-880A7691D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209F0DE-8173-681F-FCFE-04D15A37B5E5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第五步：汇总结果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4D9E932-A18F-02C4-6AAA-9F5B63C30EE9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E762FCF-FBB1-3E25-99AA-80010DFE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D0AA66-047D-DCF3-1E90-E6F78BA15D54}"/>
              </a:ext>
            </a:extLst>
          </p:cNvPr>
          <p:cNvSpPr txBox="1"/>
          <p:nvPr/>
        </p:nvSpPr>
        <p:spPr>
          <a:xfrm>
            <a:off x="334404" y="2028616"/>
            <a:ext cx="11523191" cy="32932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把表格解压汇总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-p 06FunctionAnalysis/Picrust2/source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in 06FunctionAnalysis/Picrust2/*_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if [ -d 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]; then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prefix=$(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| sed 's/_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//')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input="$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if [ -f "$input" ]; then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zcat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"$input" &gt; "06FunctionAnalysis/Picrust2/source/${prefix}_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source.tsv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fi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fi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60041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564"/>
    </mc:Choice>
    <mc:Fallback xmlns="">
      <p:transition spd="slow" advTm="5564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AE82A-8469-B2F6-DA6A-74127473D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6453317-89B6-C6BF-5C20-3DBBBDF46883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环境配置失败解决方法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959F830-0107-F3C8-3730-D98BDD16AFE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07D7BA7-23E0-ECE7-DA34-BBF40879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A1C75C7-8A7E-4DEF-0B27-FFB382B65908}"/>
              </a:ext>
            </a:extLst>
          </p:cNvPr>
          <p:cNvSpPr txBox="1"/>
          <p:nvPr/>
        </p:nvSpPr>
        <p:spPr>
          <a:xfrm>
            <a:off x="334404" y="1859339"/>
            <a:ext cx="11523191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如果下载速度慢或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无法配置：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~/.local/bin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~/.local/bin/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https://github.com/mamba-org/micromamba-releases/releases/latest/download/micromamba-linux-64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mv micromamba-linux-64 micromamba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chmod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+x ~/.local/bin/micromamba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~/.local/bin/micromamba shell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init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-s bash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source ~/.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bashrc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micromamba create -r ~/.env -n picrust2 python=3.9 -c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bioconda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conda-forge picrust2=2.6.2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micromamba activate ~/.env/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envs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/picrust2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5DD3BA3-BB3D-ED46-CCBB-8F9F3D06F3C7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382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091"/>
    </mc:Choice>
    <mc:Fallback xmlns="">
      <p:transition spd="slow" advTm="809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3BC550E-EE58-331F-5F08-4A8492A0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pPr/>
              <a:t>75</a:t>
            </a:fld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A77BD3A-5A73-F6F1-915E-11D6147CB345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感谢观看</a:t>
            </a:r>
          </a:p>
        </p:txBody>
      </p:sp>
    </p:spTree>
    <p:extLst>
      <p:ext uri="{BB962C8B-B14F-4D97-AF65-F5344CB8AC3E}">
        <p14:creationId xmlns:p14="http://schemas.microsoft.com/office/powerpoint/2010/main" val="10728636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.4|5.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0.4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9|16.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5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2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.5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|7.1|9.2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9|8.7|14.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9|8.7|14.5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7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9477</Words>
  <Application>Microsoft Office PowerPoint</Application>
  <PresentationFormat>宽屏</PresentationFormat>
  <Paragraphs>1065</Paragraphs>
  <Slides>75</Slides>
  <Notes>72</Notes>
  <HiddenSlides>0</HiddenSlides>
  <MMClips>1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75</vt:i4>
      </vt:variant>
    </vt:vector>
  </HeadingPairs>
  <TitlesOfParts>
    <vt:vector size="82" baseType="lpstr">
      <vt:lpstr>等线</vt:lpstr>
      <vt:lpstr>等线 Light</vt:lpstr>
      <vt:lpstr>宋体</vt:lpstr>
      <vt:lpstr>微软雅黑</vt:lpstr>
      <vt:lpstr>Arial</vt:lpstr>
      <vt:lpstr>Times New Roman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 薛</dc:creator>
  <cp:lastModifiedBy>浩 薛</cp:lastModifiedBy>
  <cp:revision>23</cp:revision>
  <dcterms:created xsi:type="dcterms:W3CDTF">2026-08-11T09:29:18Z</dcterms:created>
  <dcterms:modified xsi:type="dcterms:W3CDTF">2026-09-17T08:39:18Z</dcterms:modified>
</cp:coreProperties>
</file>