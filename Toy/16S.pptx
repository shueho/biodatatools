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tags/tag7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8.xml" ContentType="application/vnd.openxmlformats-officedocument.presentationml.tags+xml"/>
  <Override PartName="/ppt/notesSlides/notesSlide11.xml" ContentType="application/vnd.openxmlformats-officedocument.presentationml.notesSlide+xml"/>
  <Override PartName="/ppt/tags/tag9.xml" ContentType="application/vnd.openxmlformats-officedocument.presentationml.tags+xml"/>
  <Override PartName="/ppt/notesSlides/notesSlide12.xml" ContentType="application/vnd.openxmlformats-officedocument.presentationml.notesSlide+xml"/>
  <Override PartName="/ppt/tags/tag10.xml" ContentType="application/vnd.openxmlformats-officedocument.presentationml.tags+xml"/>
  <Override PartName="/ppt/notesSlides/notesSlide13.xml" ContentType="application/vnd.openxmlformats-officedocument.presentationml.notesSlide+xml"/>
  <Override PartName="/ppt/tags/tag11.xml" ContentType="application/vnd.openxmlformats-officedocument.presentationml.tags+xml"/>
  <Override PartName="/ppt/notesSlides/notesSlide14.xml" ContentType="application/vnd.openxmlformats-officedocument.presentationml.notesSlide+xml"/>
  <Override PartName="/ppt/tags/tag12.xml" ContentType="application/vnd.openxmlformats-officedocument.presentationml.tags+xml"/>
  <Override PartName="/ppt/notesSlides/notesSlide15.xml" ContentType="application/vnd.openxmlformats-officedocument.presentationml.notesSlide+xml"/>
  <Override PartName="/ppt/tags/tag13.xml" ContentType="application/vnd.openxmlformats-officedocument.presentationml.tags+xml"/>
  <Override PartName="/ppt/notesSlides/notesSlide16.xml" ContentType="application/vnd.openxmlformats-officedocument.presentationml.notesSlide+xml"/>
  <Override PartName="/ppt/tags/tag14.xml" ContentType="application/vnd.openxmlformats-officedocument.presentationml.tags+xml"/>
  <Override PartName="/ppt/notesSlides/notesSlide17.xml" ContentType="application/vnd.openxmlformats-officedocument.presentationml.notesSlide+xml"/>
  <Override PartName="/ppt/tags/tag15.xml" ContentType="application/vnd.openxmlformats-officedocument.presentationml.tags+xml"/>
  <Override PartName="/ppt/notesSlides/notesSlide18.xml" ContentType="application/vnd.openxmlformats-officedocument.presentationml.notesSlide+xml"/>
  <Override PartName="/ppt/tags/tag16.xml" ContentType="application/vnd.openxmlformats-officedocument.presentationml.tags+xml"/>
  <Override PartName="/ppt/notesSlides/notesSlide19.xml" ContentType="application/vnd.openxmlformats-officedocument.presentationml.notesSlide+xml"/>
  <Override PartName="/ppt/tags/tag17.xml" ContentType="application/vnd.openxmlformats-officedocument.presentationml.tags+xml"/>
  <Override PartName="/ppt/notesSlides/notesSlide20.xml" ContentType="application/vnd.openxmlformats-officedocument.presentationml.notesSlide+xml"/>
  <Override PartName="/ppt/tags/tag18.xml" ContentType="application/vnd.openxmlformats-officedocument.presentationml.tags+xml"/>
  <Override PartName="/ppt/notesSlides/notesSlide21.xml" ContentType="application/vnd.openxmlformats-officedocument.presentationml.notesSlide+xml"/>
  <Override PartName="/ppt/tags/tag19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20.xml" ContentType="application/vnd.openxmlformats-officedocument.presentationml.tags+xml"/>
  <Override PartName="/ppt/notesSlides/notesSlide24.xml" ContentType="application/vnd.openxmlformats-officedocument.presentationml.notesSlide+xml"/>
  <Override PartName="/ppt/tags/tag21.xml" ContentType="application/vnd.openxmlformats-officedocument.presentationml.tags+xml"/>
  <Override PartName="/ppt/notesSlides/notesSlide25.xml" ContentType="application/vnd.openxmlformats-officedocument.presentationml.notesSlide+xml"/>
  <Override PartName="/ppt/tags/tag22.xml" ContentType="application/vnd.openxmlformats-officedocument.presentationml.tags+xml"/>
  <Override PartName="/ppt/notesSlides/notesSlide26.xml" ContentType="application/vnd.openxmlformats-officedocument.presentationml.notesSlide+xml"/>
  <Override PartName="/ppt/tags/tag23.xml" ContentType="application/vnd.openxmlformats-officedocument.presentationml.tags+xml"/>
  <Override PartName="/ppt/notesSlides/notesSlide27.xml" ContentType="application/vnd.openxmlformats-officedocument.presentationml.notesSlide+xml"/>
  <Override PartName="/ppt/tags/tag24.xml" ContentType="application/vnd.openxmlformats-officedocument.presentationml.tags+xml"/>
  <Override PartName="/ppt/notesSlides/notesSlide28.xml" ContentType="application/vnd.openxmlformats-officedocument.presentationml.notesSlide+xml"/>
  <Override PartName="/ppt/tags/tag25.xml" ContentType="application/vnd.openxmlformats-officedocument.presentationml.tags+xml"/>
  <Override PartName="/ppt/notesSlides/notesSlide29.xml" ContentType="application/vnd.openxmlformats-officedocument.presentationml.notesSlide+xml"/>
  <Override PartName="/ppt/tags/tag26.xml" ContentType="application/vnd.openxmlformats-officedocument.presentationml.tags+xml"/>
  <Override PartName="/ppt/notesSlides/notesSlide30.xml" ContentType="application/vnd.openxmlformats-officedocument.presentationml.notesSlide+xml"/>
  <Override PartName="/ppt/tags/tag27.xml" ContentType="application/vnd.openxmlformats-officedocument.presentationml.tags+xml"/>
  <Override PartName="/ppt/notesSlides/notesSlide31.xml" ContentType="application/vnd.openxmlformats-officedocument.presentationml.notesSlide+xml"/>
  <Override PartName="/ppt/tags/tag28.xml" ContentType="application/vnd.openxmlformats-officedocument.presentationml.tags+xml"/>
  <Override PartName="/ppt/notesSlides/notesSlide32.xml" ContentType="application/vnd.openxmlformats-officedocument.presentationml.notesSlide+xml"/>
  <Override PartName="/ppt/tags/tag29.xml" ContentType="application/vnd.openxmlformats-officedocument.presentationml.tags+xml"/>
  <Override PartName="/ppt/notesSlides/notesSlide33.xml" ContentType="application/vnd.openxmlformats-officedocument.presentationml.notesSlide+xml"/>
  <Override PartName="/ppt/tags/tag30.xml" ContentType="application/vnd.openxmlformats-officedocument.presentationml.tags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tags/tag31.xml" ContentType="application/vnd.openxmlformats-officedocument.presentationml.tags+xml"/>
  <Override PartName="/ppt/notesSlides/notesSlide36.xml" ContentType="application/vnd.openxmlformats-officedocument.presentationml.notesSlide+xml"/>
  <Override PartName="/ppt/tags/tag32.xml" ContentType="application/vnd.openxmlformats-officedocument.presentationml.tags+xml"/>
  <Override PartName="/ppt/notesSlides/notesSlide37.xml" ContentType="application/vnd.openxmlformats-officedocument.presentationml.notesSlide+xml"/>
  <Override PartName="/ppt/tags/tag33.xml" ContentType="application/vnd.openxmlformats-officedocument.presentationml.tags+xml"/>
  <Override PartName="/ppt/notesSlides/notesSlide38.xml" ContentType="application/vnd.openxmlformats-officedocument.presentationml.notesSlide+xml"/>
  <Override PartName="/ppt/tags/tag34.xml" ContentType="application/vnd.openxmlformats-officedocument.presentationml.tags+xml"/>
  <Override PartName="/ppt/notesSlides/notesSlide39.xml" ContentType="application/vnd.openxmlformats-officedocument.presentationml.notesSlide+xml"/>
  <Override PartName="/ppt/tags/tag35.xml" ContentType="application/vnd.openxmlformats-officedocument.presentationml.tags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sldIdLst>
    <p:sldId id="257" r:id="rId2"/>
    <p:sldId id="412" r:id="rId3"/>
    <p:sldId id="353" r:id="rId4"/>
    <p:sldId id="355" r:id="rId5"/>
    <p:sldId id="285" r:id="rId6"/>
    <p:sldId id="408" r:id="rId7"/>
    <p:sldId id="358" r:id="rId8"/>
    <p:sldId id="414" r:id="rId9"/>
    <p:sldId id="400" r:id="rId10"/>
    <p:sldId id="401" r:id="rId11"/>
    <p:sldId id="364" r:id="rId12"/>
    <p:sldId id="413" r:id="rId13"/>
    <p:sldId id="420" r:id="rId14"/>
    <p:sldId id="422" r:id="rId15"/>
    <p:sldId id="427" r:id="rId16"/>
    <p:sldId id="430" r:id="rId17"/>
    <p:sldId id="375" r:id="rId18"/>
    <p:sldId id="432" r:id="rId19"/>
    <p:sldId id="429" r:id="rId20"/>
    <p:sldId id="383" r:id="rId21"/>
    <p:sldId id="398" r:id="rId22"/>
    <p:sldId id="439" r:id="rId23"/>
    <p:sldId id="404" r:id="rId24"/>
    <p:sldId id="481" r:id="rId25"/>
    <p:sldId id="438" r:id="rId26"/>
    <p:sldId id="482" r:id="rId27"/>
    <p:sldId id="468" r:id="rId28"/>
    <p:sldId id="471" r:id="rId29"/>
    <p:sldId id="452" r:id="rId30"/>
    <p:sldId id="473" r:id="rId31"/>
    <p:sldId id="475" r:id="rId32"/>
    <p:sldId id="458" r:id="rId33"/>
    <p:sldId id="462" r:id="rId34"/>
    <p:sldId id="464" r:id="rId35"/>
    <p:sldId id="465" r:id="rId36"/>
    <p:sldId id="459" r:id="rId37"/>
    <p:sldId id="483" r:id="rId38"/>
    <p:sldId id="484" r:id="rId39"/>
    <p:sldId id="485" r:id="rId40"/>
    <p:sldId id="488" r:id="rId41"/>
    <p:sldId id="491" r:id="rId42"/>
    <p:sldId id="494" r:id="rId43"/>
    <p:sldId id="297" r:id="rId4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0447F1-515A-40AD-976D-F688464E28DC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57CD99-A7E1-483D-9BE8-A41EFC334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822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4C2B3-77A8-2799-410D-DAA569A10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A050BE-299B-7885-E385-A7C839A07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57C5B4-7C1F-A8A7-BAF4-EEAC9254E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FC22E4-B641-65B6-30C1-A471CEEB8C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6916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93216-5A1E-DCC4-8071-728DCC2D2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8A27AC-D2AB-6163-D730-825E36444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8826EFF-D715-ADAC-6668-1A93111EA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F1B466-38E6-6DF9-4E83-B84CA337E1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3276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4E6B4-DE6F-3AAC-F06F-2017082C4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79A8570-92DF-EF53-36B2-3365C9652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D80EB30-D217-BEFB-97C6-D9D6FAA70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9C664D-9101-BAF3-8E1D-6E55CD568B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1931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4144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52F14-94C5-218F-EE5B-053C75300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697DA36-8D70-F6BD-3D3D-5BFE7F9E9E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8ED7526-B2BD-D723-61D4-8DF81067F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428741-8FFE-9AE2-B5AB-CAF1303D4A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77146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06F13-EB3D-1297-8037-CB6BFEA37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42CE32B-5A6D-7AEC-252E-57B3FDB0E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9AE756D-D588-1C58-7C5F-37DB7CA108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92ECE1-07D2-83E9-B5D9-07013C1E6B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7325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A5B76-0A7D-BE86-82A5-B0194B500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E05B81-C62B-BBBA-5956-DB66E3BC71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4BDD623-C231-3E23-BF5D-5FE154345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3685CC-06A9-B365-F04B-00770EE048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45905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16530-58D8-143B-5336-58D2E2EAF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FDCBE7F-C278-0721-6997-57C5EFC715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A213A5-6670-ED09-2356-64979DF71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8E7E84-8E3E-3816-B000-488F0D365C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62399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64477-A984-D051-180A-0B0CFB81D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488E243-496B-8C19-0606-DABE51741F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537905-4358-2A83-1039-C3C2851027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442088-238F-E82E-2D9B-C206DD1DED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69994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6C2E8-551A-2970-A219-62B093724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FBA4B5-7459-7B9A-610C-BD05AEF7E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2BE23F3-914C-B498-3EEA-9988EAC49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D533F2-5B92-C0A7-A861-28BD692F32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02935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0107-F403-C44C-8A76-5EE5430A3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2322F8-15C5-F39F-628D-B8C5D8DF7D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6EE016-F0DC-1335-9DD2-858EF2527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683C5F-B573-BC67-7543-6F69B12CDE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64111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E5C7D-8201-E75C-EC95-CC16CDBCA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B1C3EF-FFB8-8FE0-EB1F-4E3E929146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2E73C6-1243-CC30-B900-7770895DDF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811194-77AF-43A1-16C5-5096D8FDAA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48398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665A5-9153-C4BB-0702-93C9C5496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2F97BDF-6326-AF7A-7EB1-DD6281D751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7B3AE5-1B13-C783-5306-2F3C8F791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0EF27B-1E22-F4B4-E49F-ADAD78FFEB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93625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3D185-F350-4E01-4871-F80197C7A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654B2F-7931-D67F-EBE2-7952CAAB92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EE1902-075E-5454-7153-36BC425E5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CF9194-485F-8784-76E2-58A06863C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62850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F6DE1-7D34-C49C-8135-D15BD3D75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589577-A55A-D567-2237-D43764DF0C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9832F6-5AF5-0DA1-41E8-C2858CA40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61D87B-8FA4-E38F-EE00-71852A827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74544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ACC90-16F0-1783-DB4C-0FA984DE6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3729A7A-BFED-52C3-6816-D5DF112ACA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23E8CD-6FDC-B50E-C18B-24187B1D3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551BE7-84E6-2C6D-DB9C-A51F7C8A9D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54150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BBAF4-4964-075B-C7C4-EA7057589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AA0BDD-C697-9DE2-2BA8-A64DDEAE3C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D9AB52F-4083-C361-5847-79B9CC005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84A3B4-1FD5-96D1-826D-A6D7E5070E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20823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8BABC-19AC-10FC-3BC9-F9B6EAD38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2D335A-30B7-F86E-453E-D671C480E5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E2C037-4241-17A8-46BD-1DA01BAE8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78D259-FC65-ABC5-C075-98B1426CE2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19106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B51C2-AFF6-F0A3-3E6E-5EC82DA87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3D7B440-F3D5-D23B-FF0B-3C7778B92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E4CF872-D347-8FB1-A711-4D13C87B61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050395-5272-46EF-4CB4-FB0ADD8BF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80376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F92C2-81C2-215A-A363-43D95B0FF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1948AB-B0F1-4F5C-10F0-010EC91A7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038DF56-1AA4-5E1F-9900-0A14FBA0A5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8967DF-56F7-BBBD-96B8-0358543402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0302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F27B8-3148-7B0A-87BE-263C05E53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528C0D-FEE4-62B1-03B0-490A97E50A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50E499-F9A5-5815-CFC0-029B7651C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D93D66-3F41-2547-49B2-3FC212FB36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47819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F7A9C-C1B2-122C-419B-3D3950BD1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25DA89-5B76-6943-C746-8EB1F0DEA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57DEFB2-6B54-1DED-F244-2F5342FFB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A1051D-4BE4-70CB-40A4-732CAE7A12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63356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F04E5-88E7-1497-D467-46DE028DF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FF4585-6DF3-93B0-3F4D-4D9203E60C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86071D-CDF6-3C11-7416-FA5B887FB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97968B-EA3D-C2FD-D22D-534F92796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13243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41C2D-773F-A69F-C9F0-BD2FB1C13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C10D1A-6EF3-B276-394F-C2728DECC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A0C42E6-A614-7E6E-EC18-D3ADFCAC9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6A72B3-A42E-6DAD-93F5-9B04D5D871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073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76485-7C30-C99E-564F-BB86FE181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FF6B831-686D-6BF5-720F-8BF91A94D0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18B92BB-8490-A8EC-82B8-8F709845E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798EC0-416B-0088-AFEC-47CAEFC60C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364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0CF4E-2ABD-1348-EA5C-359220CAC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420DA6-B76E-DD56-3A9E-D9AF9ABBF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D0B898-FF39-E772-9DC7-CF547E5A7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A47DEB-0AE9-9405-5370-2956915409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60211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01948-AB27-CA30-399B-7E6078A9A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39AD096-CF1A-F349-9E16-22CA1793E0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7BCFCCB-FE7E-98F6-446D-738C5F33B5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0C243C-FC4C-B7B6-F4FB-12A7A77759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24230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6FA5A-F43C-80CB-DAE0-5C880E663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56B210-0EB4-E66B-16BB-7FF0B0088D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1A6FC2-4311-40ED-047A-3E326E096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AF24E8-1E01-3076-F4B2-22FEEE468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84685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67CFF-9DDF-D1C6-3CED-33827786A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FD5EC23-D924-68CB-A6CF-11DBB5B13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BE4C3D5-C399-0338-2883-7D570FC218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A65A6A-5697-3168-E278-3A9FC32D56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25239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7A0BE-DADA-1552-E01E-FFEDD40CC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085112-0606-02EB-25E3-95E12DC0FA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43A150-8BF7-8540-CB08-1B2BB13B0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B822E7-EF9E-A97B-EF47-C3DCC87D99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88386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11384-498D-379F-BE11-983404C85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08177D-15C9-648D-34DA-FD5326ED82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48C429-5867-B0C0-D228-BD3DB54C2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114EC0-18DA-422E-6792-B6586A2D3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5144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9DB4C-276E-E21B-BCDD-A894D5E68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A0B4CB6-960B-FFB0-FC3D-A69B04F51C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98075F3-9A7F-E7A2-A1B3-D632EF9C2D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D3CD77-9CC9-91E2-9C92-94CFE6C934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894468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887F9-347C-D4D8-16DD-16B49D535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AF6E739-BC06-B7A4-31DE-7FDB82D8C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7282AB-DFC6-4BDB-E3B2-3845A7A73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2A0847-35B9-F597-6DD6-F7BDCAD6CD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491172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B3AA8-ADFD-6969-1AE5-6FABA220F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261997-9930-0F7A-0369-F010271533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90E5E8-750F-5F24-23AA-3AFD2D977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EC8051-934A-F17D-109C-95926C632D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168199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F04E5-88E7-1497-D467-46DE028DF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FF4585-6DF3-93B0-3F4D-4D9203E60C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86071D-CDF6-3C11-7416-FA5B887FB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97968B-EA3D-C2FD-D22D-534F92796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13243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41C2D-773F-A69F-C9F0-BD2FB1C13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C10D1A-6EF3-B276-394F-C2728DECC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A0C42E6-A614-7E6E-EC18-D3ADFCAC9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6A72B3-A42E-6DAD-93F5-9B04D5D871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073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93355-F5FB-0764-0C32-D3EAB336D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13E649-E236-3234-3B44-1B150677C7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4A9926-300E-9D48-01E6-78DBC9DEBE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953EA3-39E2-1951-CDA0-9A43B9D10F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49864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F58A1-C0A1-1809-73A8-D8829AF7D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565A34-A8A0-7DFE-A202-390E1ED8C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3569FD6-1B29-F4C0-6126-32653B6C4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725B79-6B08-9641-1C3A-56FF5D9C7D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165786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D38C1-084A-0EED-5E75-75AE9C7E2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9BB641F-305C-A46D-3004-C34168B5B3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7876F0-DBE8-1288-F0F8-4DF8187B3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41E02D-2509-BFCF-4BC5-A201339038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92777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A7D88-33EE-83A3-418C-E3B08CDB8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0E0658D-67F1-7F92-C522-4684DAC220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D5A062-8DB4-9971-DC0B-F6663E081B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2B7183-4C93-A1B5-34D8-3ABF5D1683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2087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09AD24-165F-E0F7-6287-9BF364E8B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BCFCCEF-2F49-5349-289F-537228F924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8575D1-543B-3555-ED75-D8D5FDF20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5E71F-6939-414C-BD31-6CEAF88FF45E}" type="datetime1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510BD1-F516-E8CE-DF37-2A117C742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218F14-9A8D-DE68-7AE2-6A9BEBD81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B6B4-E4B2-43D1-9B13-CA298DB78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128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0DD1D1-C75F-4B28-A93A-AAC86822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2AFFCC-B34E-21FE-81A3-CB6DE7276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1090AB-61D5-8720-FB04-9511A6F1A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BBE94-0B50-4834-8370-0A5AC5521CB7}" type="datetime1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5BCF9D-34E7-9773-7825-20FFC8469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A4491C-30AA-6567-47A7-2DEB37BB7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B6B4-E4B2-43D1-9B13-CA298DB78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9061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A98DFF-6DBD-432D-BBEA-829BE4E0D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7EDD09-AECE-08AD-FC58-7F38181D4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176AA6-1061-F39A-44D2-B317C21E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326D8-7161-4444-A7B5-98302CD3B4FE}" type="datetime1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C43694-C7EF-A6D1-D9DE-1B58B3D6F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9E7D-7685-FB46-1EE4-88D6B9C8B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B6B4-E4B2-43D1-9B13-CA298DB78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94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BBA72B-E0B6-F339-D089-9E995911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1DA96E-61D1-9228-F65E-3C936F502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3EB93F-CEA3-D8D7-8A62-2DA5A03F90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A0BFC0-5391-C499-504D-30FD12FBE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6384-DD9F-4B06-9C40-A026C1023E8B}" type="datetime1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C96270-CA95-893E-1987-E09C54DC6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8BE5B0-C100-FCD2-FB1F-509CB4CE2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B6B4-E4B2-43D1-9B13-CA298DB78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450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76DBC3-9566-EA2F-149E-E0AD44553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AC825E-2250-A2B0-3B14-70D110967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9B32BD-D688-5309-1926-062B449183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9014FC6-7955-67AF-961D-356F6712E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CAC9F6B-C11B-9BF6-D662-794D533A3C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9EC9BB6-AD40-9D29-A445-39D1BD49D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C7A48-5ED2-41E6-9A8A-F94D211D872B}" type="datetime1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DADAB8B-4D91-D752-45DF-D52E6DB2E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6F0B29-A065-429C-6177-C68F25B77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B6B4-E4B2-43D1-9B13-CA298DB78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606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5F36CC-3CC6-CCAD-6B08-B1F5D6EFA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7EB9A6D-310D-3081-DC0A-03C60D47C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DC21A-449E-4CD3-AFA7-F53373306E15}" type="datetime1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4DABA8-87BB-7B55-3E1A-286531B27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B1886CA-87C3-3D58-3DC7-0FB6E71CB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B6B4-E4B2-43D1-9B13-CA298DB78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272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30E19C7-5E2B-4DCD-6CE1-771CE2987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CD6FA-14EC-4B80-B1E0-DDF3F535C189}" type="datetime1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417BCFA-1287-F2B0-0829-32B5B78AB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140109-3A93-24B3-8B55-A9AB8A756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C3B6B4-E4B2-43D1-9B13-CA298DB78E79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61BCC16-E475-A1DD-E7E7-BD7C6F0A17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9525"/>
            <a:ext cx="12192000" cy="8953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A3AEEF2-E485-B873-0B98-2EAC3A8FF74A}"/>
              </a:ext>
            </a:extLst>
          </p:cNvPr>
          <p:cNvSpPr txBox="1"/>
          <p:nvPr userDrawn="1"/>
        </p:nvSpPr>
        <p:spPr>
          <a:xfrm>
            <a:off x="310775" y="143073"/>
            <a:ext cx="230223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i="0" baseline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生信分析教学视频</a:t>
            </a:r>
            <a:endParaRPr lang="en-US" altLang="zh-CN" sz="2000" b="1" i="0" baseline="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en-US" altLang="zh-CN" sz="1400" b="0" i="1" baseline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1400" b="0" i="1" baseline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站</a:t>
            </a:r>
            <a:r>
              <a:rPr lang="en-US" altLang="zh-CN" sz="1400" b="0" i="1" baseline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/</a:t>
            </a:r>
            <a:r>
              <a:rPr lang="zh-CN" altLang="en-US" sz="1400" b="0" i="1" baseline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微博</a:t>
            </a:r>
            <a:r>
              <a:rPr lang="en-US" altLang="zh-CN" sz="1400" b="0" i="1" baseline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/</a:t>
            </a:r>
            <a:r>
              <a:rPr lang="zh-CN" altLang="en-US" sz="1400" b="0" i="1" baseline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知乎：地上飞猪</a:t>
            </a:r>
          </a:p>
        </p:txBody>
      </p:sp>
    </p:spTree>
    <p:extLst>
      <p:ext uri="{BB962C8B-B14F-4D97-AF65-F5344CB8AC3E}">
        <p14:creationId xmlns:p14="http://schemas.microsoft.com/office/powerpoint/2010/main" val="4172301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1FB30A-193F-5228-678A-90754B650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1DDB0F-6DA5-CB58-587B-BD18EA6DE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F7EF3E-6468-24B0-D7CD-850CE0F9B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B37C5F-808D-11DA-0E65-5972E68B2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2E1E-0099-47AA-A182-A849DCB81AD5}" type="datetime1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11BF31-06C9-F073-EAC0-7140FCABB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1802C8-73F3-CC59-93AC-EDD3565DF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B6B4-E4B2-43D1-9B13-CA298DB78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126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1C16D0-184A-F659-70BD-E0E3BC9BE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D778F01-EE0D-05D7-C666-12974D3FB7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52F40F-A2D4-94E8-0980-46449DEF4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4AD412-08D3-9AD4-ECF4-F84495817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0F1B5-82FE-491B-A756-21ED348B517B}" type="datetime1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230F88-5A1C-BDEC-DB8B-65387FB3A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491A03-FAC4-90E0-BD84-047712C05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B6B4-E4B2-43D1-9B13-CA298DB78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1067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A1D4AF-F46A-C921-9863-056204E15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EF078C-F069-9D55-F3F9-BA0183325F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B73537-991C-FA66-2093-1D1BA684F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7A156-5968-4164-862B-986608806F2C}" type="datetime1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C79D6E-F511-4720-DC68-6763E9707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9B2DC6-E276-0E18-80E3-B563DE26C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B6B4-E4B2-43D1-9B13-CA298DB78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13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30E19C7-5E2B-4DCD-6CE1-771CE2987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2CD6FA-14EC-4B80-B1E0-DDF3F535C189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2026/8/12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417BCFA-1287-F2B0-0829-32B5B78AB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140109-3A93-24B3-8B55-A9AB8A756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61BCC16-E475-A1DD-E7E7-BD7C6F0A17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9525"/>
            <a:ext cx="12192000" cy="89535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F95B4BC-3074-A8BE-2382-AFF93A4CB12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526971"/>
            <a:ext cx="12192000" cy="33102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01EBB1F-6D9F-F4A2-A571-00D31384FF62}"/>
              </a:ext>
            </a:extLst>
          </p:cNvPr>
          <p:cNvSpPr txBox="1"/>
          <p:nvPr userDrawn="1"/>
        </p:nvSpPr>
        <p:spPr>
          <a:xfrm>
            <a:off x="3453737" y="6561680"/>
            <a:ext cx="5284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生物信息学教学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地上飞猪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| E-mail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studid@163.com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06646B9-A0D9-DD3D-0A3D-DFEBDDFBB41B}"/>
              </a:ext>
            </a:extLst>
          </p:cNvPr>
          <p:cNvSpPr txBox="1"/>
          <p:nvPr userDrawn="1"/>
        </p:nvSpPr>
        <p:spPr>
          <a:xfrm>
            <a:off x="310775" y="143073"/>
            <a:ext cx="230223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i="0" baseline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生信分析教学视频</a:t>
            </a:r>
            <a:endParaRPr lang="en-US" altLang="zh-CN" sz="2000" b="1" i="0" baseline="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en-US" altLang="zh-CN" sz="1400" b="0" i="1" baseline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1400" b="0" i="1" baseline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站</a:t>
            </a:r>
            <a:r>
              <a:rPr lang="en-US" altLang="zh-CN" sz="1400" b="0" i="1" baseline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/</a:t>
            </a:r>
            <a:r>
              <a:rPr lang="zh-CN" altLang="en-US" sz="1400" b="0" i="1" baseline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微博</a:t>
            </a:r>
            <a:r>
              <a:rPr lang="en-US" altLang="zh-CN" sz="1400" b="0" i="1" baseline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/</a:t>
            </a:r>
            <a:r>
              <a:rPr lang="zh-CN" altLang="en-US" sz="1400" b="0" i="1" baseline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知乎：地上飞猪</a:t>
            </a:r>
          </a:p>
        </p:txBody>
      </p:sp>
    </p:spTree>
    <p:extLst>
      <p:ext uri="{BB962C8B-B14F-4D97-AF65-F5344CB8AC3E}">
        <p14:creationId xmlns:p14="http://schemas.microsoft.com/office/powerpoint/2010/main" val="2673149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813FDC-CA08-E093-1ED9-9DED664ACD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740681-7837-3737-B767-EBFA8D5D3A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ACF84F-E193-AF2A-E894-E901C7D7A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D45D8-F34D-4E14-BB68-8B203452FFF0}" type="datetime1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FFE64B-ED11-025A-62E1-06836A146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BF0CF9-3CEF-4176-F46B-3719932DA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B6B4-E4B2-43D1-9B13-CA298DB78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6974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6F8A608-86F0-AE62-4C22-692999A4E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B64499-4B3F-6A20-76DE-E0114E7E0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00507A-5134-2D1A-1631-8F83401AF4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5AFBAA-B4B9-4901-A71A-C2527D37FAB5}" type="datetime1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4BE2BF-23B4-0A53-8559-60ED173D44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509840-5F13-931E-724A-E32CEFCBD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54060" y="636746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3C3B6B4-E4B2-43D1-9B13-CA298DB78E79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1881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F61DC8B8-CF3A-8383-9872-9A9F51E5FBBE}"/>
              </a:ext>
            </a:extLst>
          </p:cNvPr>
          <p:cNvSpPr txBox="1"/>
          <p:nvPr/>
        </p:nvSpPr>
        <p:spPr>
          <a:xfrm>
            <a:off x="595312" y="3136612"/>
            <a:ext cx="11001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16S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扩增子分析全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流程逐步演示（流程脚本）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0443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205"/>
    </mc:Choice>
    <mc:Fallback xmlns="">
      <p:transition spd="slow" advTm="1320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DCAB1-541F-F4A2-DC3A-9981606E6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FA42D40-417A-0504-2113-D06CCFCEB795}"/>
              </a:ext>
            </a:extLst>
          </p:cNvPr>
          <p:cNvSpPr/>
          <p:nvPr/>
        </p:nvSpPr>
        <p:spPr>
          <a:xfrm>
            <a:off x="0" y="2634673"/>
            <a:ext cx="12191999" cy="158865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56F31C7-9496-2DED-21B4-C744941DC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13EB88E-DDD8-95ED-B297-1919BE591B30}"/>
              </a:ext>
            </a:extLst>
          </p:cNvPr>
          <p:cNvSpPr txBox="1"/>
          <p:nvPr/>
        </p:nvSpPr>
        <p:spPr>
          <a:xfrm>
            <a:off x="477655" y="3075057"/>
            <a:ext cx="112366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Ⅰ  </a:t>
            </a:r>
            <a:r>
              <a:rPr kumimoji="0" lang="zh-CN" altLang="en-US" sz="40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示例数据下载（不需要可跳过）</a:t>
            </a:r>
          </a:p>
        </p:txBody>
      </p:sp>
    </p:spTree>
    <p:extLst>
      <p:ext uri="{BB962C8B-B14F-4D97-AF65-F5344CB8AC3E}">
        <p14:creationId xmlns:p14="http://schemas.microsoft.com/office/powerpoint/2010/main" val="775091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5"/>
    </mc:Choice>
    <mc:Fallback xmlns="">
      <p:transition spd="slow" advTm="203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753DE-DC84-D33B-32AE-E6FE0A76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5FA086E-4987-C329-22C3-9FEFE495933C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示例数据：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Metadata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D38E71F0-28B2-92AD-691C-5D4933EE85D1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04598235-C61E-BC5A-5EFC-7FE9EFA84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A3F29FE-8586-B739-8CD9-BD8A8397BFD3}"/>
              </a:ext>
            </a:extLst>
          </p:cNvPr>
          <p:cNvSpPr txBox="1"/>
          <p:nvPr/>
        </p:nvSpPr>
        <p:spPr>
          <a:xfrm>
            <a:off x="334403" y="1192976"/>
            <a:ext cx="1152319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替换下方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project 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https://www.ncbi.nlm.nih.gov/Traces/study/?acc=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PRJNA1011244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1166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5EA61-10AE-97C6-1D61-DE98ABBE2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0EEED92-5F95-71D7-0A25-6A2D1945F27E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示例数据：下载数据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C02CFE00-D9B5-F265-0052-1DADBB023BF5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DD88E0B5-A6AB-0285-47ED-F97F79F4E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55EEB5-9EDC-8D4B-58BC-0A4ED025AF58}"/>
              </a:ext>
            </a:extLst>
          </p:cNvPr>
          <p:cNvSpPr txBox="1"/>
          <p:nvPr/>
        </p:nvSpPr>
        <p:spPr>
          <a:xfrm>
            <a:off x="334404" y="1725010"/>
            <a:ext cx="11523191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需要安装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sra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-tools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，单独下载替换下边的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SRA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编号即可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nohup fasterq-dump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SRR25825413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&amp;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批量下载，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sra_ids.txt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SRA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编号列表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nohup bash -c "cat sra_ids.txt |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xargs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-n 1 -P 8 -I {}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sh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-c 'fasterq-dump --split-3 -e 2 -t /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tmp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-O ./00RawData {} &amp;&amp;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gzip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./00RawData/{}*.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fastq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'" &gt; download.log 2&gt;&amp;1 &amp;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6699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E7D7B8B-6D1D-BA63-249B-B9BE6309136A}"/>
              </a:ext>
            </a:extLst>
          </p:cNvPr>
          <p:cNvSpPr/>
          <p:nvPr/>
        </p:nvSpPr>
        <p:spPr>
          <a:xfrm>
            <a:off x="0" y="2634673"/>
            <a:ext cx="12191999" cy="158865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22374D9-C02B-1CD1-D5EA-410DF4EE5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9B4D55-D768-F94D-1DDC-82A726BC5EA4}"/>
              </a:ext>
            </a:extLst>
          </p:cNvPr>
          <p:cNvSpPr txBox="1"/>
          <p:nvPr/>
        </p:nvSpPr>
        <p:spPr>
          <a:xfrm>
            <a:off x="477655" y="3075057"/>
            <a:ext cx="112366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Ⅱ  </a:t>
            </a:r>
            <a:r>
              <a:rPr kumimoji="0" lang="zh-CN" altLang="en-US" sz="40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准备工作</a:t>
            </a:r>
          </a:p>
        </p:txBody>
      </p:sp>
      <p:pic>
        <p:nvPicPr>
          <p:cNvPr id="8" name="音频 7">
            <a:hlinkClick r:id="" action="ppaction://media"/>
            <a:extLst>
              <a:ext uri="{FF2B5EF4-FFF2-40B4-BE49-F238E27FC236}">
                <a16:creationId xmlns:a16="http://schemas.microsoft.com/office/drawing/2014/main" id="{B85A1DD5-0713-5EC7-CF0B-7B50A4B0080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523882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5"/>
    </mc:Choice>
    <mc:Fallback xmlns="">
      <p:transition spd="slow" advTm="20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8185F8F-829B-B7CF-2182-D9E113A7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D9ABE65-58BD-D1E0-5C47-C5733C38A4B6}"/>
              </a:ext>
            </a:extLst>
          </p:cNvPr>
          <p:cNvGraphicFramePr>
            <a:graphicFrameLocks noGrp="1"/>
          </p:cNvGraphicFramePr>
          <p:nvPr/>
        </p:nvGraphicFramePr>
        <p:xfrm>
          <a:off x="3044481" y="1636739"/>
          <a:ext cx="5638166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9380">
                  <a:extLst>
                    <a:ext uri="{9D8B030D-6E8A-4147-A177-3AD203B41FA5}">
                      <a16:colId xmlns:a16="http://schemas.microsoft.com/office/drawing/2014/main" val="2431581903"/>
                    </a:ext>
                  </a:extLst>
                </a:gridCol>
                <a:gridCol w="1629093">
                  <a:extLst>
                    <a:ext uri="{9D8B030D-6E8A-4147-A177-3AD203B41FA5}">
                      <a16:colId xmlns:a16="http://schemas.microsoft.com/office/drawing/2014/main" val="3532408828"/>
                    </a:ext>
                  </a:extLst>
                </a:gridCol>
                <a:gridCol w="2619693">
                  <a:extLst>
                    <a:ext uri="{9D8B030D-6E8A-4147-A177-3AD203B41FA5}">
                      <a16:colId xmlns:a16="http://schemas.microsoft.com/office/drawing/2014/main" val="3612968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QIIME2</a:t>
                      </a:r>
                      <a:r>
                        <a:rPr lang="zh-CN" altLang="en-US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版本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scikit-learn</a:t>
                      </a:r>
                      <a:r>
                        <a:rPr lang="zh-CN" altLang="en-US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版本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Silva</a:t>
                      </a:r>
                      <a:r>
                        <a:rPr lang="zh-CN" altLang="en-US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分类器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178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2026.10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待发布</a:t>
                      </a:r>
                      <a:endParaRPr lang="zh-CN" altLang="zh-CN" sz="1600" b="0" i="0" kern="1200" baseline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-</a:t>
                      </a:r>
                      <a:endParaRPr lang="zh-CN" altLang="zh-CN" sz="1600" b="0" i="0" kern="1200" baseline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93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2026.7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6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1.7.1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Silva</a:t>
                      </a:r>
                      <a:r>
                        <a:rPr lang="zh-CN" altLang="en-US" sz="16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数据库（不好打开）</a:t>
                      </a:r>
                      <a:endParaRPr lang="zh-CN" altLang="zh-CN" sz="1600" b="0" i="0" kern="1200" baseline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862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2026.4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1.7.1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Silva</a:t>
                      </a:r>
                      <a:r>
                        <a:rPr lang="zh-CN" altLang="en-US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数据库（不好打开）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250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2026.1</a:t>
                      </a:r>
                      <a:endParaRPr lang="zh-CN" altLang="en-US" sz="16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1.4.2</a:t>
                      </a:r>
                      <a:endParaRPr lang="zh-CN" altLang="en-US" sz="16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silva-138-99</a:t>
                      </a:r>
                      <a:r>
                        <a:rPr lang="zh-CN" altLang="en-US" sz="16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2024-05-30</a:t>
                      </a:r>
                      <a:r>
                        <a:rPr lang="zh-CN" altLang="en-US" sz="16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endParaRPr lang="en-US" altLang="zh-CN" sz="16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981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2025.10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1.4.2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aseline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silva-138-99</a:t>
                      </a:r>
                      <a:r>
                        <a:rPr lang="zh-CN" altLang="en-US" sz="1600" baseline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 baseline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2024-05-30</a:t>
                      </a:r>
                      <a:r>
                        <a:rPr lang="zh-CN" altLang="en-US" sz="1600" baseline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882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2025.7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1.4.2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silva-138-99</a:t>
                      </a:r>
                      <a:r>
                        <a:rPr lang="zh-CN" altLang="en-US" sz="1600" baseline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 baseline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2024-05-30</a:t>
                      </a:r>
                      <a:r>
                        <a:rPr lang="zh-CN" altLang="en-US" sz="1600" baseline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0805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2025.4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1.4.2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aseline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silva-138-99</a:t>
                      </a:r>
                      <a:r>
                        <a:rPr lang="zh-CN" altLang="en-US" sz="1600" baseline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 baseline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2024-05-30</a:t>
                      </a:r>
                      <a:r>
                        <a:rPr lang="zh-CN" altLang="en-US" sz="1600" baseline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542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2024.10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1.4.2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silva-138-99</a:t>
                      </a:r>
                      <a:r>
                        <a:rPr lang="zh-CN" altLang="en-US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2024-05-30</a:t>
                      </a:r>
                      <a:r>
                        <a:rPr lang="zh-CN" altLang="en-US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626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2024.5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1.4.2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silva-138-99</a:t>
                      </a:r>
                      <a:r>
                        <a:rPr lang="zh-CN" altLang="en-US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2024-05-30</a:t>
                      </a:r>
                      <a:r>
                        <a:rPr lang="zh-CN" altLang="en-US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937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2024.2</a:t>
                      </a:r>
                      <a:endParaRPr lang="zh-CN" altLang="en-US" sz="16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0.24.1</a:t>
                      </a:r>
                      <a:endParaRPr lang="zh-CN" altLang="en-US" sz="16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silva-138-99</a:t>
                      </a:r>
                      <a:r>
                        <a:rPr lang="zh-CN" altLang="en-US" sz="16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2021-05-09</a:t>
                      </a:r>
                      <a:r>
                        <a:rPr lang="zh-CN" altLang="en-US" sz="16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endParaRPr lang="en-US" altLang="zh-CN" sz="16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569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2023.9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0.24.1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silva-138-99</a:t>
                      </a:r>
                      <a:r>
                        <a:rPr lang="zh-CN" altLang="en-US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2021-05-09</a:t>
                      </a:r>
                      <a:r>
                        <a:rPr lang="zh-CN" altLang="en-US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endParaRPr lang="en-US" altLang="zh-CN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765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2023.7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0.24.1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silva-138-99</a:t>
                      </a:r>
                      <a:r>
                        <a:rPr lang="zh-CN" altLang="en-US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2021-05-09</a:t>
                      </a:r>
                      <a:r>
                        <a:rPr lang="zh-CN" altLang="en-US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endParaRPr lang="en-US" altLang="zh-CN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953324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88EC63D8-4729-068B-37B3-14D9AB1F3DFB}"/>
              </a:ext>
            </a:extLst>
          </p:cNvPr>
          <p:cNvSpPr txBox="1"/>
          <p:nvPr/>
        </p:nvSpPr>
        <p:spPr>
          <a:xfrm>
            <a:off x="3425236" y="1075607"/>
            <a:ext cx="4876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版本与预训练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16S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分类器兼容性对照表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1047065-BDB4-1C43-D13D-9CC57A79F881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第一步：安装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QIIME 2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5DA9C35-FE89-2F99-C8BC-E06E53E14520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2297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95550-37E0-33B8-43F3-5C4B8A9A5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39E52D4-FD89-2BB1-07FA-B56D51DF5E46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第一步：安装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QIIME 2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136135B-BA83-14E7-F5A0-E452D35FF650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D570ED04-9436-260B-5742-58908A801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F5CD11D-EDB5-2BB7-01AB-D7C671829853}"/>
              </a:ext>
            </a:extLst>
          </p:cNvPr>
          <p:cNvSpPr txBox="1"/>
          <p:nvPr/>
        </p:nvSpPr>
        <p:spPr>
          <a:xfrm>
            <a:off x="334404" y="1013814"/>
            <a:ext cx="11523191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需要提前安装并配置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Miniconda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软件下载：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https://library.qiime2.org/quickstart/qiime2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分类器下载：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https://library.qiime2.org/data-resources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6513B0D-DDF7-184F-FED0-74990EA19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0900" y="2190639"/>
            <a:ext cx="5518420" cy="44826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99927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B5BF5-0BFB-5942-4C9B-065497F96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C1B1A12-0D4B-5123-1CF7-EC19A8D6E6BE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第一步：安装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QIIME 2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BE3A7B5-3154-3428-E3A8-C4B9EADF1B7D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C9354C62-9896-C9E7-7FC0-73EDD56EF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BD07658-971C-4488-82BE-D93503B66675}"/>
              </a:ext>
            </a:extLst>
          </p:cNvPr>
          <p:cNvSpPr txBox="1"/>
          <p:nvPr/>
        </p:nvSpPr>
        <p:spPr>
          <a:xfrm>
            <a:off x="334404" y="1192976"/>
            <a:ext cx="11523191" cy="53860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需要提前安装并配置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Miniconda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参考官方文档：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https://library.qiime2.org/quickstart/qiime2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无法读取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yml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，可以使用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GitHub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文件代理网页，或者手动从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Github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下载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yml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到本地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conda env create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--name qiime2-2026.1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--file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https://gh-proxy.org/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https://raw.githubusercontent.com/qiime2/distributions/refs/heads/dev/2026.1/amplicon/released/qiime2-amplicon-ubuntu-latest-conda.yml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codna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运行太慢，可以使用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mamba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mamba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env create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--name qiime2-2026.1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--file https://raw.githubusercontent.com/qiime2/distributions/refs/heads/dev/2026.1/amplicon/released/qiime2-amplicon-ubuntu-latest-conda.yml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版本太新依赖文件找不到，可以下载旧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稳定版本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conda env create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--name qiime2-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2024.2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--file https://raw.githubusercontent.com/qiime2/distributions/refs/heads/dev/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2024.2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/amplicon/released/qiime2-amplicon-ubuntu-latest-conda.yml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4079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BA02D-9ED4-9C3D-3CF6-6FD2C3F28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878FAB6-A7C4-EF1B-BB76-B6F5079765B9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第二步：下载分类器（如需）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896EC2C-6230-B303-3483-0417C1EF9F06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342D9DA8-3B3F-367D-50B7-20806EFC8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1774CB4-8131-4498-C606-465963D2AECF}"/>
              </a:ext>
            </a:extLst>
          </p:cNvPr>
          <p:cNvSpPr txBox="1"/>
          <p:nvPr/>
        </p:nvSpPr>
        <p:spPr>
          <a:xfrm>
            <a:off x="334404" y="1005127"/>
            <a:ext cx="11523191" cy="11387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#16S</a:t>
            </a:r>
            <a:r>
              <a: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的分类器下载：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https://library.qiime2.org/data-resources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注意下载的分类器版本要与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QIIME2</a:t>
            </a:r>
            <a:r>
              <a: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版本对应。</a:t>
            </a:r>
            <a:endParaRPr kumimoji="0" lang="en-US" altLang="zh-CN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nohup </a:t>
            </a:r>
            <a:r>
              <a:rPr kumimoji="0" lang="en-US" altLang="zh-CN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wget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https://data.qiime2.org/classifiers/sklearn-1.4.2/silva/silva-138-99-nb-classifier.qza&amp;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wget https://data.qiime2.org/2024.2/common/silva-138-99-nb-classifier.qza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9604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51"/>
    </mc:Choice>
    <mc:Fallback xmlns="">
      <p:transition spd="slow" advTm="57651"/>
    </mc:Fallback>
  </mc:AlternateContent>
  <p:extLst>
    <p:ext uri="{E180D4A7-C9FB-4DFB-919C-405C955672EB}">
      <p14:showEvtLst xmlns:p14="http://schemas.microsoft.com/office/powerpoint/2010/main">
        <p14:playEvt time="291" objId="4"/>
        <p14:triggerEvt type="onClick" time="292" objId="4"/>
        <p14:pauseEvt time="54649" objId="4"/>
        <p14:seekEvt time="54649" objId="4" seek="54338"/>
        <p14:resumeEvt time="54650" objId="4"/>
        <p14:pauseEvt time="55109" objId="4"/>
        <p14:seekEvt time="55109" objId="4" seek="54779"/>
        <p14:resumeEvt time="55110" objId="4"/>
        <p14:pauseEvt time="57651" objId="4"/>
        <p14:stopEvt time="57651" objId="4"/>
      </p14:showEvt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61009-7878-74DD-C566-2D776AFC4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DDD7A8B-08D3-9D73-3A56-DB4F7BBAA2E7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第二步：下载分类器（如需）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33EC933A-B799-359D-C1ED-F2C0D11B40F5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F3D63227-88A3-AE80-E8E0-EEED11851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9CDFC4-E559-776C-8898-42886F6067ED}"/>
              </a:ext>
            </a:extLst>
          </p:cNvPr>
          <p:cNvSpPr txBox="1"/>
          <p:nvPr/>
        </p:nvSpPr>
        <p:spPr>
          <a:xfrm>
            <a:off x="334402" y="1098947"/>
            <a:ext cx="11523191" cy="6155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UNITE</a:t>
            </a:r>
            <a:r>
              <a: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数据库：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https://unite.ut.ee/ </a:t>
            </a:r>
            <a:r>
              <a: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（建议有条件从官网下载）</a:t>
            </a:r>
            <a:endParaRPr kumimoji="0" lang="en-US" altLang="zh-CN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ITS</a:t>
            </a:r>
            <a:r>
              <a: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的分类器下载：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https://github.com/colinbrislawn/unite-train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6413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51"/>
    </mc:Choice>
    <mc:Fallback xmlns="">
      <p:transition spd="slow" advTm="57651"/>
    </mc:Fallback>
  </mc:AlternateContent>
  <p:extLst>
    <p:ext uri="{E180D4A7-C9FB-4DFB-919C-405C955672EB}">
      <p14:showEvtLst xmlns:p14="http://schemas.microsoft.com/office/powerpoint/2010/main">
        <p14:playEvt time="291" objId="4"/>
        <p14:triggerEvt type="onClick" time="292" objId="4"/>
        <p14:pauseEvt time="54649" objId="4"/>
        <p14:seekEvt time="54649" objId="4" seek="54338"/>
        <p14:resumeEvt time="54650" objId="4"/>
        <p14:pauseEvt time="55109" objId="4"/>
        <p14:seekEvt time="55109" objId="4" seek="54779"/>
        <p14:resumeEvt time="55110" objId="4"/>
        <p14:pauseEvt time="57651" objId="4"/>
        <p14:stopEvt time="57651" objId="4"/>
      </p14:showEvtLst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27544-0781-4263-CB19-AB620DFEB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7D72F02-1DBB-AAB0-4EF2-944FFE496754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第三步：准备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manifest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文件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9911601-FB8C-FBCB-D923-EEAE1DB433B0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ABFA430F-AE5F-5119-80A2-07355965E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746B26-2578-CE25-DA0F-6622AEFCB7B7}"/>
              </a:ext>
            </a:extLst>
          </p:cNvPr>
          <p:cNvSpPr txBox="1"/>
          <p:nvPr/>
        </p:nvSpPr>
        <p:spPr>
          <a:xfrm>
            <a:off x="334404" y="1394645"/>
            <a:ext cx="11523191" cy="44012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官方教程：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https://amplicon-docs.qiime2.org/en/stable/how-to-guides/how-to-import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首先准备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manifest.tsv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，可以使用下边的命令快速整理文件路径，第一列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sample-id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应当是样本名称。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红色部分按照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fastq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文件命名规则修改。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你也可以在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excel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中完成修改。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双端测序结果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echo -e "sample-id\tforward-absolute-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filepath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treverse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-absolute-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filepath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" &gt;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manifest.tsv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 for f in *_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1.fastq.gz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 do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sid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=${f%_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1.fastq.gz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}; echo -e "${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sid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}\t$(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realpath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"$f")\t$(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realpath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"${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sid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}_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2.fastq.gz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")" &gt;&gt;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manifest.tsv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 done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单端测序结果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echo -e "sample-id\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tabsolute-filepath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" &gt;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manifest.tsv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 for f in *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.fastq.gz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 do echo -e "${f%.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fastq.gz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}\t$(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realpath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"$f")" &gt;&gt;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manifest.tsv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 done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399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DAF29-3E2D-26B0-98AB-EB18F0D91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188E6EC-6AD1-DCAA-902A-008D0CCE8009}"/>
              </a:ext>
            </a:extLst>
          </p:cNvPr>
          <p:cNvSpPr/>
          <p:nvPr/>
        </p:nvSpPr>
        <p:spPr>
          <a:xfrm>
            <a:off x="0" y="2634673"/>
            <a:ext cx="12191999" cy="158865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E0AF8EC-D79F-1545-046D-C6A4E75B9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63172B7-D6A6-258D-32E4-79D1CF6EA3E4}"/>
              </a:ext>
            </a:extLst>
          </p:cNvPr>
          <p:cNvSpPr txBox="1"/>
          <p:nvPr/>
        </p:nvSpPr>
        <p:spPr>
          <a:xfrm>
            <a:off x="477655" y="3075057"/>
            <a:ext cx="112366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Ⅲ  </a:t>
            </a:r>
            <a:r>
              <a:rPr kumimoji="0" lang="zh-CN" altLang="en-US" sz="40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上游数据分析</a:t>
            </a:r>
          </a:p>
        </p:txBody>
      </p:sp>
    </p:spTree>
    <p:extLst>
      <p:ext uri="{BB962C8B-B14F-4D97-AF65-F5344CB8AC3E}">
        <p14:creationId xmlns:p14="http://schemas.microsoft.com/office/powerpoint/2010/main" val="396229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5"/>
    </mc:Choice>
    <mc:Fallback xmlns="">
      <p:transition spd="slow" advTm="2035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B2FE1-2C24-1E00-E82F-B78086E2E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BD10A58-03B1-DABE-DE8E-03CB1D1EEAFD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第一步：导入序列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2FD92E2-2CFA-5152-8373-35689DB7B13F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AC03A839-26EB-12EC-0DDF-84E2413D3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F2F488C-AF9F-7172-63AF-F14A1F91203A}"/>
              </a:ext>
            </a:extLst>
          </p:cNvPr>
          <p:cNvSpPr txBox="1"/>
          <p:nvPr/>
        </p:nvSpPr>
        <p:spPr>
          <a:xfrm>
            <a:off x="334404" y="1394645"/>
            <a:ext cx="11523191" cy="47089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官方教程：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https://amplicon-docs.qiime2.org/en/stable/how-to-guides/how-to-import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双端测序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tools import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--type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SampleData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PairedEndSequencesWithQuality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]'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--input-path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manifest.tsv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--output-path 01RawDemux.qza\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--input-format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PairedEndFastqManifestPhred33V2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单端测序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tools import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--type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SampleData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SequencesWithQuality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]'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--input-path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manifest.tsv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--output-path 01RawDemux.qza\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--input-format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SingleEndFastqManifestPhred33V2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4112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6E4BD-D4B3-D918-B00B-877FEBD31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CA8922B-DCBA-7E4E-86CF-AE48DA6FC632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第一步：导入序列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53510D3-88CD-B815-B3BB-BCC83D1C1EC2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0A52B481-6D00-DE53-CB18-E35444B8F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0C65709-CDCC-AAA7-A3A0-D664E3F06582}"/>
              </a:ext>
            </a:extLst>
          </p:cNvPr>
          <p:cNvSpPr txBox="1"/>
          <p:nvPr/>
        </p:nvSpPr>
        <p:spPr>
          <a:xfrm>
            <a:off x="334403" y="4107391"/>
            <a:ext cx="11523191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查看数据质量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将红色部分替换为刚才输出的文件名称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demux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summarize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-data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01RawDemux.qza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--o-visualization 01RawDemux_summary.qzv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运行完成之后可以在：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https://view.qiime2.org/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可视化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0873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6631C-B729-ACC6-23F5-F044DC316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56B74BA-15FD-6967-B000-BC77B9873851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第二步：去引物（如需）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3311D3A-92EF-0740-2818-C0F880B9A2F1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9664BE0A-2B99-4175-AEA0-F5A17D0D7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3B6F0D1-3AB1-2148-C3FD-BE2A6305DBC1}"/>
              </a:ext>
            </a:extLst>
          </p:cNvPr>
          <p:cNvSpPr txBox="1"/>
          <p:nvPr/>
        </p:nvSpPr>
        <p:spPr>
          <a:xfrm>
            <a:off x="320549" y="1296125"/>
            <a:ext cx="11523191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如果去除引物了可以再进行一次质量评估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demux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summarize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-data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01CutadaptDemux.qza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--o-visualization 01CutadaptDemux_summary.qza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运行完成之后可以在：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https://view.qiime2.org/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可视化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如果没有去接头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引物后续直接使用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01RawDemux.qza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文件继续分析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30236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06BDC-3940-72F4-5622-9791D23E0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BCA767F-CAF1-9396-4265-F35247C9ED3C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第三步：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DADA2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去噪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0751D25-BF3C-7725-4F28-57771FC1A854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6DC6EA87-A411-4A8B-EBC0-013E81D85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6C9A9BE-32ED-FD43-F28D-2C6A2AEEE25D}"/>
              </a:ext>
            </a:extLst>
          </p:cNvPr>
          <p:cNvSpPr txBox="1"/>
          <p:nvPr/>
        </p:nvSpPr>
        <p:spPr>
          <a:xfrm>
            <a:off x="334404" y="1009980"/>
            <a:ext cx="11523191" cy="5355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如果进行了去接头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引物：将导入文件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01RawDemux.qza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改为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01CutadaptDemux.qza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可以根据选择的导入文件的评估报告设定截断阈值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双端测序去噪，运行时间长建议挂后台或调用多线程（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--p-n-threads 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dada2 denoise-paired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-demultiplexed-seqs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01CutadaptDemux.qza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trunc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len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-f 280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trunc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len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-r 230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--p-n-threads 0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--p-trim-left-f 0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--p-trim-left-r 0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--output-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02DADA2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单端测序去噪，运行时间长建议挂后台或调用多线程（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--p-n-threads 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dada2 denoise-single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-demultiplexed-seqs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01RawDemux.qza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--p-trim-left 0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trunc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len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250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--p-n-threads 0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--output-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02DADA2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53929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01E8C-FDA9-ED58-3568-390AAF835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35CBE2-3EE9-B398-0E2B-D12DB7280A68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第三步：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DADA2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去噪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3843751D-8B04-BFFB-6290-9057B33C5510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FC7E4284-00C1-5074-4CF2-2B43C0ED1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F557EBA-53DF-F3F8-3751-0431FFFEE297}"/>
              </a:ext>
            </a:extLst>
          </p:cNvPr>
          <p:cNvSpPr txBox="1"/>
          <p:nvPr/>
        </p:nvSpPr>
        <p:spPr>
          <a:xfrm>
            <a:off x="334403" y="1088538"/>
            <a:ext cx="11523191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注意事项：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根据质量分数确定截断值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可以找到中位数开始跌破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Q20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或者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Q30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的位置作为截断值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也可以自己设定阈值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--p-n-threads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可以设置线程数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建议挂后台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nohup qiime dada2 denoise-paired --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-demultiplexed-seqs 01CutadaptDemux.qza --p-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trunc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len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-f 240 --p-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trunc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len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-r 230 --p-n-threads 0 --p-trim-left-f 0 --p-trim-left-r 0 --output-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02DADA2 &gt; 02DADA2.log 2&gt;&amp;1 &amp;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A176398-83E4-54FF-215E-86B368BECF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173" y="1178324"/>
            <a:ext cx="3413170" cy="149668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47508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697BE-8B82-F846-E3F4-CB2533B30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B2B5AFF-D15C-1107-AF5B-96FE409D5CB1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第三步：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DADA2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去噪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4C69CC9-6AE4-DFD1-46F0-61BED813FEF4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C2085AB1-A67F-6803-151D-A6E1E5A9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F3D83FA-534C-7048-A616-B08E42571AE1}"/>
              </a:ext>
            </a:extLst>
          </p:cNvPr>
          <p:cNvSpPr txBox="1"/>
          <p:nvPr/>
        </p:nvSpPr>
        <p:spPr>
          <a:xfrm>
            <a:off x="334403" y="1088538"/>
            <a:ext cx="1152319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使用示例数据运行一个多小时，建议挂后台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nohup qiime dada2 denoise-paired --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-demultiplexed-seqs 01CutadaptDemux.qza --p-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trunc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len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-f 240 --p-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trunc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len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-r 230 --p-n-threads 0 --p-trim-left-f 0 --p-trim-left-r 0 --output-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02DADA2 &gt; 02DADA2.log 2&gt;&amp;1 &amp;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7404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51"/>
    </mc:Choice>
    <mc:Fallback xmlns="">
      <p:transition spd="slow" advTm="57651"/>
    </mc:Fallback>
  </mc:AlternateContent>
  <p:extLst>
    <p:ext uri="{E180D4A7-C9FB-4DFB-919C-405C955672EB}">
      <p14:showEvtLst xmlns:p14="http://schemas.microsoft.com/office/powerpoint/2010/main">
        <p14:playEvt time="291" objId="4"/>
        <p14:triggerEvt type="onClick" time="292" objId="4"/>
        <p14:pauseEvt time="54649" objId="4"/>
        <p14:seekEvt time="54649" objId="4" seek="54338"/>
        <p14:resumeEvt time="54650" objId="4"/>
        <p14:pauseEvt time="55109" objId="4"/>
        <p14:seekEvt time="55109" objId="4" seek="54779"/>
        <p14:resumeEvt time="55110" objId="4"/>
        <p14:pauseEvt time="57651" objId="4"/>
        <p14:stopEvt time="57651" objId="4"/>
      </p14:showEvtLst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12A60-5F05-71F4-A03F-E6A74270C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2CA53DA-8A47-E782-D638-7F0D33509339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第三步：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DADA2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去噪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81871D1-52BF-9A9D-BF24-4DDD3D0E7957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5748D5F0-326F-516B-B674-BFF29B840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74D2DC5-6746-85E6-4066-CAC4209E73A3}"/>
              </a:ext>
            </a:extLst>
          </p:cNvPr>
          <p:cNvSpPr txBox="1"/>
          <p:nvPr/>
        </p:nvSpPr>
        <p:spPr>
          <a:xfrm>
            <a:off x="320549" y="1397730"/>
            <a:ext cx="11523191" cy="50167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使用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figaro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可以计算截断值（注意去噪时使用未去接头的文件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01RawDemux.qza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参考：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https://www.jianshu.com/p/66ebd1d4558a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软件链接：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https://github.com/Zymo-Research/figaro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安装方法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git clone https://github.com/Zymo-Research/figaro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cd figaro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pip3 install –r requirements.txt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使用方法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已经去除引物的数据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-f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-r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选项指定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，没有可以指定引物长度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-a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指定扩增子长度（不含引物接头，如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V3-V4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区长度大概为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464  bp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-F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指定测序文件名格式：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nononsense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格式是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XXX_1.fastq.gz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Illumina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下机数据指定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illumina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-F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指定错误可能会报错，你可以尝试指定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zymo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illumina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keriksson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nononsense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fvieira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yzhang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如果报错</a:t>
            </a:r>
            <a:r>
              <a:rPr kumimoji="0" lang="pt-B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conda env create -n figaro --file http://john-quensen.com/wp-content/uploads/2020/03/figaro.yml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python $SOFTWARE/figaro/figaro.py -i </a:t>
            </a:r>
            <a:r>
              <a:rPr kumimoji="0" lang="pt-BR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00RawData</a:t>
            </a:r>
            <a:r>
              <a:rPr kumimoji="0" lang="pt-B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-o </a:t>
            </a:r>
            <a:r>
              <a:rPr kumimoji="0" lang="pt-BR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00RawData</a:t>
            </a:r>
            <a:r>
              <a:rPr kumimoji="0" lang="pt-B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-f 1 -r 1 -a </a:t>
            </a:r>
            <a:r>
              <a:rPr kumimoji="0" lang="pt-BR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464</a:t>
            </a:r>
            <a:r>
              <a:rPr kumimoji="0" lang="pt-B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-F nononsense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C6DB36D-24A4-82B3-9B17-9BE0DA930BEB}"/>
              </a:ext>
            </a:extLst>
          </p:cNvPr>
          <p:cNvSpPr txBox="1"/>
          <p:nvPr/>
        </p:nvSpPr>
        <p:spPr>
          <a:xfrm>
            <a:off x="11252742" y="100342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可跳过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3C2384B-FBB5-761C-0CFA-D3177387DA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904" y="1837556"/>
            <a:ext cx="5085714" cy="22952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5544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E70CA-4A74-7DE5-72FC-C21ABFADD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7CE8A70-69F7-F40D-6B42-62C8B7555F71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第三步：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DADA2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去噪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EE1EF56-9638-D574-FD98-18EADB325A9D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BD49E2CE-F42D-2FF1-6D86-F85686304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488E2-BE9F-AD81-8675-E0E1ED3961BE}"/>
              </a:ext>
            </a:extLst>
          </p:cNvPr>
          <p:cNvSpPr txBox="1"/>
          <p:nvPr/>
        </p:nvSpPr>
        <p:spPr>
          <a:xfrm>
            <a:off x="294740" y="1043684"/>
            <a:ext cx="11523191" cy="53245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1. ASV</a:t>
            </a:r>
            <a:r>
              <a: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丰度表统计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feature-table summarize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-table 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02DADA2/</a:t>
            </a:r>
            <a:r>
              <a:rPr kumimoji="0" lang="en-US" altLang="zh-C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table.qza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--m-metadata-file </a:t>
            </a:r>
            <a:r>
              <a:rPr kumimoji="0" lang="en-US" altLang="zh-CN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metadata.tsv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--output-</a:t>
            </a:r>
            <a:r>
              <a:rPr kumimoji="0" lang="en-US" altLang="zh-CN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dir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02DADA2/</a:t>
            </a:r>
            <a:r>
              <a:rPr kumimoji="0" lang="en-US" altLang="zh-CN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ASV_TableSummary</a:t>
            </a:r>
            <a:endParaRPr kumimoji="0" lang="en-US" altLang="zh-CN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2. ASV</a:t>
            </a:r>
            <a:r>
              <a: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代表序列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feature-table tabulate-seqs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-data 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02DADA2/</a:t>
            </a:r>
            <a:r>
              <a:rPr kumimoji="0" lang="en-US" altLang="zh-C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representative_sequences.qza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--o-visualization 02DADA2/ASV_RepSeqs.qzv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3. </a:t>
            </a:r>
            <a:r>
              <a: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去噪统计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metadata tabulate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--m-input-file 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02DADA2/</a:t>
            </a:r>
            <a:r>
              <a:rPr kumimoji="0" lang="en-US" altLang="zh-C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denoising_stats.qza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--o-visualization 02DADA2/</a:t>
            </a:r>
            <a:r>
              <a:rPr kumimoji="0" lang="en-US" altLang="zh-CN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denoising_stats.qzv</a:t>
            </a:r>
            <a:endParaRPr kumimoji="0" lang="en-US" altLang="zh-CN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4. </a:t>
            </a:r>
            <a:r>
              <a: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碱基转换统计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metadata tabulate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--m-input-file 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02DADA2/</a:t>
            </a:r>
            <a:r>
              <a:rPr kumimoji="0" lang="en-US" altLang="zh-C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base_transition_stats.qza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--o-visualization 02DADA2/</a:t>
            </a:r>
            <a:r>
              <a:rPr kumimoji="0" lang="en-US" altLang="zh-CN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base_transition_stats.qzv</a:t>
            </a:r>
            <a:endParaRPr kumimoji="0" lang="en-US" altLang="zh-CN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2B50DF4-4CEE-D5CA-F618-FAFF8BE6EC9F}"/>
              </a:ext>
            </a:extLst>
          </p:cNvPr>
          <p:cNvSpPr txBox="1"/>
          <p:nvPr/>
        </p:nvSpPr>
        <p:spPr>
          <a:xfrm>
            <a:off x="4934000" y="1600021"/>
            <a:ext cx="6743354" cy="23083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对于单端测序也可以使用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deblur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去噪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 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双端测序可以进行双端合并使用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deblur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去噪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16s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可以使用内置数据库：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deblur denoise-16S 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其他扩增子可以自定义数据库：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deblur denoise-other 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参考：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https://blog.csdn.net/weixin_44264742/article/details/135777553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官方文档：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https://amplicon-docs.qiime2.org/en/stable/references/plugins/deblur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8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33F02-9759-6FB5-5BE9-DF663DD2D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3F00EC6-367D-41BD-C348-34F14CB3790E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第四步：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OTU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聚类（可选）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CD6C14D1-BD9E-BBED-CA47-1CA291E14C75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D213492E-7BD7-88AB-6206-A6D4B7132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16389A7-4A71-4B87-4915-DD9C9C97528D}"/>
              </a:ext>
            </a:extLst>
          </p:cNvPr>
          <p:cNvSpPr txBox="1"/>
          <p:nvPr/>
        </p:nvSpPr>
        <p:spPr>
          <a:xfrm>
            <a:off x="334404" y="1102313"/>
            <a:ext cx="11523191" cy="5262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有研究使用将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ASV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进行聚类生成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OTU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进行扩增子分析，但是目前认为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ASV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比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OTU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的分辨率更高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OTU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ASV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后续建树、多样性等分析流程基本一致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可以考虑是否进行该步骤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--p-perc-identity 0.97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相似度阈值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vsearch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cluster-features-de-novo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-sequences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02DADA2/representative_sequences.qza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-table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02DADA2/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table.qza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--p-perc-identity 0.97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--p-strand plus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--p-threads 10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--o-clustered-table 02DADA2/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OTU_table.qza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--o-clustered-sequences 02DADA2/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OTU_representative_sequences.qza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1. OTU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丰度表统计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feature-table summarize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-table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02DADA2/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OTU_table.qza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--m-metadata-file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metadata.tsv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--output-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dir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02DADA2/OTU_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TableSummary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2. OTU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代表序列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feature-table tabulate-seqs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-data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02DADA2/OTU_representative_sequences.qza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--o-visualization 02DADA2/OTU_RepSeqs.qzv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22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AB235-A499-6578-AF0F-BF6F4B6AB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AC75D4-E592-36C2-24B2-C465546CA3DB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第五步：低数据量样本过滤（可选）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2792863-4CED-451A-B042-E6EFB28A18F3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C2ACA565-A3C6-7B1E-4AD6-2D1B9574B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3E523D8-A4BB-35DD-E5A3-8FAFD66737BD}"/>
              </a:ext>
            </a:extLst>
          </p:cNvPr>
          <p:cNvSpPr txBox="1"/>
          <p:nvPr/>
        </p:nvSpPr>
        <p:spPr>
          <a:xfrm>
            <a:off x="334404" y="1102313"/>
            <a:ext cx="11523191" cy="53245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可以备份一下原来的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metadata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cp </a:t>
            </a:r>
            <a:r>
              <a:rPr lang="en-US" altLang="zh-CN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metadata.tsv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old_metadata.tsv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 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建立新的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metadata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文件：可以使用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vim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编辑，或者在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excel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中删除低数据量的样本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整理完成之后进行下面的操作：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创建文件夹存放过滤后的数据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mkdir 03FilteredData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对于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ASV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feature-table filter-samples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-table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02DADA2/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table.qza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--m-metadata-file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metadata.tsv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lvl="0"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--o-filtered-table 03FilteredData/ASV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_</a:t>
            </a:r>
            <a:r>
              <a:rPr lang="en-US" altLang="zh-CN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FilterSamplesTable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qza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lvl="0">
              <a:defRPr/>
            </a:pPr>
            <a:endParaRPr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对于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OTU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（不演示）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qiime feature-table filter-samples \</a:t>
            </a: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</a:t>
            </a:r>
            <a:r>
              <a:rPr lang="en-US" altLang="zh-CN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-table 02DADA2/</a:t>
            </a:r>
            <a:r>
              <a:rPr lang="en-US" altLang="zh-CN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OTU_table.qza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\</a:t>
            </a: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--m-metadata-file </a:t>
            </a:r>
            <a:r>
              <a:rPr lang="en-US" altLang="zh-CN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metadata.tsv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\</a:t>
            </a: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--o-filtered-table 03FilteredData/</a:t>
            </a:r>
            <a:r>
              <a:rPr lang="en-US" altLang="zh-CN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OTU_FilterSamplesTable.qza</a:t>
            </a:r>
            <a:endParaRPr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1212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CABED-7EBC-EDD3-9925-051155AEA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A2B5C73-588C-0046-7420-0F243194901C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第六步：低丰度序列过滤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FD65F1F-C67F-0AFC-A9E9-4A185F49381E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AC3AA626-F93D-5815-F31F-414A78E1E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8D36BCB-BD2D-B66B-FB86-B9D812F386B3}"/>
              </a:ext>
            </a:extLst>
          </p:cNvPr>
          <p:cNvSpPr txBox="1"/>
          <p:nvPr/>
        </p:nvSpPr>
        <p:spPr>
          <a:xfrm>
            <a:off x="334404" y="1625957"/>
            <a:ext cx="11523191" cy="42780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低丰度过滤：将总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reads&lt;10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（这个数值可以根据需求修改）的序列过滤掉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如果进行了第五步的低数据量过滤，输入过滤后的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table.qza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 ASV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qiime feature-table filter-features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-table 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03FilteredData/ASV_FilterSamplesTable.qza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--p-min-frequency 10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--o-filtered-table 03FilteredData/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ASV_CleanTable.qza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 OTU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（不演示）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qiime feature-table filter-features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-table 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03FilteredData/</a:t>
            </a:r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OTU_FilterSamplesTable.qza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--p-min-frequency 10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--o-filtered-table 03FilteredData/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OTU_CleanTable.qza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1BC18A-4F6F-0642-26F5-0DD9D47DA295}"/>
              </a:ext>
            </a:extLst>
          </p:cNvPr>
          <p:cNvSpPr txBox="1"/>
          <p:nvPr/>
        </p:nvSpPr>
        <p:spPr>
          <a:xfrm>
            <a:off x="6418200" y="2118400"/>
            <a:ext cx="529606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如果没有输入之前的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（不演示）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注意如果没有创建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03FilteredData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需要提前创建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mkdir 03FilteredData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ASV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feature-table filter-features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-table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02DADA2/table.qza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--p-min-frequency 10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--o-filtered-table 03FilteredData/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ASV_CleanTable.qza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OTU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feature-table filter-features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--i-table </a:t>
            </a:r>
            <a:r>
              <a:rPr kumimoji="0" lang="da-DK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02DADA2/OTU_table.qza </a:t>
            </a:r>
            <a:r>
              <a:rPr kumimoji="0" lang="da-DK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--p-min-frequency 10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--o-filtered-table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03FilteredData/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OTU_CleanTable.qza</a:t>
            </a:r>
            <a:endParaRPr lang="zh-CN" alt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5109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51"/>
    </mc:Choice>
    <mc:Fallback xmlns="">
      <p:transition spd="slow" advTm="57651"/>
    </mc:Fallback>
  </mc:AlternateContent>
  <p:extLst>
    <p:ext uri="{E180D4A7-C9FB-4DFB-919C-405C955672EB}">
      <p14:showEvtLst xmlns:p14="http://schemas.microsoft.com/office/powerpoint/2010/main">
        <p14:playEvt time="291" objId="4"/>
        <p14:triggerEvt type="onClick" time="292" objId="4"/>
        <p14:pauseEvt time="54649" objId="4"/>
        <p14:seekEvt time="54649" objId="4" seek="54338"/>
        <p14:resumeEvt time="54650" objId="4"/>
        <p14:pauseEvt time="55109" objId="4"/>
        <p14:seekEvt time="55109" objId="4" seek="54779"/>
        <p14:resumeEvt time="55110" objId="4"/>
        <p14:pauseEvt time="57651" objId="4"/>
        <p14:stopEvt time="57651" objId="4"/>
      </p14:showEvtLst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EEE58-BAFE-6962-75FA-A2803883E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9919671-A542-8154-3264-7058D888D0EB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2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第六步：低丰度序列过滤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E134702-9F70-F70D-1006-D500F81FB7F0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F7647C62-0FB5-18C2-38C1-AE5F67133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065FAB-58D5-AB4D-5AC1-210E5C6C6DDB}"/>
              </a:ext>
            </a:extLst>
          </p:cNvPr>
          <p:cNvSpPr txBox="1"/>
          <p:nvPr/>
        </p:nvSpPr>
        <p:spPr>
          <a:xfrm>
            <a:off x="334404" y="1474619"/>
            <a:ext cx="11523191" cy="39087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对过滤后的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ASV/OTU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丰度表进行统计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对于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ASV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feature-table summarize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-table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03FilteredData/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ASV_CleanTable.qza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--m-metadata-file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metadata.tsv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lvl="0"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--output-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dir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03FilteredData/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ASV_TableSummary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 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对于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OTU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（不演示）</a:t>
            </a: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qiime feature-table summarize \</a:t>
            </a: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</a:t>
            </a:r>
            <a:r>
              <a:rPr lang="en-US" altLang="zh-CN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-table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03FilteredData/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OTU_CleanTable.qza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\</a:t>
            </a: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--m-metadata-file </a:t>
            </a:r>
            <a:r>
              <a:rPr lang="en-US" altLang="zh-CN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metadata.tsv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\</a:t>
            </a: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--output-</a:t>
            </a:r>
            <a:r>
              <a:rPr lang="en-US" altLang="zh-CN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dir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03FilteredData/</a:t>
            </a:r>
            <a:r>
              <a:rPr lang="en-US" altLang="zh-CN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OTU_TableSummary</a:t>
            </a:r>
            <a:endParaRPr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5879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1CCBA-18EB-099F-6A01-CBC44A630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BCC8241-3699-DA81-3562-CA54C9BB0D9A}"/>
              </a:ext>
            </a:extLst>
          </p:cNvPr>
          <p:cNvSpPr/>
          <p:nvPr/>
        </p:nvSpPr>
        <p:spPr>
          <a:xfrm>
            <a:off x="0" y="2634673"/>
            <a:ext cx="12191999" cy="158865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D18852C-CDAB-598E-1C3C-7721B795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193D28D-CF46-D0F3-A921-706A7A9FB1DA}"/>
              </a:ext>
            </a:extLst>
          </p:cNvPr>
          <p:cNvSpPr txBox="1"/>
          <p:nvPr/>
        </p:nvSpPr>
        <p:spPr>
          <a:xfrm>
            <a:off x="477655" y="3075057"/>
            <a:ext cx="112366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Ⅳ  </a:t>
            </a:r>
            <a:r>
              <a:rPr kumimoji="0" lang="zh-CN" altLang="en-US" sz="40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下游数据分析</a:t>
            </a:r>
          </a:p>
        </p:txBody>
      </p:sp>
    </p:spTree>
    <p:extLst>
      <p:ext uri="{BB962C8B-B14F-4D97-AF65-F5344CB8AC3E}">
        <p14:creationId xmlns:p14="http://schemas.microsoft.com/office/powerpoint/2010/main" val="3423658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5"/>
    </mc:Choice>
    <mc:Fallback xmlns="">
      <p:transition spd="slow" advTm="2035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163FD-98D4-8281-C472-427FEF01C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C8CF518-D667-8DA8-9A6A-12B15E67705C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第一步：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ASV/OTU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丰度表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2142398-6D64-45C8-205C-CD0A7DB9A347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B8EA4C60-EA18-BCBB-19B9-6EC005CB6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F03D042-CE39-05BF-F240-97DF74DB72F2}"/>
              </a:ext>
            </a:extLst>
          </p:cNvPr>
          <p:cNvSpPr txBox="1"/>
          <p:nvPr/>
        </p:nvSpPr>
        <p:spPr>
          <a:xfrm>
            <a:off x="334404" y="943597"/>
            <a:ext cx="11523191" cy="5509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ASV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导出为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BIOM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格式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tools export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--input-path 03FilteredData/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ASV_CleanTable.qza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lvl="0"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output-path 04ASV_export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将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BIOM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转换为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TSV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表格，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biom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环境中不需要额外配置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biom convert \</a:t>
            </a:r>
          </a:p>
          <a:p>
            <a:pPr lvl="0"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04ASV_export/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feature-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table.biom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lvl="0"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 04ASV_export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/feature-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table.tsv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--to-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tsv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==============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OTU</a:t>
            </a:r>
          </a:p>
          <a:p>
            <a:pPr lvl="0">
              <a:defRPr/>
            </a:pP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qiime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tools export \</a:t>
            </a:r>
          </a:p>
          <a:p>
            <a:pPr lvl="0"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--input-path 03FilteredData/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OTU_CleanTable.qza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\</a:t>
            </a:r>
          </a:p>
          <a:p>
            <a:pPr lvl="0"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--output-path 04OTU_export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biom convert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04OTU_export/feature-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table.biom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-o 04OTU_export/feature-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table.tsv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--to-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tsv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713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5EA47-91E8-4025-9260-4799EC3FF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900EAF7-D65C-BB6C-B842-3D57B89E85CA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第二步：物种注释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3C59318-378F-664E-A51D-E9FD227C70DA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EA268F60-3518-81FD-191A-5C78AFB67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9302086-21B9-3D5A-387D-86134976C7C2}"/>
              </a:ext>
            </a:extLst>
          </p:cNvPr>
          <p:cNvSpPr txBox="1"/>
          <p:nvPr/>
        </p:nvSpPr>
        <p:spPr>
          <a:xfrm>
            <a:off x="334404" y="1382286"/>
            <a:ext cx="11523191" cy="40934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下载与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版本对应的分类器，比如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silva-138-99-nb-classifier.qza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 ASV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nohup qiime feature-classifier classify-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sklearn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--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-classifier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silva-138-99-nb-classifier.qza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-reads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02DADA2/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representative_sequences.qza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--p-n-jobs 10 --o-classification 05ASV_taxonomy.qza &gt; 05ASV_taxonomy.log 2&gt;&amp;1 &amp;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OTU</a:t>
            </a:r>
          </a:p>
          <a:p>
            <a:pPr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nohup qiime feature-classifier classify-</a:t>
            </a:r>
            <a:r>
              <a:rPr lang="en-US" altLang="zh-CN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sklearn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--</a:t>
            </a:r>
            <a:r>
              <a:rPr lang="en-US" altLang="zh-CN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-classifier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silva-138-99-nb-classifier.qza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--</a:t>
            </a:r>
            <a:r>
              <a:rPr lang="en-US" altLang="zh-CN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-reads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02DADA2/OTU_representative_sequences.qza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--p-n-jobs 10 --o-classification 05OTU_taxonomy.qza &gt; 05OTU_taxonomy.log 2&gt;&amp;1 &amp;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4859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AFFBF-6161-DCD2-9E2F-E7A3608FF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11B2661-E30C-00FA-6D2D-DDDC3A093EE6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第二步：物种注释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995AF29-CB10-F2DB-873C-A112EF74ABE1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98B4DDA8-B61A-7881-8B73-4810AC557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0D7F451-344C-73A1-1525-6B5749F9CF82}"/>
              </a:ext>
            </a:extLst>
          </p:cNvPr>
          <p:cNvSpPr txBox="1"/>
          <p:nvPr/>
        </p:nvSpPr>
        <p:spPr>
          <a:xfrm>
            <a:off x="334404" y="1570143"/>
            <a:ext cx="11523191" cy="40934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可视化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ASV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metadata tabulate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--m-input-file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05ASV_taxonomy.qza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--o-visualization 05ASV_taxonomy.qzv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OTU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metadata tabulate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--m-input-file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05OTU_taxonomy.qza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--o-visualization 05OTU_taxonomy.qzv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8854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1E2AC-A78D-1E4B-24B7-231360A10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BD4CE20-09F5-10CF-574C-9C131B888DBC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2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第二步：物种注释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8209D5D-7641-8690-F766-F4D58873D93B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51FC8A29-F41F-3371-87E0-B2A28580D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EC42F27-BE96-24A6-B06B-C51FE4A49BAD}"/>
              </a:ext>
            </a:extLst>
          </p:cNvPr>
          <p:cNvSpPr txBox="1"/>
          <p:nvPr/>
        </p:nvSpPr>
        <p:spPr>
          <a:xfrm>
            <a:off x="334404" y="1337630"/>
            <a:ext cx="11523191" cy="47089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绘制物种堆叠图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ASV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taxa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barplot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-table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03FilteredData/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ASV_CleanTable.qza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-taxonomy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05ASV_taxonomy.qza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--m-metadata-file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metadata.tsv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--o-visualization 05ASV_TaxaBarplot.qzv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OTU</a:t>
            </a:r>
          </a:p>
          <a:p>
            <a:pPr lvl="0"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qiime taxa </a:t>
            </a:r>
            <a:r>
              <a:rPr lang="en-US" altLang="zh-CN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barplot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\</a:t>
            </a:r>
          </a:p>
          <a:p>
            <a:pPr lvl="0"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</a:t>
            </a:r>
            <a:r>
              <a:rPr lang="en-US" altLang="zh-CN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-table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03FilteredData/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OTU_CleanTable.qza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\</a:t>
            </a:r>
          </a:p>
          <a:p>
            <a:pPr lvl="0"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</a:t>
            </a:r>
            <a:r>
              <a:rPr lang="en-US" altLang="zh-CN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-taxonomy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05OTU_taxonomy.qza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\</a:t>
            </a:r>
          </a:p>
          <a:p>
            <a:pPr lvl="0"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--m-metadata-file </a:t>
            </a:r>
            <a:r>
              <a:rPr lang="en-US" altLang="zh-CN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metadata.tsv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\</a:t>
            </a:r>
          </a:p>
          <a:p>
            <a:pPr lvl="0"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--o-visualization 05OTU_TaxaBarplot.qzv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7299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51"/>
    </mc:Choice>
    <mc:Fallback xmlns="">
      <p:transition spd="slow" advTm="57651"/>
    </mc:Fallback>
  </mc:AlternateContent>
  <p:extLst>
    <p:ext uri="{E180D4A7-C9FB-4DFB-919C-405C955672EB}">
      <p14:showEvtLst xmlns:p14="http://schemas.microsoft.com/office/powerpoint/2010/main">
        <p14:playEvt time="291" objId="4"/>
        <p14:triggerEvt type="onClick" time="292" objId="4"/>
        <p14:pauseEvt time="54649" objId="4"/>
        <p14:seekEvt time="54649" objId="4" seek="54338"/>
        <p14:resumeEvt time="54650" objId="4"/>
        <p14:pauseEvt time="55109" objId="4"/>
        <p14:seekEvt time="55109" objId="4" seek="54779"/>
        <p14:resumeEvt time="55110" objId="4"/>
        <p14:pauseEvt time="57651" objId="4"/>
        <p14:stopEvt time="57651" objId="4"/>
      </p14:showEvtLst>
    </p:ext>
  </p:extLs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DBB8B-49E4-80ED-8FB8-ADB1D27E6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54845AC-EAD0-7006-5FDD-FA0F3D75F170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第三步：系统发育树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C43C8C5D-4212-667F-68A2-4471176904BD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BC2531F2-5D15-684A-DF86-BE05B33D9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5773984-BF44-9682-51E4-097F703475E0}"/>
              </a:ext>
            </a:extLst>
          </p:cNvPr>
          <p:cNvSpPr txBox="1"/>
          <p:nvPr/>
        </p:nvSpPr>
        <p:spPr>
          <a:xfrm>
            <a:off x="334404" y="1102313"/>
            <a:ext cx="11523191" cy="5262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一些多样性指数会用到系统发育树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rooted_tree.qza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文件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ASV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使用插件构建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rooted_tree.qza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（必做）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nohup qiime phylogeny align-to-tree-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mafft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fasttree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-sequences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02DADA2/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representative_sequences.qza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--p-n-threads 10 --output-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dir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06ASV_tree &gt; 06asv_tree.log 2&gt;&amp;1 &amp;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导出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ASV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代表序列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fasta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文件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tools export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--input-path 02DADA2/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representative_sequences.qza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--output-path 04ASV_export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OTU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构建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rooted_tree.qza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nohup qiime phylogeny align-to-tree-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mafft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fasttree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-sequences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02DADA2/OTU_representative_sequences.qza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--p-n-threads 10 --output-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dir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06OTU_tree &gt; 06otu_tree.log 2&gt;&amp;1 &amp;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导出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OTU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代表序列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fasta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文件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tools export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--input-path 02DADA2/OTU_representative_sequences.qza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--output-path 04OTU_export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9979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51"/>
    </mc:Choice>
    <mc:Fallback xmlns="">
      <p:transition spd="slow" advTm="57651"/>
    </mc:Fallback>
  </mc:AlternateContent>
  <p:extLst>
    <p:ext uri="{E180D4A7-C9FB-4DFB-919C-405C955672EB}">
      <p14:showEvtLst xmlns:p14="http://schemas.microsoft.com/office/powerpoint/2010/main">
        <p14:playEvt time="291" objId="4"/>
        <p14:triggerEvt type="onClick" time="292" objId="4"/>
        <p14:pauseEvt time="54649" objId="4"/>
        <p14:seekEvt time="54649" objId="4" seek="54338"/>
        <p14:resumeEvt time="54650" objId="4"/>
        <p14:pauseEvt time="55109" objId="4"/>
        <p14:seekEvt time="55109" objId="4" seek="54779"/>
        <p14:resumeEvt time="55110" objId="4"/>
        <p14:pauseEvt time="57651" objId="4"/>
        <p14:stopEvt time="57651" objId="4"/>
      </p14:showEvtLst>
    </p:ext>
  </p:extLs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4FD5B-BB01-E54D-865D-170520920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853B76-B3D9-B1C0-6F70-C8ADF2CD32DA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2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第三步：系统发育树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CB44212-6184-A875-D250-350C5944F638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A84C8C79-1406-5FD3-2D8E-4695DCCC3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0046EA0-B104-17ED-8A03-870CB3914041}"/>
              </a:ext>
            </a:extLst>
          </p:cNvPr>
          <p:cNvSpPr txBox="1"/>
          <p:nvPr/>
        </p:nvSpPr>
        <p:spPr>
          <a:xfrm>
            <a:off x="334404" y="1192976"/>
            <a:ext cx="11523191" cy="50167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可视化进化树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以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ASV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为例，如果需要对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OTU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分析只需要调整对应的文件夹名称即可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法一：使用插件可视化，需要额外安装插件，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自行尝试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pip install '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setuptools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&lt;81'</a:t>
            </a:r>
          </a:p>
          <a:p>
            <a:pPr lvl="0"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pip install empress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有根树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empress tree-plot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-tree 06ASV_tree/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rooted_tree.qza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--o-visualization 06ASV_tree/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rooted_tree.qzv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无根树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empress tree-plot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-tree 06ASV_tree/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tree.qza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--o-visualization 06ASV_tree/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unrooted_tree.qzv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法二：导出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nwk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树形文件，自行在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ITOL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或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Chiplot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等工具美化（推荐）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有根树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tools export --input-path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06ASV_tree/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rooted_tree.qza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--output-path 06ASV_tree/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rooted_tree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无根树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tools export --input-path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06ASV_tree/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tree.qza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--output-path 06ASV_tree/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unrooted_tree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2887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51"/>
    </mc:Choice>
    <mc:Fallback xmlns="">
      <p:transition spd="slow" advTm="57651"/>
    </mc:Fallback>
  </mc:AlternateContent>
  <p:extLst>
    <p:ext uri="{E180D4A7-C9FB-4DFB-919C-405C955672EB}">
      <p14:showEvtLst xmlns:p14="http://schemas.microsoft.com/office/powerpoint/2010/main">
        <p14:playEvt time="291" objId="4"/>
        <p14:triggerEvt type="onClick" time="292" objId="4"/>
        <p14:pauseEvt time="54649" objId="4"/>
        <p14:seekEvt time="54649" objId="4" seek="54338"/>
        <p14:resumeEvt time="54650" objId="4"/>
        <p14:pauseEvt time="55109" objId="4"/>
        <p14:seekEvt time="55109" objId="4" seek="54779"/>
        <p14:resumeEvt time="55110" objId="4"/>
        <p14:pauseEvt time="57651" objId="4"/>
        <p14:stopEvt time="57651" objId="4"/>
      </p14:showEvtLst>
    </p:ext>
  </p:extLs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D749F-59E0-9E7F-DF5F-3F4BAB593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EF9F93F-B8C4-448D-A0BD-3453EB213048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第四步：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Alpha</a:t>
            </a:r>
            <a:r>
              <a:rPr lang="en-US" altLang="zh-CN" sz="2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/Beta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多样性指数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DE2E0C56-613E-E9CF-FCEA-E6F7CE074C6A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7B366B1E-990D-B2F1-FD2C-C94A474FF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F250F6D-11B3-12DD-C3E9-46481C2BA385}"/>
              </a:ext>
            </a:extLst>
          </p:cNvPr>
          <p:cNvSpPr txBox="1"/>
          <p:nvPr/>
        </p:nvSpPr>
        <p:spPr>
          <a:xfrm>
            <a:off x="334404" y="1843950"/>
            <a:ext cx="11523191" cy="3477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以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ASV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为例，如果需要分析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OUT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改为对应文件即可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 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可以将清洗过的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ASV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（或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OTU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summary.qzv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https://view.qiime2.org/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查看最小的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Frequency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值作为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--p-sampling-depth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（抽平深度）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nohup qiime diversity core-metrics-phylogenetic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-phylogeny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06ASV_tree/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rooted_tree.qza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-table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03FilteredData/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ASV_CleanTable.qza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--p-sampling-depth 20000 \</a:t>
            </a:r>
          </a:p>
          <a:p>
            <a:pPr lvl="0"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--p-n-jobs-or-threads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 \</a:t>
            </a:r>
          </a:p>
          <a:p>
            <a:pPr lvl="0"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--m-metadata-file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metadata.tsv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--output-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07ASV_diversity &gt; 07asv_diversity.log 2&gt;&amp;1 &amp;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1001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51"/>
    </mc:Choice>
    <mc:Fallback xmlns="">
      <p:transition spd="slow" advTm="57651"/>
    </mc:Fallback>
  </mc:AlternateContent>
  <p:extLst>
    <p:ext uri="{E180D4A7-C9FB-4DFB-919C-405C955672EB}">
      <p14:showEvtLst xmlns:p14="http://schemas.microsoft.com/office/powerpoint/2010/main">
        <p14:playEvt time="291" objId="4"/>
        <p14:triggerEvt type="onClick" time="292" objId="4"/>
        <p14:pauseEvt time="54649" objId="4"/>
        <p14:seekEvt time="54649" objId="4" seek="54338"/>
        <p14:resumeEvt time="54650" objId="4"/>
        <p14:pauseEvt time="55109" objId="4"/>
        <p14:seekEvt time="55109" objId="4" seek="54779"/>
        <p14:resumeEvt time="55110" objId="4"/>
        <p14:pauseEvt time="57651" objId="4"/>
        <p14:stopEvt time="57651" objId="4"/>
      </p14:showEvtLst>
    </p:ext>
  </p:extLs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B811C-8425-BE09-0D05-06C7E4333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4AB15F1-D792-F513-2D8E-3CF79764135D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2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第四步：</a:t>
            </a:r>
            <a:r>
              <a:rPr lang="en-US" altLang="zh-CN" sz="2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Alpha/Beta</a:t>
            </a:r>
            <a:r>
              <a:rPr lang="zh-CN" altLang="en-US" sz="2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多样性指数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0C15F0A-0AA6-E9D2-EFE5-DAC1EC968F82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92B13725-CAB7-5F50-3795-BC79D346B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08536F5-D5B7-85F3-B8A7-C6B3898559D6}"/>
              </a:ext>
            </a:extLst>
          </p:cNvPr>
          <p:cNvSpPr txBox="1"/>
          <p:nvPr/>
        </p:nvSpPr>
        <p:spPr>
          <a:xfrm>
            <a:off x="334404" y="1040757"/>
            <a:ext cx="11523191" cy="53245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补充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Alpha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多样性指数，注意导入文件的是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diversity core-metrics-phylogenetic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导出的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rarefied_table.qza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补充计算</a:t>
            </a: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Chao1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diversity alpha --i-table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07ASV_diversity/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rarefied_table.qza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--p-metric </a:t>
            </a: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chao1</a:t>
            </a: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--o-alpha-diversity 07ASV_diversity/chao1_vector.qza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补充计算</a:t>
            </a: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Simpson</a:t>
            </a:r>
          </a:p>
          <a:p>
            <a:pPr lvl="0">
              <a:defRPr/>
            </a:pP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diversity alpha --i-table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07ASV_diversity/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rarefied_table.qza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--p-metric </a:t>
            </a: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simpson</a:t>
            </a: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--o-alpha-diversity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07ASV_diversity</a:t>
            </a: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/simpson_vector.qza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a-DK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剩余的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Alpha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多样性指数还有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('ace',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berger_parker_d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brillouin_d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'chao1', 'chao1_ci', 'dominance', 'doubles',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enspie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esty_ci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fisher_alpha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gini_index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goods_coverage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heip_e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kempton_taylor_q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lladser_pe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margalef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mcintosh_d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mcintosh_e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menhinick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michaelis_menten_fit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observed_features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osd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pielou_e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robbins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shannon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simpson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simpson_e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'singles', 'strong’)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 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参考：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https://amplicon-docs.qiime2.org/en/stable/references/plugins/diversity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指标信息查看：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https://scikit.bio/docs/latest/generated/skbio.diversity.alpha.html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4447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51"/>
    </mc:Choice>
    <mc:Fallback xmlns="">
      <p:transition spd="slow" advTm="57651"/>
    </mc:Fallback>
  </mc:AlternateContent>
  <p:extLst>
    <p:ext uri="{E180D4A7-C9FB-4DFB-919C-405C955672EB}">
      <p14:showEvtLst xmlns:p14="http://schemas.microsoft.com/office/powerpoint/2010/main">
        <p14:playEvt time="291" objId="4"/>
        <p14:triggerEvt type="onClick" time="292" objId="4"/>
        <p14:pauseEvt time="54649" objId="4"/>
        <p14:seekEvt time="54649" objId="4" seek="54338"/>
        <p14:resumeEvt time="54650" objId="4"/>
        <p14:pauseEvt time="55109" objId="4"/>
        <p14:seekEvt time="55109" objId="4" seek="54779"/>
        <p14:resumeEvt time="55110" objId="4"/>
        <p14:pauseEvt time="57651" objId="4"/>
        <p14:stopEvt time="57651" objId="4"/>
      </p14:showEvtLst>
    </p:ext>
  </p:extLs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46D52-CB39-89FA-132F-F37A611A3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9AB1B12-170C-D722-C774-2B96CD0CBA38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2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第四步：</a:t>
            </a:r>
            <a:r>
              <a:rPr lang="en-US" altLang="zh-CN" sz="2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Alpha/Beta</a:t>
            </a:r>
            <a:r>
              <a:rPr lang="zh-CN" altLang="en-US" sz="2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多样性指数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2252D7A-427D-0A99-3652-4F7FB2D3587F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1B8C254A-3956-3CFE-B043-1EB6E6A22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D128BC-F30A-3541-80D0-CA40276B62C4}"/>
              </a:ext>
            </a:extLst>
          </p:cNvPr>
          <p:cNvSpPr txBox="1"/>
          <p:nvPr/>
        </p:nvSpPr>
        <p:spPr>
          <a:xfrm>
            <a:off x="334404" y="1285340"/>
            <a:ext cx="11523191" cy="47089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补充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Beta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多样性指数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补充计算</a:t>
            </a: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Aitchison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距离</a:t>
            </a:r>
            <a:endParaRPr kumimoji="0" lang="da-DK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diversity beta --i-table </a:t>
            </a: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07ASV_diversity/rarefied_table.qza </a:t>
            </a: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--p-metric aitchison --o-distance-matrix 07ASV_diversity/aitchison_distance_matrix.qza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a-DK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补充计算</a:t>
            </a: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Euclidean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距离</a:t>
            </a:r>
            <a:endParaRPr kumimoji="0" lang="da-DK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diversity beta --i-table </a:t>
            </a: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07ASV_diversity/rarefied_table.qza </a:t>
            </a: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--p-metric euclidean --o-distance-matrix 07ASV_diversity/euclidean_distance_matrix.qza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剩余的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Beta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多样性指数还有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aitchison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braycurtis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canberra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canberra_adkins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chebyshev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cityblock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'correlation', 'cosine', 'dice', 'euclidean', 'hamming',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jaccard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jensenshannon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'matching',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minkowski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rogerstanimoto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russellrao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seuclidean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sokalsneath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sqeuclidean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'yule')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参考：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https://amplicon-docs.qiime2.org/en/stable/references/plugins/diversity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2334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51"/>
    </mc:Choice>
    <mc:Fallback xmlns="">
      <p:transition spd="slow" advTm="57651"/>
    </mc:Fallback>
  </mc:AlternateContent>
  <p:extLst>
    <p:ext uri="{E180D4A7-C9FB-4DFB-919C-405C955672EB}">
      <p14:showEvtLst xmlns:p14="http://schemas.microsoft.com/office/powerpoint/2010/main">
        <p14:playEvt time="291" objId="4"/>
        <p14:triggerEvt type="onClick" time="292" objId="4"/>
        <p14:pauseEvt time="54649" objId="4"/>
        <p14:seekEvt time="54649" objId="4" seek="54338"/>
        <p14:resumeEvt time="54650" objId="4"/>
        <p14:pauseEvt time="55109" objId="4"/>
        <p14:seekEvt time="55109" objId="4" seek="54779"/>
        <p14:resumeEvt time="55110" objId="4"/>
        <p14:pauseEvt time="57651" objId="4"/>
        <p14:stopEvt time="57651" objId="4"/>
      </p14:showEvtLst>
    </p:ext>
  </p:extLs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D9877-D698-B6A4-7B6C-0C0BC9F71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D817236-627B-6DB0-F172-A9911A39026B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2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第四步：</a:t>
            </a:r>
            <a:r>
              <a:rPr lang="en-US" altLang="zh-CN" sz="2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Alpha/Beta</a:t>
            </a:r>
            <a:r>
              <a:rPr lang="zh-CN" altLang="en-US" sz="2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多样性指数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D1B52740-5E3C-57AF-D3CA-484B7EAFB86B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9B337019-0839-EC54-AB8C-EADE4FF38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E9A587-6884-A48C-2808-82642B1A0B11}"/>
              </a:ext>
            </a:extLst>
          </p:cNvPr>
          <p:cNvSpPr txBox="1"/>
          <p:nvPr/>
        </p:nvSpPr>
        <p:spPr>
          <a:xfrm>
            <a:off x="334404" y="1035959"/>
            <a:ext cx="11523191" cy="54168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Alpha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多样性数据导出及差异性检验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需要提前创建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08Alpha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文件夹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mkdir 08Alpha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Shannon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diversity alpha-group-significance --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-alpha-diversity 07ASV_diversity/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shannon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_vector.qza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--m-metadata-file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metadata.tsv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--o-visualization 08Alpha/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shannon.qzv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 Chao1</a:t>
            </a:r>
          </a:p>
          <a:p>
            <a:pPr lvl="0"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diversity alpha-group-significance --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-alpha-diversity 07ASV_diversity/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chao1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_vector.qza --m-metadata-file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metadata.tsv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--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o-visualization 08Alpha/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chao1.qzv</a:t>
            </a:r>
          </a:p>
          <a:p>
            <a:pPr lvl="0">
              <a:defRPr/>
            </a:pP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批处理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lvl="0"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for file in 07ASV_diversity/*_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vector.qza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 do</a:t>
            </a:r>
          </a:p>
          <a:p>
            <a:pPr lvl="0"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base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=$(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basename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"$file" _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vector.qza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lvl="0"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diversity alpha-group-significance \</a:t>
            </a:r>
          </a:p>
          <a:p>
            <a:pPr lvl="0"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--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-alpha-diversity "$file" \</a:t>
            </a:r>
          </a:p>
          <a:p>
            <a:pPr lvl="0"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--m-metadata-file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metadata.tsv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lvl="0"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--o-visualization "08Alpha/${base}.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qzv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"</a:t>
            </a:r>
          </a:p>
          <a:p>
            <a:pPr lvl="0"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done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4648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51"/>
    </mc:Choice>
    <mc:Fallback xmlns="">
      <p:transition spd="slow" advTm="57651"/>
    </mc:Fallback>
  </mc:AlternateContent>
  <p:extLst>
    <p:ext uri="{E180D4A7-C9FB-4DFB-919C-405C955672EB}">
      <p14:showEvtLst xmlns:p14="http://schemas.microsoft.com/office/powerpoint/2010/main">
        <p14:playEvt time="291" objId="4"/>
        <p14:triggerEvt type="onClick" time="292" objId="4"/>
        <p14:pauseEvt time="54649" objId="4"/>
        <p14:seekEvt time="54649" objId="4" seek="54338"/>
        <p14:resumeEvt time="54650" objId="4"/>
        <p14:pauseEvt time="55109" objId="4"/>
        <p14:seekEvt time="55109" objId="4" seek="54779"/>
        <p14:resumeEvt time="55110" objId="4"/>
        <p14:pauseEvt time="57651" objId="4"/>
        <p14:stopEvt time="57651" objId="4"/>
      </p14:showEvtLst>
    </p:ext>
  </p:extLs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5819E-3E0D-488F-95F7-186EFD3B0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76F9D80-FCFD-5956-E0BC-326F6B5DAF4C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第五步：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Alpha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稀疏曲线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C537B2B8-E846-3B87-EAD5-8B6CAE69F4E5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A98750E3-1DF8-8B4A-85A5-13FB75B1C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7885343-C3A0-47D7-5972-C7BA322D21B3}"/>
              </a:ext>
            </a:extLst>
          </p:cNvPr>
          <p:cNvSpPr txBox="1"/>
          <p:nvPr/>
        </p:nvSpPr>
        <p:spPr>
          <a:xfrm>
            <a:off x="334404" y="1192976"/>
            <a:ext cx="11523191" cy="5078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可以指定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Alpha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多样性指数，不同指数中间空格间隔，注意大小写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diversity alpha-rarefaction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-table 03FilteredData/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ASV_CleanTable.qza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-phylogeny 06ASV_tree/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rooted_tree.qza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--p-max-depth 10534 \</a:t>
            </a: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--p-metrics 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shannon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observed_features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chao1 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simpson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robbins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\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--p-steps 20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--m-metadata-file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metadata.tsv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--o-visualization 08Alpha/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Alpha_rarefaction_curves.qzv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支持的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Alpha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多样性指数还有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metrics: Set[Str % Choices('ace',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berger_parker_d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brillouin_d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'chao1', 'dominance', 'doubles',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enspie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faith_pd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fisher_alpha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gini_index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goods_coverage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heip_e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lladser_pe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margalef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mcintosh_d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mcintosh_e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menhinick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michaelis_menten_fit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observed_features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pielou_e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robbins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shannon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simpson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simpson_e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'singles')]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参考：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https://amplicon-docs.qiime2.org/en/stable/references/plugins/diversity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指标信息查看：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https://scikit.bio/docs/latest/generated/skbio.diversity.alpha.html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571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51"/>
    </mc:Choice>
    <mc:Fallback xmlns="">
      <p:transition spd="slow" advTm="57651"/>
    </mc:Fallback>
  </mc:AlternateContent>
  <p:extLst>
    <p:ext uri="{E180D4A7-C9FB-4DFB-919C-405C955672EB}">
      <p14:showEvtLst xmlns:p14="http://schemas.microsoft.com/office/powerpoint/2010/main">
        <p14:playEvt time="291" objId="4"/>
        <p14:triggerEvt type="onClick" time="292" objId="4"/>
        <p14:pauseEvt time="54649" objId="4"/>
        <p14:seekEvt time="54649" objId="4" seek="54338"/>
        <p14:resumeEvt time="54650" objId="4"/>
        <p14:pauseEvt time="55109" objId="4"/>
        <p14:seekEvt time="55109" objId="4" seek="54779"/>
        <p14:resumeEvt time="55110" objId="4"/>
        <p14:pauseEvt time="57651" objId="4"/>
        <p14:stopEvt time="57651" objId="4"/>
      </p14:showEvtLst>
    </p:ext>
  </p:extLs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1CCBA-18EB-099F-6A01-CBC44A630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BCC8241-3699-DA81-3562-CA54C9BB0D9A}"/>
              </a:ext>
            </a:extLst>
          </p:cNvPr>
          <p:cNvSpPr/>
          <p:nvPr/>
        </p:nvSpPr>
        <p:spPr>
          <a:xfrm>
            <a:off x="0" y="2634673"/>
            <a:ext cx="12191999" cy="158865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D18852C-CDAB-598E-1C3C-7721B795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193D28D-CF46-D0F3-A921-706A7A9FB1DA}"/>
              </a:ext>
            </a:extLst>
          </p:cNvPr>
          <p:cNvSpPr txBox="1"/>
          <p:nvPr/>
        </p:nvSpPr>
        <p:spPr>
          <a:xfrm>
            <a:off x="477655" y="3075057"/>
            <a:ext cx="112366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Beta</a:t>
            </a:r>
            <a:r>
              <a:rPr kumimoji="0" lang="zh-CN" altLang="en-US" sz="40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多样性的分析补充</a:t>
            </a:r>
          </a:p>
        </p:txBody>
      </p:sp>
    </p:spTree>
    <p:extLst>
      <p:ext uri="{BB962C8B-B14F-4D97-AF65-F5344CB8AC3E}">
        <p14:creationId xmlns:p14="http://schemas.microsoft.com/office/powerpoint/2010/main" val="10843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82"/>
    </mc:Choice>
    <mc:Fallback xmlns="">
      <p:transition spd="slow" advTm="2282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163FD-98D4-8281-C472-427FEF01C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C8CF518-D667-8DA8-9A6A-12B15E67705C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第一项：差异检验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2142398-6D64-45C8-205C-CD0A7DB9A347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B8EA4C60-EA18-BCBB-19B9-6EC005CB6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F03D042-CE39-05BF-F240-97DF74DB72F2}"/>
              </a:ext>
            </a:extLst>
          </p:cNvPr>
          <p:cNvSpPr txBox="1"/>
          <p:nvPr/>
        </p:nvSpPr>
        <p:spPr>
          <a:xfrm>
            <a:off x="334404" y="943597"/>
            <a:ext cx="11523191" cy="54784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首先需要创建结果文件夹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mkdir 09Beta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--p-method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可以选择算法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('permanova', '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anosim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permdisp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’)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--m-metadata-column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metadata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中分类型变量列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diversity beta-group-significance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-distance-matrix 07ASV_diversity/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bray_curtis_distance_matrix.qza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--m-metadata-file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metadata.tsv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--p-method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permanova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--m-metadata-column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group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--o-visualization 09Beta/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bray_curtis_group.qzv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--p-pairwise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批处理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COLUMN="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group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for matrix in 07ASV_diversity/*_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distance_matrix.qza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 do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name=$(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basename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"$matrix" _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distance_matrix.qza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qiime diversity beta-group-significance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--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-distance-matrix "$matrix"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--m-metadata-file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metadata.tsv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--p-method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permanova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--m-metadata-column "$COLUMN"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--o-visualization 09Beta/"${name}_${COLUMN}".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qzv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--p-pairwise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done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9729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73"/>
    </mc:Choice>
    <mc:Fallback xmlns="">
      <p:transition spd="slow" advTm="5673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C7CCC-0B18-EECF-A5CD-FCEF83644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038ED70-9E7F-CF1E-779E-4320A0A7A02D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第二项：</a:t>
            </a:r>
            <a:r>
              <a:rPr kumimoji="0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PCoA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结果导出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D6F7651-6090-088C-87C0-DDE65A60CE9F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CB7E6F0C-E170-83FB-224D-CE1F07581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BEF652C-E07B-26CB-51DC-E4336C34D819}"/>
              </a:ext>
            </a:extLst>
          </p:cNvPr>
          <p:cNvSpPr txBox="1"/>
          <p:nvPr/>
        </p:nvSpPr>
        <p:spPr>
          <a:xfrm>
            <a:off x="334404" y="1396178"/>
            <a:ext cx="11523191" cy="46166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首先需要创建结果文件夹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mkdir -p 09Beta/pcoa_export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tools export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--input-path 07ASV_diversity/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unweighted_unifrac_pcoa_results.qza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--output-path 09Beta/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pcoa_export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unweighted_unifrac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批处理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for file in 07ASV_diversity/*_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pcoa_results.qza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 do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name=$(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basename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"$file" _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pcoa_results.qza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qiime tools export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--input-path "$file"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--output-path 09Beta/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pcoa_export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/"$name"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done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5895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73"/>
    </mc:Choice>
    <mc:Fallback xmlns="">
      <p:transition spd="slow" advTm="5673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D5EA9-5274-A29C-4E5F-E6AFAADBB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D977CAF-0DCD-EA43-5EFC-41326E036F88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第三项：距离矩阵导出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95FEBE5-50AD-958A-39E8-3D2BDFBE17B5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0406DDA2-BE68-37DF-5891-561DA8C87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6FB9993-A8B2-3B3F-764E-669601583913}"/>
              </a:ext>
            </a:extLst>
          </p:cNvPr>
          <p:cNvSpPr txBox="1"/>
          <p:nvPr/>
        </p:nvSpPr>
        <p:spPr>
          <a:xfrm>
            <a:off x="334404" y="1673269"/>
            <a:ext cx="11523191" cy="40934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首先需要创建结果文件夹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mkdir -p 09Beta/distances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tools export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--input-path 07ASV_diversity/bray_curtis_distance_matrix.qza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--output-path 09Beta/distances/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bray_curtis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批处理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for f in 07ASV_diversity/*_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distance_matrix.qza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 do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name=$(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basename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"$f" _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distance_matrix.qza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qiime tools export --input-path "$f" --output-path 09Beta/distances/"$name"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done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7888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73"/>
    </mc:Choice>
    <mc:Fallback xmlns="">
      <p:transition spd="slow" advTm="5673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DED75-266C-087A-8C50-E626F740B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EAB2190-CFFE-9F08-E125-527FFE8FD94A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第四项：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Adonis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多元方差分析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38E824D-8D1D-43E0-285E-0AC4E07414D1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55EEBEC6-2E72-0A00-645C-E15491966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5629678-24E8-4395-CB07-B2FCB91CF69B}"/>
              </a:ext>
            </a:extLst>
          </p:cNvPr>
          <p:cNvSpPr txBox="1"/>
          <p:nvPr/>
        </p:nvSpPr>
        <p:spPr>
          <a:xfrm>
            <a:off x="334404" y="1101594"/>
            <a:ext cx="11523191" cy="51706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--p-formula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可以设置单因素（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group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）、多因素（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group + sex + age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）以及考虑交互（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group + group * sex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首先需要创建结果文件夹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mkdir -p 09Beta/adonis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diversity adonis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-distance-matrix 07ASV_diversity/bray_curtis_distance_matrix.qza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--m-metadata-file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metadata.tsv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--p-formula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"group"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--o-visualization 09Beta/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adonis_bray_curtis.qzv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批处理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COLUMN=" group + group * sex 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for f in 07ASV_diversity/*_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distance_matrix.qza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 do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name=$(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basename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"$f" _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distance_matrix.qza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qiime diversity adonis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--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-distance-matrix "$f"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--m-metadata-file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metadata.tsv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--p-formula "$COLUMN"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--o-visualization 09Beta/adonis/"${name}".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qzv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done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6604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73"/>
    </mc:Choice>
    <mc:Fallback xmlns="">
      <p:transition spd="slow" advTm="5673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54B9-068B-C475-9BC6-3D17522CC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EFA6782-A8EB-D174-CE70-B2203E9A08FD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其他分析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33A8F73-9A29-76E2-8BF4-3E203BD5FBF5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CB4AD5CD-83D6-BCC5-8FF0-5685463B1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75F8D0B-AF16-B742-CE92-A62F9FC5A0F2}"/>
              </a:ext>
            </a:extLst>
          </p:cNvPr>
          <p:cNvSpPr txBox="1"/>
          <p:nvPr/>
        </p:nvSpPr>
        <p:spPr>
          <a:xfrm>
            <a:off x="2217674" y="2613392"/>
            <a:ext cx="7756651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相关性检验（连续变量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距离矩阵）：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diversity beta-correlation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Mantel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检验（多次分析距离矩阵之间）：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diversity mantel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t-SNE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降维分析：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diversity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tsne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UMAP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降维分析：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diversity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umap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方差分析（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Alpha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多样性）：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longitudinal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anova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具体参数使用：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https://amplicon-docs.qiime2.org/en/stable/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4925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73"/>
    </mc:Choice>
    <mc:Fallback xmlns="">
      <p:transition spd="slow" advTm="5673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3BC550E-EE58-331F-5F08-4A8492A0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B6B4-E4B2-43D1-9B13-CA298DB78E79}" type="slidenum">
              <a:rPr lang="zh-CN" altLang="en-US" smtClean="0"/>
              <a:pPr/>
              <a:t>43</a:t>
            </a:fld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77BD3A-5A73-F6F1-915E-11D6147CB345}"/>
              </a:ext>
            </a:extLst>
          </p:cNvPr>
          <p:cNvSpPr txBox="1"/>
          <p:nvPr/>
        </p:nvSpPr>
        <p:spPr>
          <a:xfrm>
            <a:off x="595312" y="3136612"/>
            <a:ext cx="11001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感谢观看</a:t>
            </a:r>
          </a:p>
        </p:txBody>
      </p:sp>
    </p:spTree>
    <p:extLst>
      <p:ext uri="{BB962C8B-B14F-4D97-AF65-F5344CB8AC3E}">
        <p14:creationId xmlns:p14="http://schemas.microsoft.com/office/powerpoint/2010/main" val="1072863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51"/>
    </mc:Choice>
    <mc:Fallback xmlns="">
      <p:transition spd="slow" advTm="4251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4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4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4.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4.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4.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4.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4.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4.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4.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4.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4.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4.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5459</Words>
  <Application>Microsoft Office PowerPoint</Application>
  <PresentationFormat>宽屏</PresentationFormat>
  <Paragraphs>638</Paragraphs>
  <Slides>43</Slides>
  <Notes>40</Notes>
  <HiddenSlides>0</HiddenSlides>
  <MMClips>1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49" baseType="lpstr">
      <vt:lpstr>等线</vt:lpstr>
      <vt:lpstr>等线 Light</vt:lpstr>
      <vt:lpstr>微软雅黑</vt:lpstr>
      <vt:lpstr>Arial</vt:lpstr>
      <vt:lpstr>Times New Roman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浩 薛</dc:creator>
  <cp:lastModifiedBy>浩 薛</cp:lastModifiedBy>
  <cp:revision>8</cp:revision>
  <dcterms:created xsi:type="dcterms:W3CDTF">2026-08-11T09:29:18Z</dcterms:created>
  <dcterms:modified xsi:type="dcterms:W3CDTF">2026-08-12T06:15:09Z</dcterms:modified>
</cp:coreProperties>
</file>