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tags/tag7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tags/tag10.xml" ContentType="application/vnd.openxmlformats-officedocument.presentationml.tags+xml"/>
  <Override PartName="/ppt/notesSlides/notesSlide13.xml" ContentType="application/vnd.openxmlformats-officedocument.presentationml.notesSlide+xml"/>
  <Override PartName="/ppt/tags/tag11.xml" ContentType="application/vnd.openxmlformats-officedocument.presentationml.tags+xml"/>
  <Override PartName="/ppt/notesSlides/notesSlide14.xml" ContentType="application/vnd.openxmlformats-officedocument.presentationml.notesSlide+xml"/>
  <Override PartName="/ppt/tags/tag12.xml" ContentType="application/vnd.openxmlformats-officedocument.presentationml.tags+xml"/>
  <Override PartName="/ppt/notesSlides/notesSlide15.xml" ContentType="application/vnd.openxmlformats-officedocument.presentationml.notesSlide+xml"/>
  <Override PartName="/ppt/tags/tag13.xml" ContentType="application/vnd.openxmlformats-officedocument.presentationml.tags+xml"/>
  <Override PartName="/ppt/notesSlides/notesSlide16.xml" ContentType="application/vnd.openxmlformats-officedocument.presentationml.notesSlide+xml"/>
  <Override PartName="/ppt/tags/tag14.xml" ContentType="application/vnd.openxmlformats-officedocument.presentationml.tags+xml"/>
  <Override PartName="/ppt/notesSlides/notesSlide17.xml" ContentType="application/vnd.openxmlformats-officedocument.presentationml.notesSlide+xml"/>
  <Override PartName="/ppt/tags/tag15.xml" ContentType="application/vnd.openxmlformats-officedocument.presentationml.tags+xml"/>
  <Override PartName="/ppt/notesSlides/notesSlide18.xml" ContentType="application/vnd.openxmlformats-officedocument.presentationml.notesSlide+xml"/>
  <Override PartName="/ppt/tags/tag16.xml" ContentType="application/vnd.openxmlformats-officedocument.presentationml.tags+xml"/>
  <Override PartName="/ppt/notesSlides/notesSlide19.xml" ContentType="application/vnd.openxmlformats-officedocument.presentationml.notesSlide+xml"/>
  <Override PartName="/ppt/tags/tag17.xml" ContentType="application/vnd.openxmlformats-officedocument.presentationml.tags+xml"/>
  <Override PartName="/ppt/notesSlides/notesSlide20.xml" ContentType="application/vnd.openxmlformats-officedocument.presentationml.notesSlide+xml"/>
  <Override PartName="/ppt/tags/tag18.xml" ContentType="application/vnd.openxmlformats-officedocument.presentationml.tags+xml"/>
  <Override PartName="/ppt/notesSlides/notesSlide21.xml" ContentType="application/vnd.openxmlformats-officedocument.presentationml.notesSlide+xml"/>
  <Override PartName="/ppt/tags/tag19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20.xml" ContentType="application/vnd.openxmlformats-officedocument.presentationml.tags+xml"/>
  <Override PartName="/ppt/notesSlides/notesSlide24.xml" ContentType="application/vnd.openxmlformats-officedocument.presentationml.notesSlide+xml"/>
  <Override PartName="/ppt/tags/tag21.xml" ContentType="application/vnd.openxmlformats-officedocument.presentationml.tags+xml"/>
  <Override PartName="/ppt/notesSlides/notesSlide25.xml" ContentType="application/vnd.openxmlformats-officedocument.presentationml.notesSlide+xml"/>
  <Override PartName="/ppt/tags/tag22.xml" ContentType="application/vnd.openxmlformats-officedocument.presentationml.tags+xml"/>
  <Override PartName="/ppt/notesSlides/notesSlide26.xml" ContentType="application/vnd.openxmlformats-officedocument.presentationml.notesSlide+xml"/>
  <Override PartName="/ppt/tags/tag23.xml" ContentType="application/vnd.openxmlformats-officedocument.presentationml.tags+xml"/>
  <Override PartName="/ppt/notesSlides/notesSlide27.xml" ContentType="application/vnd.openxmlformats-officedocument.presentationml.notesSlide+xml"/>
  <Override PartName="/ppt/tags/tag24.xml" ContentType="application/vnd.openxmlformats-officedocument.presentationml.tags+xml"/>
  <Override PartName="/ppt/notesSlides/notesSlide28.xml" ContentType="application/vnd.openxmlformats-officedocument.presentationml.notesSlide+xml"/>
  <Override PartName="/ppt/tags/tag25.xml" ContentType="application/vnd.openxmlformats-officedocument.presentationml.tags+xml"/>
  <Override PartName="/ppt/notesSlides/notesSlide29.xml" ContentType="application/vnd.openxmlformats-officedocument.presentationml.notesSlide+xml"/>
  <Override PartName="/ppt/tags/tag26.xml" ContentType="application/vnd.openxmlformats-officedocument.presentationml.tags+xml"/>
  <Override PartName="/ppt/notesSlides/notesSlide30.xml" ContentType="application/vnd.openxmlformats-officedocument.presentationml.notesSlide+xml"/>
  <Override PartName="/ppt/tags/tag27.xml" ContentType="application/vnd.openxmlformats-officedocument.presentationml.tags+xml"/>
  <Override PartName="/ppt/notesSlides/notesSlide31.xml" ContentType="application/vnd.openxmlformats-officedocument.presentationml.notesSlide+xml"/>
  <Override PartName="/ppt/tags/tag28.xml" ContentType="application/vnd.openxmlformats-officedocument.presentationml.tags+xml"/>
  <Override PartName="/ppt/notesSlides/notesSlide32.xml" ContentType="application/vnd.openxmlformats-officedocument.presentationml.notesSlide+xml"/>
  <Override PartName="/ppt/tags/tag29.xml" ContentType="application/vnd.openxmlformats-officedocument.presentationml.tags+xml"/>
  <Override PartName="/ppt/notesSlides/notesSlide33.xml" ContentType="application/vnd.openxmlformats-officedocument.presentationml.notesSlide+xml"/>
  <Override PartName="/ppt/tags/tag30.xml" ContentType="application/vnd.openxmlformats-officedocument.presentationml.tags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tags/tag31.xml" ContentType="application/vnd.openxmlformats-officedocument.presentationml.tags+xml"/>
  <Override PartName="/ppt/notesSlides/notesSlide36.xml" ContentType="application/vnd.openxmlformats-officedocument.presentationml.notesSlide+xml"/>
  <Override PartName="/ppt/tags/tag32.xml" ContentType="application/vnd.openxmlformats-officedocument.presentationml.tags+xml"/>
  <Override PartName="/ppt/notesSlides/notesSlide37.xml" ContentType="application/vnd.openxmlformats-officedocument.presentationml.notesSlide+xml"/>
  <Override PartName="/ppt/tags/tag33.xml" ContentType="application/vnd.openxmlformats-officedocument.presentationml.tags+xml"/>
  <Override PartName="/ppt/notesSlides/notesSlide38.xml" ContentType="application/vnd.openxmlformats-officedocument.presentationml.notesSlide+xml"/>
  <Override PartName="/ppt/tags/tag34.xml" ContentType="application/vnd.openxmlformats-officedocument.presentationml.tags+xml"/>
  <Override PartName="/ppt/notesSlides/notesSlide39.xml" ContentType="application/vnd.openxmlformats-officedocument.presentationml.notesSlide+xml"/>
  <Override PartName="/ppt/tags/tag35.xml" ContentType="application/vnd.openxmlformats-officedocument.presentationml.tags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tags/tag36.xml" ContentType="application/vnd.openxmlformats-officedocument.presentationml.tags+xml"/>
  <Override PartName="/ppt/notesSlides/notesSlide42.xml" ContentType="application/vnd.openxmlformats-officedocument.presentationml.notesSlide+xml"/>
  <Override PartName="/ppt/tags/tag37.xml" ContentType="application/vnd.openxmlformats-officedocument.presentationml.tags+xml"/>
  <Override PartName="/ppt/notesSlides/notesSlide43.xml" ContentType="application/vnd.openxmlformats-officedocument.presentationml.notesSlide+xml"/>
  <Override PartName="/ppt/tags/tag38.xml" ContentType="application/vnd.openxmlformats-officedocument.presentationml.tags+xml"/>
  <Override PartName="/ppt/notesSlides/notesSlide44.xml" ContentType="application/vnd.openxmlformats-officedocument.presentationml.notesSlide+xml"/>
  <Override PartName="/ppt/tags/tag39.xml" ContentType="application/vnd.openxmlformats-officedocument.presentationml.tags+xml"/>
  <Override PartName="/ppt/notesSlides/notesSlide45.xml" ContentType="application/vnd.openxmlformats-officedocument.presentationml.notesSlide+xml"/>
  <Override PartName="/ppt/tags/tag40.xml" ContentType="application/vnd.openxmlformats-officedocument.presentationml.tags+xml"/>
  <Override PartName="/ppt/notesSlides/notesSlide46.xml" ContentType="application/vnd.openxmlformats-officedocument.presentationml.notesSlide+xml"/>
  <Override PartName="/ppt/tags/tag41.xml" ContentType="application/vnd.openxmlformats-officedocument.presentationml.tags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tags/tag42.xml" ContentType="application/vnd.openxmlformats-officedocument.presentationml.tags+xml"/>
  <Override PartName="/ppt/notesSlides/notesSlide49.xml" ContentType="application/vnd.openxmlformats-officedocument.presentationml.notesSlide+xml"/>
  <Override PartName="/ppt/tags/tag43.xml" ContentType="application/vnd.openxmlformats-officedocument.presentationml.tags+xml"/>
  <Override PartName="/ppt/notesSlides/notesSlide50.xml" ContentType="application/vnd.openxmlformats-officedocument.presentationml.notesSlide+xml"/>
  <Override PartName="/ppt/tags/tag44.xml" ContentType="application/vnd.openxmlformats-officedocument.presentationml.tags+xml"/>
  <Override PartName="/ppt/notesSlides/notesSlide51.xml" ContentType="application/vnd.openxmlformats-officedocument.presentationml.notesSlide+xml"/>
  <Override PartName="/ppt/tags/tag45.xml" ContentType="application/vnd.openxmlformats-officedocument.presentationml.tags+xml"/>
  <Override PartName="/ppt/notesSlides/notesSlide52.xml" ContentType="application/vnd.openxmlformats-officedocument.presentationml.notesSlide+xml"/>
  <Override PartName="/ppt/tags/tag46.xml" ContentType="application/vnd.openxmlformats-officedocument.presentationml.tags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tags/tag47.xml" ContentType="application/vnd.openxmlformats-officedocument.presentationml.tags+xml"/>
  <Override PartName="/ppt/notesSlides/notesSlide55.xml" ContentType="application/vnd.openxmlformats-officedocument.presentationml.notesSlide+xml"/>
  <Override PartName="/ppt/tags/tag48.xml" ContentType="application/vnd.openxmlformats-officedocument.presentationml.tags+xml"/>
  <Override PartName="/ppt/notesSlides/notesSlide56.xml" ContentType="application/vnd.openxmlformats-officedocument.presentationml.notesSlide+xml"/>
  <Override PartName="/ppt/tags/tag49.xml" ContentType="application/vnd.openxmlformats-officedocument.presentationml.tags+xml"/>
  <Override PartName="/ppt/notesSlides/notesSlide57.xml" ContentType="application/vnd.openxmlformats-officedocument.presentationml.notesSlide+xml"/>
  <Override PartName="/ppt/tags/tag50.xml" ContentType="application/vnd.openxmlformats-officedocument.presentationml.tags+xml"/>
  <Override PartName="/ppt/notesSlides/notesSlide58.xml" ContentType="application/vnd.openxmlformats-officedocument.presentationml.notesSlide+xml"/>
  <Override PartName="/ppt/tags/tag51.xml" ContentType="application/vnd.openxmlformats-officedocument.presentationml.tags+xml"/>
  <Override PartName="/ppt/notesSlides/notesSlide59.xml" ContentType="application/vnd.openxmlformats-officedocument.presentationml.notesSlide+xml"/>
  <Override PartName="/ppt/tags/tag52.xml" ContentType="application/vnd.openxmlformats-officedocument.presentationml.tags+xml"/>
  <Override PartName="/ppt/notesSlides/notesSlide60.xml" ContentType="application/vnd.openxmlformats-officedocument.presentationml.notesSlide+xml"/>
  <Override PartName="/ppt/tags/tag53.xml" ContentType="application/vnd.openxmlformats-officedocument.presentationml.tags+xml"/>
  <Override PartName="/ppt/notesSlides/notesSlide61.xml" ContentType="application/vnd.openxmlformats-officedocument.presentationml.notesSlide+xml"/>
  <Override PartName="/ppt/tags/tag54.xml" ContentType="application/vnd.openxmlformats-officedocument.presentationml.tags+xml"/>
  <Override PartName="/ppt/notesSlides/notesSlide62.xml" ContentType="application/vnd.openxmlformats-officedocument.presentationml.notesSlide+xml"/>
  <Override PartName="/ppt/tags/tag55.xml" ContentType="application/vnd.openxmlformats-officedocument.presentationml.tags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8"/>
  </p:notesMasterIdLst>
  <p:sldIdLst>
    <p:sldId id="257" r:id="rId2"/>
    <p:sldId id="412" r:id="rId3"/>
    <p:sldId id="353" r:id="rId4"/>
    <p:sldId id="355" r:id="rId5"/>
    <p:sldId id="285" r:id="rId6"/>
    <p:sldId id="408" r:id="rId7"/>
    <p:sldId id="358" r:id="rId8"/>
    <p:sldId id="414" r:id="rId9"/>
    <p:sldId id="400" r:id="rId10"/>
    <p:sldId id="401" r:id="rId11"/>
    <p:sldId id="364" r:id="rId12"/>
    <p:sldId id="413" r:id="rId13"/>
    <p:sldId id="420" r:id="rId14"/>
    <p:sldId id="422" r:id="rId15"/>
    <p:sldId id="427" r:id="rId16"/>
    <p:sldId id="430" r:id="rId17"/>
    <p:sldId id="375" r:id="rId18"/>
    <p:sldId id="432" r:id="rId19"/>
    <p:sldId id="429" r:id="rId20"/>
    <p:sldId id="383" r:id="rId21"/>
    <p:sldId id="398" r:id="rId22"/>
    <p:sldId id="439" r:id="rId23"/>
    <p:sldId id="404" r:id="rId24"/>
    <p:sldId id="481" r:id="rId25"/>
    <p:sldId id="438" r:id="rId26"/>
    <p:sldId id="482" r:id="rId27"/>
    <p:sldId id="468" r:id="rId28"/>
    <p:sldId id="471" r:id="rId29"/>
    <p:sldId id="452" r:id="rId30"/>
    <p:sldId id="473" r:id="rId31"/>
    <p:sldId id="475" r:id="rId32"/>
    <p:sldId id="458" r:id="rId33"/>
    <p:sldId id="462" r:id="rId34"/>
    <p:sldId id="464" r:id="rId35"/>
    <p:sldId id="465" r:id="rId36"/>
    <p:sldId id="459" r:id="rId37"/>
    <p:sldId id="483" r:id="rId38"/>
    <p:sldId id="484" r:id="rId39"/>
    <p:sldId id="485" r:id="rId40"/>
    <p:sldId id="488" r:id="rId41"/>
    <p:sldId id="491" r:id="rId42"/>
    <p:sldId id="494" r:id="rId43"/>
    <p:sldId id="490" r:id="rId44"/>
    <p:sldId id="495" r:id="rId45"/>
    <p:sldId id="496" r:id="rId46"/>
    <p:sldId id="486" r:id="rId47"/>
    <p:sldId id="497" r:id="rId48"/>
    <p:sldId id="504" r:id="rId49"/>
    <p:sldId id="498" r:id="rId50"/>
    <p:sldId id="499" r:id="rId51"/>
    <p:sldId id="500" r:id="rId52"/>
    <p:sldId id="501" r:id="rId53"/>
    <p:sldId id="502" r:id="rId54"/>
    <p:sldId id="503" r:id="rId55"/>
    <p:sldId id="492" r:id="rId56"/>
    <p:sldId id="505" r:id="rId57"/>
    <p:sldId id="506" r:id="rId58"/>
    <p:sldId id="507" r:id="rId59"/>
    <p:sldId id="508" r:id="rId60"/>
    <p:sldId id="509" r:id="rId61"/>
    <p:sldId id="510" r:id="rId62"/>
    <p:sldId id="511" r:id="rId63"/>
    <p:sldId id="493" r:id="rId64"/>
    <p:sldId id="512" r:id="rId65"/>
    <p:sldId id="513" r:id="rId66"/>
    <p:sldId id="297" r:id="rId6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0447F1-515A-40AD-976D-F688464E28DC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57CD99-A7E1-483D-9BE8-A41EFC334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822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C2B3-77A8-2799-410D-DAA569A10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A050BE-299B-7885-E385-A7C839A07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57C5B4-7C1F-A8A7-BAF4-EEAC9254E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2FC22E4-B641-65B6-30C1-A471CEEB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6916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93216-5A1E-DCC4-8071-728DCC2D2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8A27AC-D2AB-6163-D730-825E36444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826EFF-D715-ADAC-6668-1A93111EA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F1B466-38E6-6DF9-4E83-B84CA337E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3276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4E6B4-DE6F-3AAC-F06F-2017082C4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9A8570-92DF-EF53-36B2-3365C965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D80EB30-D217-BEFB-97C6-D9D6FAA70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9C664D-9101-BAF3-8E1D-6E55CD568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1931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144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52F14-94C5-218F-EE5B-053C75300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97DA36-8D70-F6BD-3D3D-5BFE7F9E9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8ED7526-B2BD-D723-61D4-8DF81067F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428741-8FFE-9AE2-B5AB-CAF1303D4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77146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06F13-EB3D-1297-8037-CB6BFEA3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42CE32B-5A6D-7AEC-252E-57B3FDB0E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9AE756D-D588-1C58-7C5F-37DB7CA108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92ECE1-07D2-83E9-B5D9-07013C1E6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7325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A5B76-0A7D-BE86-82A5-B0194B5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E05B81-C62B-BBBA-5956-DB66E3BC7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4BDD623-C231-3E23-BF5D-5FE154345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3685CC-06A9-B365-F04B-00770EE048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4590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6530-58D8-143B-5336-58D2E2EAF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DCBE7F-C278-0721-6997-57C5EFC71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213A5-6670-ED09-2356-64979DF71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28E7E84-8E3E-3816-B000-488F0D365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62399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64477-A984-D051-180A-0B0CFB81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488E243-496B-8C19-0606-DABE51741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537905-4358-2A83-1039-C3C285102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442088-238F-E82E-2D9B-C206DD1DE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69994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C2E8-551A-2970-A219-62B093724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FBA4B5-7459-7B9A-610C-BD05AEF7E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BE23F3-914C-B498-3EEA-9988EAC49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D533F2-5B92-C0A7-A861-28BD692F3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0293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A0107-F403-C44C-8A76-5EE5430A3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72322F8-15C5-F39F-628D-B8C5D8DF7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6EE016-F0DC-1335-9DD2-858EF2527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0683C5F-B573-BC67-7543-6F69B12CD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64111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E5C7D-8201-E75C-EC95-CC16CDBC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B1C3EF-FFB8-8FE0-EB1F-4E3E92914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62E73C6-1243-CC30-B900-7770895DD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3811194-77AF-43A1-16C5-5096D8FDA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4839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665A5-9153-C4BB-0702-93C9C549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2F97BDF-6326-AF7A-7EB1-DD6281D75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7B3AE5-1B13-C783-5306-2F3C8F791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0EF27B-1E22-F4B4-E49F-ADAD78FFEB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93625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3D185-F350-4E01-4871-F80197C7A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654B2F-7931-D67F-EBE2-7952CAAB9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E1902-075E-5454-7153-36BC425E5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CF9194-485F-8784-76E2-58A06863C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62850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F6DE1-7D34-C49C-8135-D15BD3D75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5589577-A55A-D567-2237-D43764DF0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E9832F6-5AF5-0DA1-41E8-C2858CA40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61D87B-8FA4-E38F-EE00-71852A8271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7454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ACC90-16F0-1783-DB4C-0FA984DE6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3729A7A-BFED-52C3-6816-D5DF112AC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23E8CD-6FDC-B50E-C18B-24187B1D3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E551BE7-84E6-2C6D-DB9C-A51F7C8A9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4150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BAF4-4964-075B-C7C4-EA7057589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EAA0BDD-C697-9DE2-2BA8-A64DDEAE3C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D9AB52F-4083-C361-5847-79B9CC005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84A3B4-1FD5-96D1-826D-A6D7E5070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20823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8BABC-19AC-10FC-3BC9-F9B6EAD38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2D335A-30B7-F86E-453E-D671C480E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2C037-4241-17A8-46BD-1DA01BAE8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778D259-FC65-ABC5-C075-98B1426CE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19106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B51C2-AFF6-F0A3-3E6E-5EC82DA87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3D7B440-F3D5-D23B-FF0B-3C7778B92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4CF872-D347-8FB1-A711-4D13C87B6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050395-5272-46EF-4CB4-FB0ADD8BF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80376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F92C2-81C2-215A-A363-43D95B0FF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1948AB-B0F1-4F5C-10F0-010EC91A7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38DF56-1AA4-5E1F-9900-0A14FBA0A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8967DF-56F7-BBBD-96B8-035854340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0302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F27B8-3148-7B0A-87BE-263C05E5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528C0D-FEE4-62B1-03B0-490A97E50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50E499-F9A5-5815-CFC0-029B7651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D93D66-3F41-2547-49B2-3FC212FB3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47819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F7A9C-C1B2-122C-419B-3D3950BD1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25DA89-5B76-6943-C746-8EB1F0DEA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DEFB2-6B54-1DED-F244-2F5342FFB0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A1051D-4BE4-70CB-40A4-732CAE7A12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63356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6485-7C30-C99E-564F-BB86FE181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F6B831-686D-6BF5-720F-8BF91A94D0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18B92BB-8490-A8EC-82B8-8F709845E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798EC0-416B-0088-AFEC-47CAEFC60C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64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CF4E-2ABD-1348-EA5C-359220CAC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420DA6-B76E-DD56-3A9E-D9AF9ABBF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D0B898-FF39-E772-9DC7-CF547E5A7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A47DEB-0AE9-9405-5370-295691540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60211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01948-AB27-CA30-399B-7E6078A9A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9AD096-CF1A-F349-9E16-22CA1793E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7BCFCCB-FE7E-98F6-446D-738C5F33B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0C243C-FC4C-B7B6-F4FB-12A7A77759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4230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6FA5A-F43C-80CB-DAE0-5C880E663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A56B210-0EB4-E66B-16BB-7FF0B0088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1A6FC2-4311-40ED-047A-3E326E096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AF24E8-1E01-3076-F4B2-22FEEE468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84685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67CFF-9DDF-D1C6-3CED-33827786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FD5EC23-D924-68CB-A6CF-11DBB5B13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E4C3D5-C399-0338-2883-7D570FC21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A65A6A-5697-3168-E278-3A9FC32D56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25239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7A0BE-DADA-1552-E01E-FFEDD40CC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085112-0606-02EB-25E3-95E12DC0F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43A150-8BF7-8540-CB08-1B2BB13B0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B822E7-EF9E-A97B-EF47-C3DCC87D9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88386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11384-498D-379F-BE11-983404C85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08177D-15C9-648D-34DA-FD5326ED8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48C429-5867-B0C0-D228-BD3DB54C2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114EC0-18DA-422E-6792-B6586A2D3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1443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DB4C-276E-E21B-BCDD-A894D5E68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0B4CB6-960B-FFB0-FC3D-A69B04F51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8075F3-9A7F-E7A2-A1B3-D632EF9C2D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DD3CD77-9CC9-91E2-9C92-94CFE6C93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89446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87F9-347C-D4D8-16DD-16B49D53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AF6E739-BC06-B7A4-31DE-7FDB82D8C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7282AB-DFC6-4BDB-E3B2-3845A7A73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2A0847-35B9-F597-6DD6-F7BDCAD6CD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49117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3AA8-ADFD-6969-1AE5-6FABA220F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2261997-9930-0F7A-0369-F01027153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90E5E8-750F-5F24-23AA-3AFD2D977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EC8051-934A-F17D-109C-95926C632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16819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93355-F5FB-0764-0C32-D3EAB336D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13E649-E236-3234-3B44-1B150677C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4A9926-300E-9D48-01E6-78DBC9DEB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953EA3-39E2-1951-CDA0-9A43B9D10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24986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F58A1-C0A1-1809-73A8-D8829AF7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6565A34-A8A0-7DFE-A202-390E1ED8C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3569FD6-1B29-F4C0-6126-32653B6C4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B725B79-6B08-9641-1C3A-56FF5D9C7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165786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D38C1-084A-0EED-5E75-75AE9C7E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9BB641F-305C-A46D-3004-C34168B5B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7876F0-DBE8-1288-F0F8-4DF8187B3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41E02D-2509-BFCF-4BC5-A20133903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92777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7D88-33EE-83A3-418C-E3B08CDB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0E0658D-67F1-7F92-C522-4684DAC220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8D5A062-8DB4-9971-DC0B-F6663E081B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2B7183-4C93-A1B5-34D8-3ABF5D168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20871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BA1D3-1C7B-5DAE-8BFA-AFC339790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5B4EAF8-62FC-7891-4039-23D7BD67E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B196E-F6A1-1B52-FF0B-FE8C5472E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37ABCC-F9E3-B7D6-0DCA-DF62FB73FE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16623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ACA7C-7AB1-AC9B-1204-28645F870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CF5729-F228-C6D7-2CC4-4D3220EA2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AB186C-728F-22AC-9733-98A23836F0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C7561E-9EE8-579F-E3DC-8A095EB59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28250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F152-0F68-9034-C714-F69210393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6D4CA7C-AF62-EB68-6B08-54D63E006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DEE833F-89F7-B46F-99E9-D63043D17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A60C9EE-01F8-67C7-F9C4-DD1020E6A0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122185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65043-8EE0-49D5-B1AC-26866CBC0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AB82456-42A8-782A-0E0B-6E7D33CF7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108C17C-A70B-5F07-CAB9-0F2DECB2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4898BB-8574-BFD9-5E47-733864CE9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331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DD2C-8478-1343-2B90-5A1EE31EB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2078946-69C9-F4B0-6048-2DCC43D31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71399BF-72FE-D385-F046-D916183B5E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BB3F16-035F-E1C4-AD69-7ECEEFCBD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301302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1EDA6-3626-B954-8F5C-598F12092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8C1205-0A35-5D9E-F53B-D2E6CE4D2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D021CD-67C9-D205-2F5E-FDDA0113A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FD5B43-3A69-BCB6-6778-4569A3606A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888707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E825A-BEC2-B1FF-E563-BC540C34E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E258ECA-2BA1-3BF6-A10E-AB8CA7E80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0C8943-5EDE-2E4F-661A-38D200686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38A08C-50DD-CABF-D574-6A688A02AC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53258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5B92E-C323-EF01-1E15-ADB3BE65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31FFB4-F913-60C2-311F-6761EF500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B57BAB-4E0C-45BF-F23E-BF83D4FC5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7EDDA2-785B-A6FA-1CE3-EF221A510B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70926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1AB87-1A31-0E28-7336-FBCB9766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4A7E236-629C-F551-BD36-77585606C8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875FEF3-45D8-2F01-6808-74525453F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BD23A8-ED8D-849B-CAB8-165455123C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973488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B7F80-D766-7818-CC2F-7AFA57920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697E272-D38B-B610-C364-2E732B0AA7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25CE90-18A3-3372-A1A4-B8939790A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506DD8-D174-0B26-EA66-DDB026E0E0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575945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A9790-AD45-DC8F-3BDD-25EAA25F7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92932B3-3698-2C57-F69F-2DD43B569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A6F8B4-22CD-02AA-735D-B7E6F9C275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399621-B10E-7374-FFD9-C352D0203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027485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388E0-B827-E3D7-29CB-756FDB1CE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CB2EFC2-94EA-861F-9697-2C82A741A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7C487C6-81D3-A0A1-0C8A-1BDF838E3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73A2FCB-3113-36FF-B878-097A7AA0F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140625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BE0EB-6648-ABAB-2E13-1189F1CAE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B70DC75-C6EA-E0A6-5392-86311081C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D1D2487-880D-D3D0-EEB4-3F36BCEC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DCD3FB-BB09-21DC-F15E-4B52393C70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76034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A360-9298-8846-1DBB-3E3CBE90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286C32A-10EF-3527-E1CB-2683F9DE3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3CB9505-7FFE-3699-F816-0DCC6887E4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6CBEAE-36CF-3E81-448C-F9FB1859B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047679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DE4EA-CCB1-67A3-F1F2-A5A0848B0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896EE97-DF2B-062E-DB15-6E34E3671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85FD0D5-BAEA-87FC-BE30-3EECCB8FD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25B4FD-A23B-D90B-E056-C16B5BB81A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103914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E64F3-3A34-E9DD-38EC-ADD567678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183974F-17F6-07ED-8109-E8D8EB388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BA75B02-A73C-83F6-9051-1A4288633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1D0E085-9529-1734-596C-8CE6B95AE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521539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C4F9F-AB10-AEBD-0157-52DC690D4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94917A1-D85F-B742-9FFE-B622D27312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7B13DEF-0F0D-5D81-3CF7-F9A556F490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98B02C-AD21-74FD-2EF8-779C9E680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6988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9AD24-165F-E0F7-6287-9BF364E8B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CFCCEF-2F49-5349-289F-537228F92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8575D1-543B-3555-ED75-D8D5FDF20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5E71F-6939-414C-BD31-6CEAF88FF45E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510BD1-F516-E8CE-DF37-2A117C742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218F14-9A8D-DE68-7AE2-6A9BEBD8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5128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0DD1D1-C75F-4B28-A93A-AAC868221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2AFFCC-B34E-21FE-81A3-CB6DE7276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1090AB-61D5-8720-FB04-9511A6F1A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BBE94-0B50-4834-8370-0A5AC5521CB7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5BCF9D-34E7-9773-7825-20FFC846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A4491C-30AA-6567-47A7-2DEB37BB7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06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98DFF-6DBD-432D-BBEA-829BE4E0D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7EDD09-AECE-08AD-FC58-7F38181D4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176AA6-1061-F39A-44D2-B317C21EB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326D8-7161-4444-A7B5-98302CD3B4FE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C43694-C7EF-A6D1-D9DE-1B58B3D6F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879E7D-7685-FB46-1EE4-88D6B9C8B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943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BBA72B-E0B6-F339-D089-9E9959111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1DA96E-61D1-9228-F65E-3C936F502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C3EB93F-CEA3-D8D7-8A62-2DA5A03F90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A0BFC0-5391-C499-504D-30FD12FB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6384-DD9F-4B06-9C40-A026C1023E8B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C96270-CA95-893E-1987-E09C54DC6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8BE5B0-C100-FCD2-FB1F-509CB4CE2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945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76DBC3-9566-EA2F-149E-E0AD44553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AC825E-2250-A2B0-3B14-70D110967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9B32BD-D688-5309-1926-062B44918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9014FC6-7955-67AF-961D-356F6712E3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CAC9F6B-C11B-9BF6-D662-794D533A3C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EC9BB6-AD40-9D29-A445-39D1BD49D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C7A48-5ED2-41E6-9A8A-F94D211D872B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DADAB8B-4D91-D752-45DF-D52E6DB2E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86F0B29-A065-429C-6177-C68F25B7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606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5F36CC-3CC6-CCAD-6B08-B1F5D6EFA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7EB9A6D-310D-3081-DC0A-03C60D47C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DC21A-449E-4CD3-AFA7-F53373306E15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4DABA8-87BB-7B55-3E1A-286531B27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B1886CA-87C3-3D58-3DC7-0FB6E71CB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92727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D6FA-14EC-4B80-B1E0-DDF3F535C189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A3AEEF2-E485-B873-0B98-2EAC3A8FF74A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4172301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1FB30A-193F-5228-678A-90754B650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DDB0F-6DA5-CB58-587B-BD18EA6DE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EF7EF3E-6468-24B0-D7CD-850CE0F9B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B37C5F-808D-11DA-0E65-5972E68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2E1E-0099-47AA-A182-A849DCB81AD5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11BF31-06C9-F073-EAC0-7140FCABB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1802C8-73F3-CC59-93AC-EDD3565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0126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1C16D0-184A-F659-70BD-E0E3BC9B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D778F01-EE0D-05D7-C666-12974D3FB7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52F40F-A2D4-94E8-0980-46449DEF4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4AD412-08D3-9AD4-ECF4-F84495817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0F1B5-82FE-491B-A756-21ED348B517B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230F88-5A1C-BDEC-DB8B-65387FB3A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491A03-FAC4-90E0-BD84-047712C05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06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A1D4AF-F46A-C921-9863-056204E15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EF078C-F069-9D55-F3F9-BA0183325F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B73537-991C-FA66-2093-1D1BA684F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7A156-5968-4164-862B-986608806F2C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C79D6E-F511-4720-DC68-6763E9707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9B2DC6-E276-0E18-80E3-B563DE26C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13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2CD6FA-14EC-4B80-B1E0-DDF3F535C189}" type="datetime1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2026/8/18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F95B4BC-3074-A8BE-2382-AFF93A4CB12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526971"/>
            <a:ext cx="12192000" cy="33102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101EBB1F-6D9F-F4A2-A571-00D31384FF62}"/>
              </a:ext>
            </a:extLst>
          </p:cNvPr>
          <p:cNvSpPr txBox="1"/>
          <p:nvPr userDrawn="1"/>
        </p:nvSpPr>
        <p:spPr>
          <a:xfrm>
            <a:off x="3453737" y="6561680"/>
            <a:ext cx="5284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生物信息学教学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| 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地上飞猪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| E-mail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studid@163.com</a:t>
            </a:r>
            <a:endParaRPr kumimoji="0" lang="zh-CN" altLang="en-US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06646B9-A0D9-DD3D-0A3D-DFEBDDFBB41B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2673149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813FDC-CA08-E093-1ED9-9DED664AC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D740681-7837-3737-B767-EBFA8D5D3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ACF84F-E193-AF2A-E894-E901C7D7A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D45D8-F34D-4E14-BB68-8B203452FFF0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FFE64B-ED11-025A-62E1-06836A14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BF0CF9-3CEF-4176-F46B-3719932D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974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6F8A608-86F0-AE62-4C22-692999A4E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B64499-4B3F-6A20-76DE-E0114E7E0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0507A-5134-2D1A-1631-8F83401AF4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5AFBAA-B4B9-4901-A71A-C2527D37FAB5}" type="datetime1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4BE2BF-23B4-0A53-8559-60ED173D4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509840-5F13-931E-724A-E32CEFCBD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4060" y="636746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71881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audio" Target="../media/media2.m4a"/><Relationship Id="rId2" Type="http://schemas.microsoft.com/office/2007/relationships/media" Target="../media/media2.m4a"/><Relationship Id="rId1" Type="http://schemas.openxmlformats.org/officeDocument/2006/relationships/tags" Target="../tags/tag40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46.xml"/><Relationship Id="rId4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0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F61DC8B8-CF3A-8383-9872-9A9F51E5FBBE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16S</a:t>
            </a: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扩增子分析全</a:t>
            </a:r>
            <a:r>
              <a:rPr kumimoji="0" lang="zh-CN" altLang="en-US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流程逐步演示（流程脚本）</a:t>
            </a: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044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AB1-541F-F4A2-DC3A-9981606E6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FA42D40-417A-0504-2113-D06CCFCEB795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56F31C7-9496-2DED-21B4-C744941DC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EB88E-DDD8-95ED-B297-1919BE591B30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Ⅰ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示例数据下载（不需要可跳过）</a:t>
            </a:r>
          </a:p>
        </p:txBody>
      </p:sp>
    </p:spTree>
    <p:extLst>
      <p:ext uri="{BB962C8B-B14F-4D97-AF65-F5344CB8AC3E}">
        <p14:creationId xmlns:p14="http://schemas.microsoft.com/office/powerpoint/2010/main" val="775091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53DE-DC84-D33B-32AE-E6FE0A766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5FA086E-4987-C329-22C3-9FEFE49593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Metadata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38E71F0-28B2-92AD-691C-5D4933EE85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598235-C61E-BC5A-5EFC-7FE9EFA84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A3F29FE-8586-B739-8CD9-BD8A8397BFD3}"/>
              </a:ext>
            </a:extLst>
          </p:cNvPr>
          <p:cNvSpPr txBox="1"/>
          <p:nvPr/>
        </p:nvSpPr>
        <p:spPr>
          <a:xfrm>
            <a:off x="334403" y="1192976"/>
            <a:ext cx="1152319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替换下方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project 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https://www.ncbi.nlm.nih.gov/Traces/study/?acc=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PRJNA1011244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5116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EA61-10AE-97C6-1D61-DE98ABBE2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0EEED92-5F95-71D7-0A25-6A2D1945F27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示例数据：下载数据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02CFE00-D9B5-F265-0052-1DADBB023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88E0B5-A6AB-0285-47ED-F97F79F4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55EEB5-9EDC-8D4B-58BC-0A4ED025AF58}"/>
              </a:ext>
            </a:extLst>
          </p:cNvPr>
          <p:cNvSpPr txBox="1"/>
          <p:nvPr/>
        </p:nvSpPr>
        <p:spPr>
          <a:xfrm>
            <a:off x="334404" y="1725010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需要安装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-tools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，单独下载替换下边的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编号即可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fasterq-dump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SRR25825413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批量下载，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sra_ids.txt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编号列表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bash -c "cat sra_ids.txt |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xargs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-n 1 -P 8 -I {}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'fasterq-dump --split-3 -e 2 -t /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tmp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./00RawData {} &amp;&amp;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gzip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./00RawData/{}*.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'" &gt; download.log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7669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E7D7B8B-6D1D-BA63-249B-B9BE6309136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22374D9-C02B-1CD1-D5EA-410DF4EE5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9B4D55-D768-F94D-1DDC-82A726BC5EA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Ⅱ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准备工作</a:t>
            </a:r>
          </a:p>
        </p:txBody>
      </p:sp>
      <p:pic>
        <p:nvPicPr>
          <p:cNvPr id="8" name="音频 7">
            <a:hlinkClick r:id="" action="ppaction://media"/>
            <a:extLst>
              <a:ext uri="{FF2B5EF4-FFF2-40B4-BE49-F238E27FC236}">
                <a16:creationId xmlns:a16="http://schemas.microsoft.com/office/drawing/2014/main" id="{B85A1DD5-0713-5EC7-CF0B-7B50A4B008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203125" t="-203125" r="-203125" b="-20312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523882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8185F8F-829B-B7CF-2182-D9E113A7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D9ABE65-58BD-D1E0-5C47-C5733C38A4B6}"/>
              </a:ext>
            </a:extLst>
          </p:cNvPr>
          <p:cNvGraphicFramePr>
            <a:graphicFrameLocks noGrp="1"/>
          </p:cNvGraphicFramePr>
          <p:nvPr/>
        </p:nvGraphicFramePr>
        <p:xfrm>
          <a:off x="3044481" y="1636739"/>
          <a:ext cx="5638166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380">
                  <a:extLst>
                    <a:ext uri="{9D8B030D-6E8A-4147-A177-3AD203B41FA5}">
                      <a16:colId xmlns:a16="http://schemas.microsoft.com/office/drawing/2014/main" val="2431581903"/>
                    </a:ext>
                  </a:extLst>
                </a:gridCol>
                <a:gridCol w="1629093">
                  <a:extLst>
                    <a:ext uri="{9D8B030D-6E8A-4147-A177-3AD203B41FA5}">
                      <a16:colId xmlns:a16="http://schemas.microsoft.com/office/drawing/2014/main" val="3532408828"/>
                    </a:ext>
                  </a:extLst>
                </a:gridCol>
                <a:gridCol w="2619693">
                  <a:extLst>
                    <a:ext uri="{9D8B030D-6E8A-4147-A177-3AD203B41FA5}">
                      <a16:colId xmlns:a16="http://schemas.microsoft.com/office/drawing/2014/main" val="361296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QIIME2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scikit-learn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分类器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6178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待发布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-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993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1.7.1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Silva</a:t>
                      </a: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数据库（不好打开）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86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1.7.1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数据库（不好打开）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250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81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82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080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3542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26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2024.5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937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5569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2023.9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1765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953324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88EC63D8-4729-068B-37B3-14D9AB1F3DFB}"/>
              </a:ext>
            </a:extLst>
          </p:cNvPr>
          <p:cNvSpPr txBox="1"/>
          <p:nvPr/>
        </p:nvSpPr>
        <p:spPr>
          <a:xfrm>
            <a:off x="3425236" y="1075607"/>
            <a:ext cx="487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版本与预训练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16S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分类器兼容性对照表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047065-BDB4-1C43-D13D-9CC57A79F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DA9C35-FE89-2F99-C8BC-E06E53E1452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2297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550-37E0-33B8-43F3-5C4B8A9A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39E52D4-FD89-2BB1-07FA-B56D51DF5E4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136135B-BA83-14E7-F5A0-E452D35FF65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570ED04-9436-260B-5742-58908A801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F5CD11D-EDB5-2BB7-01AB-D7C671829853}"/>
              </a:ext>
            </a:extLst>
          </p:cNvPr>
          <p:cNvSpPr txBox="1"/>
          <p:nvPr/>
        </p:nvSpPr>
        <p:spPr>
          <a:xfrm>
            <a:off x="334404" y="1013814"/>
            <a:ext cx="11523191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6513B0D-DDF7-184F-FED0-74990EA19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0900" y="2190639"/>
            <a:ext cx="5518420" cy="44826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9927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B5BF5-0BFB-5942-4C9B-065497F96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C1B1A12-0D4B-5123-1CF7-EC19A8D6E6B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BE3A7B5-3154-3428-E3A8-C4B9EADF1B7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9354C62-9896-C9E7-7FC0-73EDD56EF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D07658-971C-4488-82BE-D93503B66675}"/>
              </a:ext>
            </a:extLst>
          </p:cNvPr>
          <p:cNvSpPr txBox="1"/>
          <p:nvPr/>
        </p:nvSpPr>
        <p:spPr>
          <a:xfrm>
            <a:off x="334404" y="1192976"/>
            <a:ext cx="11523191" cy="53860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参考官方文档：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无法读取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文件代理网页，或者手动从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到本地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https://gh-proxy.org/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codna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运行太慢，可以使用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版本太新依赖文件找不到，可以下载旧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稳定版本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/amplicon/released/qiime2-amplicon-ubuntu-latest-conda.yml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4079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BA02D-9ED4-9C3D-3CF6-6FD2C3F28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878FAB6-A7C4-EF1B-BB76-B6F5079765B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第二步：下载分类器（如需）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96EC2C-6230-B303-3483-0417C1EF9F06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42D9DA8-3B3F-367D-50B7-20806EFC8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774CB4-8131-4498-C606-465963D2AECF}"/>
              </a:ext>
            </a:extLst>
          </p:cNvPr>
          <p:cNvSpPr txBox="1"/>
          <p:nvPr/>
        </p:nvSpPr>
        <p:spPr>
          <a:xfrm>
            <a:off x="334404" y="1005127"/>
            <a:ext cx="11523191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#16S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注意下载的分类器版本要与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版本对应。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https://data.qiime2.org/classifiers/sklearn-1.4.2/silva/silva-138-99-nb-classifier.qza&amp;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https://data.qiime2.org/2024.2/common/silva-138-99-nb-classifier.qza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99604917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61009-7878-74DD-C566-2D776AFC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DD7A8B-08D3-9D73-3A56-DB4F7BBAA2E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第二步：下载分类器（如需）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3EC933A-B799-359D-C1ED-F2C0D11B40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3D63227-88A3-AE80-E8E0-EEED1185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9CDFC4-E559-776C-8898-42886F6067ED}"/>
              </a:ext>
            </a:extLst>
          </p:cNvPr>
          <p:cNvSpPr txBox="1"/>
          <p:nvPr/>
        </p:nvSpPr>
        <p:spPr>
          <a:xfrm>
            <a:off x="334402" y="1098947"/>
            <a:ext cx="11523191" cy="6155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UNITE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https://unite.ut.ee/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（建议有条件从官网下载）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ITS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https://github.com/colinbrislawn/unite-train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76413906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27544-0781-4263-CB19-AB620DFE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7D72F02-1DBB-AAB0-4EF2-944FFE49675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第三步：准备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manifest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文件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9911601-FB8C-FBCB-D923-EEAE1DB433B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BFA430F-AE5F-5119-80A2-07355965E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746B26-2578-CE25-DA0F-6622AEFCB7B7}"/>
              </a:ext>
            </a:extLst>
          </p:cNvPr>
          <p:cNvSpPr txBox="1"/>
          <p:nvPr/>
        </p:nvSpPr>
        <p:spPr>
          <a:xfrm>
            <a:off x="334404" y="1394645"/>
            <a:ext cx="11523191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首先准备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，可以使用下边的命令快速整理文件路径，第一列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sample-id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应当是样本名称。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红色部分按照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文件命名规则修改。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你也可以在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excel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中完成修改。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"sample-id\tforward-absolute-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treverse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=${f%_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}; echo -e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tabsolute-filepath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echo -e "${f%.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3997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DAF29-3E2D-26B0-98AB-EB18F0D91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188E6EC-6AD1-DCAA-902A-008D0CCE8009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E0AF8EC-D79F-1545-046D-C6A4E75B9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3172B7-D6A6-258D-32E4-79D1CF6EA3E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Ⅲ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上游数据分析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396229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2FE1-2C24-1E00-E82F-B78086E2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BD10A58-03B1-DABE-DE8E-03CB1D1EEAF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FD92E2-2CFA-5152-8373-35689DB7B13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C03A839-26EB-12EC-0DDF-84E2413D3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F2F488C-AF9F-7172-63AF-F14A1F91203A}"/>
              </a:ext>
            </a:extLst>
          </p:cNvPr>
          <p:cNvSpPr txBox="1"/>
          <p:nvPr/>
        </p:nvSpPr>
        <p:spPr>
          <a:xfrm>
            <a:off x="334404" y="1394645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PairedEndFastqManifestPhred33V2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SingleEndFastqManifestPhred33V2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4112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6E4BD-D4B3-D918-B00B-877FEBD3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CA8922B-DCBA-7E4E-86CF-AE48DA6FC63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53510D3-88CD-B815-B3BB-BCC83D1C1EC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A52B481-6D00-DE53-CB18-E35444B8F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0C65709-CDCC-AAA7-A3A0-D664E3F06582}"/>
              </a:ext>
            </a:extLst>
          </p:cNvPr>
          <p:cNvSpPr txBox="1"/>
          <p:nvPr/>
        </p:nvSpPr>
        <p:spPr>
          <a:xfrm>
            <a:off x="334403" y="4107391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查看数据质量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将红色部分替换为刚才输出的文件名称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01RawDemux_summary.qzv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60873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631C-B729-ACC6-23F5-F044DC316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56B74BA-15FD-6967-B000-BC77B987385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第二步：去引物（如需）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3311D3A-92EF-0740-2818-C0F880B9A2F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664BE0A-2B99-4175-AEA0-F5A17D0D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3B6F0D1-3AB1-2148-C3FD-BE2A6305DBC1}"/>
              </a:ext>
            </a:extLst>
          </p:cNvPr>
          <p:cNvSpPr txBox="1"/>
          <p:nvPr/>
        </p:nvSpPr>
        <p:spPr>
          <a:xfrm>
            <a:off x="320549" y="1296125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如果去除引物了可以再进行一次质量评估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01CutadaptDemux_summary.qza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1C1C1C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如果没有去接头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引物后续直接使用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文件继续分析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30236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6BDC-3940-72F4-5622-9791D23E0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BCA767F-CAF1-9396-4265-F35247C9ED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0751D25-BF3C-7725-4F28-57771FC1A85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6DC6EA87-A411-4A8B-EBC0-013E81D8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C9A9BE-32ED-FD43-F28D-2C6A2AEEE25D}"/>
              </a:ext>
            </a:extLst>
          </p:cNvPr>
          <p:cNvSpPr txBox="1"/>
          <p:nvPr/>
        </p:nvSpPr>
        <p:spPr>
          <a:xfrm>
            <a:off x="334404" y="1009980"/>
            <a:ext cx="11523191" cy="5355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如果进行了去接头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引物：将导入文件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可以根据选择的导入文件的评估报告设定截断阈值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denoise-paired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280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--p-trim-left-f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--p-trim-left-r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denoise-single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250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539294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01E8C-FDA9-ED58-3568-390AAF83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A35CBE2-3EE9-B398-0E2B-D12DB7280A6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843751D-8B04-BFFB-6290-9057B33C551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C7E4284-00C1-5074-4CF2-2B43C0ED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557EBA-53DF-F3F8-3751-0431FFFEE297}"/>
              </a:ext>
            </a:extLst>
          </p:cNvPr>
          <p:cNvSpPr txBox="1"/>
          <p:nvPr/>
        </p:nvSpPr>
        <p:spPr>
          <a:xfrm>
            <a:off x="334403" y="1088538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注意事项：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根据质量分数确定截断值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可以找到中位数开始跌破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Q20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或者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Q30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的位置作为截断值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也可以自己设定阈值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--p-n-threads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可以设置线程数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 &gt; 02DADA2.log 2&gt;&amp;1 &amp;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A176398-83E4-54FF-215E-86B368BECF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173" y="1178324"/>
            <a:ext cx="3413170" cy="149668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347508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697BE-8B82-F846-E3F4-CB2533B3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2B5AFF-D15C-1107-AF5B-96FE409D5CB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4C69CC9-6AE4-DFD1-46F0-61BED813FEF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085AB1-A67F-6803-151D-A6E1E5A9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3D83FA-534C-7048-A616-B08E42571AE1}"/>
              </a:ext>
            </a:extLst>
          </p:cNvPr>
          <p:cNvSpPr txBox="1"/>
          <p:nvPr/>
        </p:nvSpPr>
        <p:spPr>
          <a:xfrm>
            <a:off x="334403" y="1088538"/>
            <a:ext cx="1152319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使用示例数据运行一个多小时，建议挂后台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 &gt; 02DADA2.log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07404740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12A60-5F05-71F4-A03F-E6A74270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2CA53DA-8A47-E782-D638-7F0D3350933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81871D1-52BF-9A9D-BF24-4DDD3D0E795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748D5F0-326F-516B-B674-BFF29B840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74D2DC5-6746-85E6-4066-CAC4209E73A3}"/>
              </a:ext>
            </a:extLst>
          </p:cNvPr>
          <p:cNvSpPr txBox="1"/>
          <p:nvPr/>
        </p:nvSpPr>
        <p:spPr>
          <a:xfrm>
            <a:off x="320549" y="1397730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figaro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可以计算截断值（注意去噪时使用未去接头的文件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https://www.jianshu.com/p/66ebd1d4558a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软件链接：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安装方法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 clone 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pip3 install –r requirements.txt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已经去除引物的数据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选项指定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，没有可以指定引物长度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指定扩增子长度（不含引物接头，如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V3-V4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区长度大概为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  bp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指定测序文件名格式：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XXX_1.fastq.gz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下机数据指定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指定错误可能会报错，你可以尝试指定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zymo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keriksson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fvieira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yzhang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如果报错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-n figaro --file http://john-quensen.com/wp-content/uploads/2020/03/figaro.yml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python $SOFTWARE/figaro/figaro.py -i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1 -r 1 -a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nononsense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6DB36D-24A4-82B3-9B17-9BE0DA930BEB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C2384B-FBB5-761C-0CFA-D3177387D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904" y="1837556"/>
            <a:ext cx="5085714" cy="22952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05544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E70CA-4A74-7DE5-72FC-C21ABFAD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CE8A70-69F7-F40D-6B42-62C8B7555F7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EE1EF56-9638-D574-FD98-18EADB325A9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D49E2CE-F42D-2FF1-6D86-F8568630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B488E2-BE9F-AD81-8675-E0E1ED3961BE}"/>
              </a:ext>
            </a:extLst>
          </p:cNvPr>
          <p:cNvSpPr txBox="1"/>
          <p:nvPr/>
        </p:nvSpPr>
        <p:spPr>
          <a:xfrm>
            <a:off x="294740" y="1043684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ASV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ASV_TableSummary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ASV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tabulate-seqs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02DADA2/ASV_RepSeqs.qzv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3.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denoising_stats.qza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denoising_stats.qzv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4.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碱基转换统计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base_transition_stats.qza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base_transition_stats.qzv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B50DF4-4CEE-D5CA-F618-FAFF8BE6EC9F}"/>
              </a:ext>
            </a:extLst>
          </p:cNvPr>
          <p:cNvSpPr txBox="1"/>
          <p:nvPr/>
        </p:nvSpPr>
        <p:spPr>
          <a:xfrm>
            <a:off x="4934000" y="1600021"/>
            <a:ext cx="6743354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对于单端测序也可以使用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deblur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双端测序可以进行双端合并使用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deblur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去噪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16s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可以使用内置数据库：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denoise-16S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其他扩增子可以自定义数据库：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denoise-other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https://blog.csdn.net/weixin_44264742/article/details/135777553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官方文档：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https://amplicon-docs.qiime2.org/en/stable/references/plugins/deblur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3F02-9759-6FB5-5BE9-DF663DD2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3F00EC6-367D-41BD-C348-34F14CB3790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聚类（可选）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D6C14D1-BD9E-BBED-CA47-1CA291E14C7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213492E-7BD7-88AB-6206-A6D4B713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6389A7-4A71-4B87-4915-DD9C9C97528D}"/>
              </a:ext>
            </a:extLst>
          </p:cNvPr>
          <p:cNvSpPr txBox="1"/>
          <p:nvPr/>
        </p:nvSpPr>
        <p:spPr>
          <a:xfrm>
            <a:off x="334404" y="1102313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有研究使用将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进行聚类生成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进行扩增子分析，但是目前认为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比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的分辨率更高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后续建树、多样性等分析流程基本一致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可以考虑是否进行该步骤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--p-perc-identity 0.97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相似度阈值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vsearch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cluster-features-de-novo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02DADA2/representative_sequences.qza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--p-perc-identity 0.97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--p-strand plus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--p-threads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--o-clustered-table 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--o-clustered-sequences 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OTU_representative_sequences.qza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02DADA2/OTU_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TableSummary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tabulate-seqs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02DADA2/OTU_representative_sequences.qza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02DADA2/OTU_RepSeqs.qzv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3221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AB235-A499-6578-AF0F-BF6F4B6A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AC75D4-E592-36C2-24B2-C465546CA3D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第五步：低数据量样本过滤（可选）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792863-4CED-451A-B042-E6EFB28A18F3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ACA565-A3C6-7B1E-4AD6-2D1B9574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3E523D8-A4BB-35DD-E5A3-8FAFD66737BD}"/>
              </a:ext>
            </a:extLst>
          </p:cNvPr>
          <p:cNvSpPr txBox="1"/>
          <p:nvPr/>
        </p:nvSpPr>
        <p:spPr>
          <a:xfrm>
            <a:off x="334404" y="1102313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可以备份一下原来的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cp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old_metadata.tsv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建立新的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文件：可以使用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vim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编辑，或者在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excel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中删除低数据量的样本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整理完成之后进行下面的操作：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创建文件夹存放过滤后的数据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mkdir 03FilteredData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对于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filter-samples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03FilteredData/ASV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_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FilterSamplesTable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（不演示）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filter-samples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02DADA2/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OTU_table.qza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OTU_FilterSamplesTable.qza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31212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CABED-7EBC-EDD3-9925-051155AE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2B5C73-588C-0046-7420-0F243194901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第六步：低丰度序列过滤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FD65F1F-C67F-0AFC-A9E9-4A185F49381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C3AA626-F93D-5815-F31F-414A78E1E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D36BCB-BD2D-B66B-FB86-B9D812F386B3}"/>
              </a:ext>
            </a:extLst>
          </p:cNvPr>
          <p:cNvSpPr txBox="1"/>
          <p:nvPr/>
        </p:nvSpPr>
        <p:spPr>
          <a:xfrm>
            <a:off x="334404" y="1625957"/>
            <a:ext cx="11523191" cy="42780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低丰度过滤：将总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reads&lt;10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（这个数值可以根据需求修改）的序列过滤掉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如果进行了第五步的低数据量过滤，输入过滤后的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03FilteredData/ASV_FilterSamplesTable.qza 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ASV_CleanTable.qza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OTU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OTU_FilterSamplesTable.qza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81BC18A-4F6F-0642-26F5-0DD9D47DA295}"/>
              </a:ext>
            </a:extLst>
          </p:cNvPr>
          <p:cNvSpPr txBox="1"/>
          <p:nvPr/>
        </p:nvSpPr>
        <p:spPr>
          <a:xfrm>
            <a:off x="6418200" y="2118400"/>
            <a:ext cx="52960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如果没有输入之前的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注意如果没有创建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03FilteredData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02DADA2/table.qza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--i-table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02DADA2/OTU_table.qza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OTU_CleanTable.qza</a:t>
            </a:r>
            <a:endParaRPr lang="zh-CN" altLang="en-US" sz="20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5109375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EEE58-BAFE-6962-75FA-A2803883E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9919671-A542-8154-3264-7058D888D0E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第六步：低丰度序列过滤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E134702-9F70-F70D-1006-D500F81FB7F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7647C62-0FB5-18C2-38C1-AE5F67133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F065FAB-58D5-AB4D-5AC1-210E5C6C6DDB}"/>
              </a:ext>
            </a:extLst>
          </p:cNvPr>
          <p:cNvSpPr txBox="1"/>
          <p:nvPr/>
        </p:nvSpPr>
        <p:spPr>
          <a:xfrm>
            <a:off x="334404" y="1474619"/>
            <a:ext cx="11523191" cy="3908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对过滤后的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丰度表进行统计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ASV_TableSummary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对于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summarize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--output-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dir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03FilteredData/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OTU_TableSummary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5879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Ⅳ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下游数据分析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3423658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ASV/OTU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509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output-path 04ASV_export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转换为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表格，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环境中不需要额外配置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04ASV_export/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 04ASV_export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==============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lvl="0">
              <a:defRPr/>
            </a:pP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tools export \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--input-path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--output-path 04OTU_export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713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5EA47-91E8-4025-9260-4799EC3F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900EAF7-D65C-BB6C-B842-3D57B89E85C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3C59318-378F-664E-A51D-E9FD227C70D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A268F60-3518-81FD-191A-5C78AFB6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302086-21B9-3D5A-387D-86134976C7C2}"/>
              </a:ext>
            </a:extLst>
          </p:cNvPr>
          <p:cNvSpPr txBox="1"/>
          <p:nvPr/>
        </p:nvSpPr>
        <p:spPr>
          <a:xfrm>
            <a:off x="334404" y="1382286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版本对应的分类器，比如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ASV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feature-classifier classify-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sklearn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-classifier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-reads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--p-n-jobs 10 --o-classification 05ASV_taxonomy.qza &gt; 05ASV_taxonomy.log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nohup qiime feature-classifier classify-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sklearn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-classifier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silva-138-99-nb-classifier.qza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-reads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02DADA2/OTU_representative_sequences.qza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--p-n-jobs 10 --o-classification 05OTU_taxonomy.qza &gt; 05OTU_taxonomy.log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24859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AFFBF-6161-DCD2-9E2F-E7A3608FF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11B2661-E30C-00FA-6D2D-DDDC3A093EE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95AF29-CB10-F2DB-873C-A112EF74ABE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8B4DDA8-B61A-7881-8B73-4810AC557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D7F451-344C-73A1-1525-6B5749F9CF82}"/>
              </a:ext>
            </a:extLst>
          </p:cNvPr>
          <p:cNvSpPr txBox="1"/>
          <p:nvPr/>
        </p:nvSpPr>
        <p:spPr>
          <a:xfrm>
            <a:off x="334404" y="1570143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05ASV_taxonomy.qza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05ASV_taxonomy.qzv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05OTU_taxonomy.qza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05OTU_taxonomy.qzv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688545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E2AC-A78D-1E4B-24B7-231360A10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BD4CE20-09F5-10CF-574C-9C131B888DB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209D5D-7641-8690-F766-F4D58873D93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1FC8A29-F41F-3371-87E0-B2A28580D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C42F27-BE96-24A6-B06B-C51FE4A49BAD}"/>
              </a:ext>
            </a:extLst>
          </p:cNvPr>
          <p:cNvSpPr txBox="1"/>
          <p:nvPr/>
        </p:nvSpPr>
        <p:spPr>
          <a:xfrm>
            <a:off x="334404" y="133763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绘制物种堆叠图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taxa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05ASV_taxonomy.qza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05ASV_TaxaBarplot.qzv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taxa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barplot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sz="20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-taxonomy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05OTU_taxonomy.qza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--o-visualization 05OTU_TaxaBarplot.qzv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47299831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DBB8B-49E4-80ED-8FB8-ADB1D27E6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54845AC-EAD0-7006-5FDD-FA0F3D75F17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43C8C5D-4212-667F-68A2-4471176904B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C2531F2-5D15-684A-DF86-BE05B33D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773984-BF44-9682-51E4-097F703475E0}"/>
              </a:ext>
            </a:extLst>
          </p:cNvPr>
          <p:cNvSpPr txBox="1"/>
          <p:nvPr/>
        </p:nvSpPr>
        <p:spPr>
          <a:xfrm>
            <a:off x="334404" y="1102313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一些多样性指数会用到系统发育树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使用插件构建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rooted_tree.qza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（必做）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phylogeny align-to-tree-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10 --output-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06ASV_tree &gt; 06asv_tree.log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导出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代表序列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fasta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文件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02DADA2/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04ASV_export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构建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phylogeny align-to-tree-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02DADA2/OTU_representative_sequences.qza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10 --output-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06OTU_tree &gt; 06otu_tree.log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02DADA2/OTU_representative_sequences.qza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04OTU_export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9979829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4FD5B-BB01-E54D-865D-170520920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E853B76-B3D9-B1C0-6F70-C8ADF2CD32D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第三步：系统发育树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B44212-6184-A875-D250-350C5944F63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84C8C79-1406-5FD3-2D8E-4695DCCC3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0046EA0-B104-17ED-8A03-870CB3914041}"/>
              </a:ext>
            </a:extLst>
          </p:cNvPr>
          <p:cNvSpPr txBox="1"/>
          <p:nvPr/>
        </p:nvSpPr>
        <p:spPr>
          <a:xfrm>
            <a:off x="334404" y="1192976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可视化进化树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为例，如果需要对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分析只需要调整对应的文件夹名称即可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法一：使用插件可视化，需要额外安装插件，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自行尝试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pip install '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setuptools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&lt;81'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pip install empress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empress tree-plot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-tree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empress tree-plot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-tree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法二：导出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nwk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树形文件，自行在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ITOL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Chiplot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等工具美化（推荐）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62887644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D749F-59E0-9E7F-DF5F-3F4BAB593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F9F93F-B8C4-448D-A0BD-3453EB21304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E2E0C56-613E-E9CF-FCEA-E6F7CE074C6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B366B1E-990D-B2F1-FD2C-C94A474F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50F6D-11B3-12DD-C3E9-46481C2BA385}"/>
              </a:ext>
            </a:extLst>
          </p:cNvPr>
          <p:cNvSpPr txBox="1"/>
          <p:nvPr/>
        </p:nvSpPr>
        <p:spPr>
          <a:xfrm>
            <a:off x="334404" y="1843950"/>
            <a:ext cx="11523191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为例，如果需要分析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OUT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改为对应文件即可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可以将清洗过的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（或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summary.qzv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查看最小的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Frequency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值作为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--p-sampling-depth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（抽平深度）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diversity core-metrics-phylogenetic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--p-sampling-depth 20000 \</a:t>
            </a: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--p-n-jobs-or-threads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 \</a:t>
            </a:r>
          </a:p>
          <a:p>
            <a:pPr lvl="0"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07ASV_diversity &gt; 07asv_diversity.log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91001233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B811C-8425-BE09-0D05-06C7E4333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AB15F1-D792-F513-2D8E-3CF79764135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0C15F0A-0AA6-E9D2-EFE5-DAC1EC968F8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2B13725-CAB7-5F50-3795-BC79D346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8536F5-D5B7-85F3-B8A7-C6B3898559D6}"/>
              </a:ext>
            </a:extLst>
          </p:cNvPr>
          <p:cNvSpPr txBox="1"/>
          <p:nvPr/>
        </p:nvSpPr>
        <p:spPr>
          <a:xfrm>
            <a:off x="334404" y="1040757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多样性指数，注意导入文件的是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diversity core-metrics-phylogenetic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导出的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07ASV_diversity/chao1_vector.qza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</a:p>
          <a:p>
            <a:pPr lvl="0"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07ASV_diversity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/simpson_vector.qza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('ace',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'chao1_ci', 'dominance', 'doubles',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esty_ci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kempton_taylor_q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osd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'singles', 'strong’)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参考：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指标信息查看：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https://scikit.bio/docs/latest/generated/skbio.diversity.alpha.html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44477742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46D52-CB39-89FA-132F-F37A611A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AB1B12-170C-D722-C774-2B96CD0CBA3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2252D7A-427D-0A99-3652-4F7FB2D3587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B8C254A-3956-3CFE-B043-1EB6E6A22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128BC-F30A-3541-80D0-CA40276B62C4}"/>
              </a:ext>
            </a:extLst>
          </p:cNvPr>
          <p:cNvSpPr txBox="1"/>
          <p:nvPr/>
        </p:nvSpPr>
        <p:spPr>
          <a:xfrm>
            <a:off x="334404" y="128534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aitchison --o-distance-matrix 07ASV_diversity/aitchison_distance_matrix.qza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Euclidean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euclidean --o-distance-matrix 07ASV_diversity/euclidean_distance_matrix.qza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braycurtis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canberra_adkins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chebyshev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cityblock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'correlation', 'cosine', 'dice', 'euclidean', 'hamming',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jaccard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jensenshannon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'matching',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minkowski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rogerstanimoto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russellrao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sokalsneath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sqeuclidean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'yule')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2334598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9877-D698-B6A4-7B6C-0C0BC9F71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D817236-627B-6DB0-F172-A9911A39026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B52740-5E3C-57AF-D3CA-484B7EAFB86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B337019-0839-EC54-AB8C-EADE4FF38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EE9A587-6884-A48C-2808-82642B1A0B11}"/>
              </a:ext>
            </a:extLst>
          </p:cNvPr>
          <p:cNvSpPr txBox="1"/>
          <p:nvPr/>
        </p:nvSpPr>
        <p:spPr>
          <a:xfrm>
            <a:off x="334404" y="1035959"/>
            <a:ext cx="11523191" cy="54168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多样性数据导出及差异性检验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08Alpha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08Alpha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Shannon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07ASV_diversity/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--o-visualization 08Alpha/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Chao1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07ASV_diversity/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o-visualization 08Alpha/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chao1.qzv</a:t>
            </a:r>
          </a:p>
          <a:p>
            <a:pPr lvl="0"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07ASV_diversity/*_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  base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"$file"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--o-visualization "08Alpha/${base}.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34648525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5819E-3E0D-488F-95F7-186EFD3B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6F9D80-FCFD-5956-E0BC-326F6B5DAF4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稀疏曲线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537B2B8-E846-3B87-EAD5-8B6CAE69F4E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98750E3-1DF8-8B4A-85A5-13FB75B1C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885343-C3A0-47D7-5972-C7BA322D21B3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多样性指数，不同指数中间空格间隔，注意大小写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diversity alpha-rarefaction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06ASV_tree/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--p-max-depth 10534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--p-metrics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shannon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observed_features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chao1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simpson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robbins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--p-steps 20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08Alpha/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Alpha_rarefaction_curves.qzv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支持的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metrics: Set[Str % Choices('ace',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'dominance', 'doubles',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faith_pd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指标信息查看：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https://scikit.bio/docs/latest/generated/skbio.diversity.alpha.html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55712379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Beta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多样性的分析补充</a:t>
            </a:r>
          </a:p>
        </p:txBody>
      </p:sp>
    </p:spTree>
    <p:extLst>
      <p:ext uri="{BB962C8B-B14F-4D97-AF65-F5344CB8AC3E}">
        <p14:creationId xmlns:p14="http://schemas.microsoft.com/office/powerpoint/2010/main" val="10843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第一项：差异检验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478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09Beta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--p-method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可以选择算法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('permanova',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anosim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permdisp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--m-metadata-column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中分类型变量列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07ASV_diversity/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--m-metadata-column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09Beta/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bray_curtis_group.qzv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matrix in 07ASV_diversity/*_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"$matrix" 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"$matrix"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--m-metadata-column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09Beta/"${name}_${COLUMN}".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97296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C7CCC-0B18-EECF-A5CD-FCEF83644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38ED70-9E7F-CF1E-779E-4320A0A7A02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</a:t>
            </a:r>
            <a:r>
              <a:rPr kumimoji="0" lang="en-US" altLang="zh-CN" sz="2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PCoA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结果导出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D6F7651-6090-088C-87C0-DDE65A60CE9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7E6F0C-E170-83FB-224D-CE1F07581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BEF652C-E07B-26CB-51DC-E4336C34D819}"/>
              </a:ext>
            </a:extLst>
          </p:cNvPr>
          <p:cNvSpPr txBox="1"/>
          <p:nvPr/>
        </p:nvSpPr>
        <p:spPr>
          <a:xfrm>
            <a:off x="334404" y="1396178"/>
            <a:ext cx="11523191" cy="46166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09Beta/pcoa_export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unweighted_unifrac_pcoa_results.qza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09Beta/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07ASV_diversity/*_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"$file"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09Beta/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589552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D5EA9-5274-A29C-4E5F-E6AFAADBB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D977CAF-0DCD-EA43-5EFC-41326E036F8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第三项：距离矩阵导出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5FEBE5-50AD-958A-39E8-3D2BDFBE17B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06DDA2-BE68-37DF-5891-561DA8C87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6FB9993-A8B2-3B3F-764E-669601583913}"/>
              </a:ext>
            </a:extLst>
          </p:cNvPr>
          <p:cNvSpPr txBox="1"/>
          <p:nvPr/>
        </p:nvSpPr>
        <p:spPr>
          <a:xfrm>
            <a:off x="334404" y="1673269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09Beta/distances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07ASV_diversity/bray_curtis_distance_matrix.qza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09Beta/distances/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07ASV_diversity/*_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--input-path "$f" --output-path 09Beta/distances/"$name"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678887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DED75-266C-087A-8C50-E626F740B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AB2190-CFFE-9F08-E125-527FFE8FD94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Adonis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多元方差分析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38E824D-8D1D-43E0-285E-0AC4E07414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5EEBEC6-2E72-0A00-645C-E15491966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5629678-24E8-4395-CB07-B2FCB91CF69B}"/>
              </a:ext>
            </a:extLst>
          </p:cNvPr>
          <p:cNvSpPr txBox="1"/>
          <p:nvPr/>
        </p:nvSpPr>
        <p:spPr>
          <a:xfrm>
            <a:off x="334404" y="1101594"/>
            <a:ext cx="11523191" cy="5170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--p-formula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可以设置单因素（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）、多因素（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+ sex + age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）以及考虑交互（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+ group * sex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09Beta/adonis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adonis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07ASV_diversity/bray_curtis_distance_matrix.qza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"group"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09Beta/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adonis_bray_curtis.qzv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 group + group * sex 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07ASV_diversity/*_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adonis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"$f"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--p-formula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09Beta/adonis/"${name}".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66040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054B9-068B-C475-9BC6-3D17522CC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EFA6782-A8EB-D174-CE70-B2203E9A08F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其他分析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33A8F73-9A29-76E2-8BF4-3E203BD5F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4AD5CD-83D6-BCC5-8FF0-5685463B1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5F8D0B-AF16-B742-CE92-A62F9FC5A0F2}"/>
              </a:ext>
            </a:extLst>
          </p:cNvPr>
          <p:cNvSpPr txBox="1"/>
          <p:nvPr/>
        </p:nvSpPr>
        <p:spPr>
          <a:xfrm>
            <a:off x="2217674" y="2613392"/>
            <a:ext cx="775665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相关性检验（连续变量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距离矩阵）：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beta-correlation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Mantel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检验（多次分析距离矩阵之间）：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mantel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t-SNE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降维分析：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tsne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UMAP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降维分析：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umap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方差分析（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longitudinal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anova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……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具体参数使用：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49257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丰度差异分析补充</a:t>
            </a:r>
          </a:p>
        </p:txBody>
      </p:sp>
    </p:spTree>
    <p:extLst>
      <p:ext uri="{BB962C8B-B14F-4D97-AF65-F5344CB8AC3E}">
        <p14:creationId xmlns:p14="http://schemas.microsoft.com/office/powerpoint/2010/main" val="3333821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1326713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10ANCOMBC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ANCOM-BC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分析（新版本会自动添加伪计数）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group::Healthy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--p-p-adj-method BH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"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--o-differentials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--p-reference-levels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设置某一列的对照组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--p-p-adj-method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可选择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值校验方法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('holm',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hochberg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hommel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bonferroni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'BH', 'BY',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fdr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'none')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C470609-7E5A-7262-C838-E8608DBA6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1319" y="1477817"/>
            <a:ext cx="2188972" cy="401987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0038132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FE45C-642F-D93D-0D36-01060F224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4566D0C-8216-FD9D-57A5-5334B9144FF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A326992-0C84-EC7B-A661-8D6BCB78724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08C4601-5028-DC44-4BAF-3A995503E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5264F8-44C9-8E7C-EF8F-D1773FF8CC7C}"/>
              </a:ext>
            </a:extLst>
          </p:cNvPr>
          <p:cNvSpPr txBox="1"/>
          <p:nvPr/>
        </p:nvSpPr>
        <p:spPr>
          <a:xfrm>
            <a:off x="334404" y="2767280"/>
            <a:ext cx="11523191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ancombc_exported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23512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9F26C-044D-3FA0-5889-42F5A290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C260971-B941-6AEE-FBEE-4F3ADA93601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B9AFAF7-F769-5C77-40C0-60590E5B9AE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C5142A2-3DD1-D0ED-94FA-7F1FFBB04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71441B-1DB4-892A-63A8-762923836742}"/>
              </a:ext>
            </a:extLst>
          </p:cNvPr>
          <p:cNvSpPr txBox="1"/>
          <p:nvPr/>
        </p:nvSpPr>
        <p:spPr>
          <a:xfrm>
            <a:off x="374069" y="1348534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导出柱形图，有时如果按照对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值设置阈值可能得不到差异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展示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q&lt;0.05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da-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--p-effect-size-threshold 0.0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10ANCOMBC/da_barplot_q_0.05.qzv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展示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p&lt;0.05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da-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--p-significance-label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p_val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--p-effect-size-threshold 0.0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10ANCOMBC/da_barplot_p_0.05.qzv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38422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C61C-ED99-007C-8BA0-2FD9F2556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7352D4E-8777-A602-36F4-B0C65AC8B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第二项：按阶元等级合并丰度表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A6A566-E9B4-89D0-0C6C-9D8F1755801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7F63FE-4F09-B15D-1B41-1690BA5C9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A5BDF3-ED61-D146-16C6-9768BDF55175}"/>
              </a:ext>
            </a:extLst>
          </p:cNvPr>
          <p:cNvSpPr txBox="1"/>
          <p:nvPr/>
        </p:nvSpPr>
        <p:spPr>
          <a:xfrm>
            <a:off x="334404" y="1095805"/>
            <a:ext cx="11523191" cy="5170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--p-level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可以指定物种分类阶元，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界，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门，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纲，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目，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6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属，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7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种。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按科水平合并丰度表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taxa collapse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05ASV_taxonomy.qza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--p-level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--o-collapsed-table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科水平丰度表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58174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D8AFC-037E-97EE-4411-0AD788BD9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17DF2ED-6A47-C44D-0533-98C0FF11505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第二项：按阶元等级合并丰度表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27ADA-C797-6394-8C3A-EB3895469849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5490900-83F2-4402-6DC9-2C094C317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D6461B-3BA6-9754-BD91-9022C325A30F}"/>
              </a:ext>
            </a:extLst>
          </p:cNvPr>
          <p:cNvSpPr txBox="1"/>
          <p:nvPr/>
        </p:nvSpPr>
        <p:spPr>
          <a:xfrm>
            <a:off x="334404" y="1192976"/>
            <a:ext cx="11523191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--p-level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可以指定物种分类阶元，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界，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门，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纲，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目，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6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属，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7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种。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level in 1 2 3 4 5 6 7;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taxa collapse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05ASV_taxonomy.qza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--p-level $level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--o-collapsed-table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${level}_exported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-o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  <p:pic>
        <p:nvPicPr>
          <p:cNvPr id="7" name="音频 6">
            <a:hlinkClick r:id="" action="ppaction://media"/>
            <a:extLst>
              <a:ext uri="{FF2B5EF4-FFF2-40B4-BE49-F238E27FC236}">
                <a16:creationId xmlns:a16="http://schemas.microsoft.com/office/drawing/2014/main" id="{E09902B6-BE13-E721-85B1-F8D8F65B823E}"/>
              </a:ext>
            </a:extLst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6"/>
          <a:srcRect l="-200000" t="-90625" r="-200000" b="-90625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48041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99"/>
    </mc:Choice>
    <mc:Fallback xmlns="">
      <p:transition spd="slow" advTm="539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24B4D-720F-0971-DDC6-581036A50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337CD1-90EB-D651-2BB2-666D6112CB3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第三项：按阶元进行丰度差异分析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B803818-2D52-CFF4-B15D-90C58726F0D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4249D0CD-D1F8-FD72-044C-F263C9D4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17AC3C-7A9C-22E6-83AE-20211960E204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上一步骤我们学习了如何提取到不同阶元的丰度表，接下来可以对某一个阶元进行丰度差异分析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一个分类中的物种有实验组中丰度更高有的对照组丰度更高，按阶元分析可以看整体差异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对科水平进行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ANCOM-BC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，其他阶元等级类比即可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composition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/ASV_CleanTable_L5.qza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group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group::Healthy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--p-p-adj-method BH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--o-differentials 10ANCOMBC/ancombc_group_L5.qza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生成差异条形图（使用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值，阈值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0.05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composition da-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10ANCOMBC/ancombc_group_L5.qza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--p-significance-label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p_val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10ANCOMBC/da_barplot_L5_p_0.05.qzv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193907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PICRUSt2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功能注释补充</a:t>
            </a:r>
          </a:p>
        </p:txBody>
      </p:sp>
    </p:spTree>
    <p:extLst>
      <p:ext uri="{BB962C8B-B14F-4D97-AF65-F5344CB8AC3E}">
        <p14:creationId xmlns:p14="http://schemas.microsoft.com/office/powerpoint/2010/main" val="38774720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第一步：配置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PICRUSt2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2182505"/>
            <a:ext cx="11523191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配置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PICRUSt2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环境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https://github.com/picrust/picrust2/wiki/Installation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 create -n picrust2 -c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bioconda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conda-forge picrust2=2.6.2</a:t>
            </a:r>
          </a:p>
          <a:p>
            <a:pPr lvl="0"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激活环境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mamba activate picrust2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199893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3FE3E-9BFA-00FA-3830-55E468ADB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5194DE0-A6E7-8BF1-3C62-13AFCE8EACB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5BD6617-25B8-E22E-03F6-EE89AE01C25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445B842-D18E-1CC6-5A92-1AB5B19DE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9BECAEF-2BCA-28E6-826A-889BEEA9019E}"/>
              </a:ext>
            </a:extLst>
          </p:cNvPr>
          <p:cNvSpPr txBox="1"/>
          <p:nvPr/>
        </p:nvSpPr>
        <p:spPr>
          <a:xfrm>
            <a:off x="334404" y="1582340"/>
            <a:ext cx="11523191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查看参数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picrust2_pipeline.py --help</a:t>
            </a:r>
          </a:p>
          <a:p>
            <a:pPr lvl="0"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为例输入特征序列的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文件及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文件（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分别在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下游分析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PPT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13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页和第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页）。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picrust2_pipeline.py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04ASV_export/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dna-sequences.fasta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04ASV_export/feature-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-o 11Picrust2_all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-p 32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--stratified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per_sequence_contrib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in_traits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EC,KO,GO,PFAM,BIGG,CAZY,GENE_NAMES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912502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55E9-6B82-FA80-4403-46FB93AC7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C9646D-D711-02BD-0410-80EF9F23896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A05B280-E8C7-937A-B3A7-EBBF81AA435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35A6E0B-B2BD-D067-909A-87D0EB4A8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42F003-2C5C-6F63-0456-F9D223665575}"/>
              </a:ext>
            </a:extLst>
          </p:cNvPr>
          <p:cNvSpPr txBox="1"/>
          <p:nvPr/>
        </p:nvSpPr>
        <p:spPr>
          <a:xfrm>
            <a:off x="334404" y="1782395"/>
            <a:ext cx="11523191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添加描述信息并导出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12Function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EC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KO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pathways_out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/path_abun_unstrat.tsv.gz -m METACYC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pathways.tsv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GO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PFAM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040246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8875-F04A-44B2-7E3E-880A7691D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209F0DE-8173-681F-FCFE-04D15A37B5E5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4D9E932-A18F-02C4-6AAA-9F5B63C30EE9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E762FCF-FBB1-3E25-99AA-80010DFE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D0AA66-047D-DCF3-1E90-E6F78BA15D54}"/>
              </a:ext>
            </a:extLst>
          </p:cNvPr>
          <p:cNvSpPr txBox="1"/>
          <p:nvPr/>
        </p:nvSpPr>
        <p:spPr>
          <a:xfrm>
            <a:off x="334404" y="2028616"/>
            <a:ext cx="11523191" cy="28007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把表格汇总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in 11Picrust2_all/*_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if [ -d 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]; then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prefix=$(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| sed 's/_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//')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input="$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if [ -f "$input" ]; then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zcat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"$input" &gt; "12Function/${prefix}_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source.tsv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fi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fi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473487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AE82A-8469-B2F6-DA6A-74127473D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6453317-89B6-C6BF-5C20-3DBBBDF46883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环境配置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失败解决方法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959F830-0107-F3C8-3730-D98BDD16AFE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07D7BA7-23E0-ECE7-DA34-BBF40879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A1C75C7-8A7E-4DEF-0B27-FFB382B65908}"/>
              </a:ext>
            </a:extLst>
          </p:cNvPr>
          <p:cNvSpPr txBox="1"/>
          <p:nvPr/>
        </p:nvSpPr>
        <p:spPr>
          <a:xfrm>
            <a:off x="334404" y="1859339"/>
            <a:ext cx="11523191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如果下载速度慢或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mamba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无法配置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：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~/.local/bin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~/.local/bin/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https://github.com/mamba-org/micromamba-releases/releases/latest/download/micromamba-linux-64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mv micromamba-linux-64 micromamba</a:t>
            </a:r>
          </a:p>
          <a:p>
            <a:pPr>
              <a:defRPr/>
            </a:pP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chmod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+x ~/.local/bin/micromamba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~/.local/bin/micromamba shell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init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-s bash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source ~/.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bashrc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micromamba create -r 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~/.env -n picrust2 python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=3.9 -c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bioconda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conda-forge picrust2=2.6.2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micromamba activate ~/.env/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envs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/picrust2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5DD3BA3-BB3D-ED46-CCBB-8F9F3D06F3C7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938462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自建分类器与新版分类器下载</a:t>
            </a:r>
          </a:p>
        </p:txBody>
      </p:sp>
    </p:spTree>
    <p:extLst>
      <p:ext uri="{BB962C8B-B14F-4D97-AF65-F5344CB8AC3E}">
        <p14:creationId xmlns:p14="http://schemas.microsoft.com/office/powerpoint/2010/main" val="3171809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268"/>
    </mc:Choice>
    <mc:Fallback xmlns="">
      <p:transition spd="slow" advTm="7268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第一项：新版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Silva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1144325"/>
            <a:ext cx="11523191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https://www.arb-silva.de/documentation/classifiers/qiime-2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https://library.qiime2.org/data-resources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3555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933"/>
    </mc:Choice>
    <mc:Fallback xmlns="">
      <p:transition spd="slow" advTm="5933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CC8A6-A070-22AB-4007-F56B72A9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09221AA-1371-AC6E-E6CC-DA53666DD7D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第一项：新版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Silva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4A0E788-46AA-F592-63EE-DE484512A44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23CB954-DB04-E1CC-54E5-3F6E7855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861C2A4-4192-1AF9-8649-623898C36846}"/>
              </a:ext>
            </a:extLst>
          </p:cNvPr>
          <p:cNvSpPr txBox="1"/>
          <p:nvPr/>
        </p:nvSpPr>
        <p:spPr>
          <a:xfrm>
            <a:off x="334404" y="3075057"/>
            <a:ext cx="11523191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https://www.arb-silva.de/fileadmin/silva_databases/current/QIIME2/2025.7/SSU/full-length/uniform/SILVA138.2_SSURef_NR99_uniform_classifier_full-length.qza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41379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015"/>
    </mc:Choice>
    <mc:Fallback xmlns="">
      <p:transition spd="slow" advTm="7015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977C8-62A4-3FDE-84F7-15589BF96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6A3D3E4-BFF6-D7F4-9BBC-14D21525A12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9A134E5-B8D8-9578-B9F3-A7E07AD939D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B7E9176-0E3D-84C8-F0C5-032DB26C6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50278D-62BA-2C75-B647-1747A3AEBDA2}"/>
              </a:ext>
            </a:extLst>
          </p:cNvPr>
          <p:cNvSpPr txBox="1"/>
          <p:nvPr/>
        </p:nvSpPr>
        <p:spPr>
          <a:xfrm>
            <a:off x="334404" y="1291769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数据库为例，使用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RESCRIPt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插件自建分类器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从其他数据库自建分类器可以参考：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https://amplicon-docs.qiime2.org/en/stable/references/plugins/rescript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https://github.com/bokulich-lab/RESCRIPt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第一步：读取数据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get-silva-data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--p-version '138.2'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--p-target 'SSURef_NR99'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--o-silva-sequences silva-138.2-ssu-nr99-rna-seqs.qza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--o-silva-taxonomy silva-138.2-ssu-nr99-tax.qza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第二步：反转录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reverse-transcribe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rna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silva-138.2-ssu-nr99-rna-seqs.qza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21926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98"/>
    </mc:Choice>
    <mc:Fallback xmlns="">
      <p:transition spd="slow" advTm="9198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564D4-76E9-123E-5B9F-D430CA75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20196AF-A21E-334E-029E-5490AEB0508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8BBFDC2-2DFF-04B1-A268-E46ED06FE54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1326FEA-8140-91B6-7DD5-533A3CDD2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80912-CF1A-6BEC-7EF7-7784CFB04777}"/>
              </a:ext>
            </a:extLst>
          </p:cNvPr>
          <p:cNvSpPr txBox="1"/>
          <p:nvPr/>
        </p:nvSpPr>
        <p:spPr>
          <a:xfrm>
            <a:off x="334404" y="991229"/>
            <a:ext cx="11523191" cy="5478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第三步：序列清洗与长度过滤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剔除低质量序列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cull-seqs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silva-138.2-ssu-nr99-seqs.qza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--o-clean-sequences silva-138.2-ssu-nr99-seqs-cleaned.qza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按不同界（古菌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细菌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真核）过滤长度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filter-seqs-length-by-taxon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silva-138.2-ssu-nr99-seqs-cleaned.qza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silva-138.2-ssu-nr99-tax.qza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--p-labels Archaea Bacteria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Eukaryota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--p-min-lens 900 1200 1400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--o-filtered-seqs silva-138.2-ssu-nr99-seqs-filt.qza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--o-discarded-seqs silva-138.2-ssu-nr99-seqs-discard.qza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第一次去冗余（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模式）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dereplicate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silva-138.2-ssu-nr99-seqs-filt.qza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-taxa silva-138.2-ssu-nr99-tax.qza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--p-mode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--o-dereplicated-sequences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--o-dereplicated-taxa silva-138.2-ssu-nr99-tax-derep-uniq.qza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0170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06"/>
    </mc:Choice>
    <mc:Fallback xmlns="">
      <p:transition spd="slow" advTm="2906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1A5A8-25A5-9DE2-5A0B-3705590EA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55707A-2A23-C029-6AA4-700AE2B7A9B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16C6078-EBBD-CB17-2F84-2C271CDB750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405C6877-EDE2-161F-DFF4-49EBBEAF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74FF0-7D40-1B29-1E94-1A992F2BA471}"/>
              </a:ext>
            </a:extLst>
          </p:cNvPr>
          <p:cNvSpPr txBox="1"/>
          <p:nvPr/>
        </p:nvSpPr>
        <p:spPr>
          <a:xfrm>
            <a:off x="374069" y="1413032"/>
            <a:ext cx="11523191" cy="44319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如果构建全长的分类器直接运行下边的命令即可，时间较长建议挂后台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第五步：训练朴素贝叶斯分类器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feature-classifier fit-classifier-naive-bayes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-reference-reads 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-reference-taxonomy silva-138.2-ssu-nr99-tax-derep-uniq.qza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--o-classifier silva-138.2-ssu-nr99-classifier.qza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挂后台的命令如下：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feature-classifier fit-classifier-naive-bayes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-reference-reads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-reference-taxonomy silva-138.2-ssu-nr99-tax-derep-uniq.qza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--o-classifier silva-138.2-ssu-nr99-classifier.qza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&gt; train_classifier.log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52199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23"/>
    </mc:Choice>
    <mc:Fallback xmlns="">
      <p:transition spd="slow" advTm="5223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1C1B8-2E11-7741-000B-4892C83A3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461472E-10BA-771D-6D2E-37EF9C2E9D3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1FDBE5F-2888-406E-E819-E1620E362EA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86EFEF0-337F-C1A6-61B8-C592527F1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45D014-6B53-07DF-4F06-DFE6B79934A6}"/>
              </a:ext>
            </a:extLst>
          </p:cNvPr>
          <p:cNvSpPr txBox="1"/>
          <p:nvPr/>
        </p:nvSpPr>
        <p:spPr>
          <a:xfrm>
            <a:off x="334404" y="1102064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如果需要构建扩增子区域的特定分类器可以运行：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第五步：提取与测序引物匹配的区域，以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V3-V4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区的引物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341f-785r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为例（如需）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feature-classifier extract-reads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--p-f-primer CCTACGGGNGGCWGCAG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--p-r-primer GACTACHVGGGTATCTAATCC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--p-n-jobs 25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--p-read-orientation 'forward'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--o-reads silva-138.2-ssu-nr99-seqs-341f-785r.qza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第六步：对提取出的区域再次去冗余（如需）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dereplicate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silva-138.1-ssu-nr99-seqs-515f-806r.qza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-taxa silva-138.1-ssu-nr99-tax-derep-uniq.qza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--p-mode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--o-dereplicated-sequences silva-138.1-ssu-nr99-seqs-341f-785r-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--o-dereplicated-taxa silva-138.1-ssu-nr99-tax-341f-785r-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derep-uniq.qza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第七步：训练朴素贝叶斯分类器（如需）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feature-classifier fit-classifier-naive-bayes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-reference-reads silva-138.2-ssu-nr99-seqs-341f-785r-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-reference-taxonomy silva-138.2-ssu-nr99-tax-341f-785r-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derep-uniq.qza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--o-classifier silva-138.2-ssu-nr99-341f-785r-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classifier.qza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50305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844"/>
    </mc:Choice>
    <mc:Fallback xmlns="">
      <p:transition spd="slow" advTm="6844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6DD2C-49FD-12EA-CD8B-79F673DFD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0F8AEB-F242-3A77-6A30-8410472B42B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第三项：自建库分类器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E9DC6CC-E504-73CE-8678-4DBF17D0229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EE61CB9-BA4C-7939-DB58-9D9D44DFD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176CCE4-D268-BAC6-0E90-C58139BC8EBC}"/>
              </a:ext>
            </a:extLst>
          </p:cNvPr>
          <p:cNvSpPr txBox="1"/>
          <p:nvPr/>
        </p:nvSpPr>
        <p:spPr>
          <a:xfrm>
            <a:off x="334404" y="1123699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https://github.com/bokulich-lab/RESCRIP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可以构建其他数据的分类器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第一步：下载四个文件并解压（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示例以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数据库提供的为例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Taxonomy Rank file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，将分类学等级（界门纲目科属种）及其对应的分类学名称对应到分类学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ID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taxid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）；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Taxonomy Map file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，将序列登录号对应到物种名称及分类学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ID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；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3. Taxonomy Tree file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，以树状结构的形式表示各个分类学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ID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之间的层级关系；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4.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非冗余未比对的序列文件，比如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SILVA_138.2_SSURef_NR99_tax_silva_trunc.fasta.gz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https://www.arb-silva.de/current-release/Exports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找到最新版本的这四个文件（路径可能会有变化）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其中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1-3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文件在：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https://www.arb-silva.de/current-release/Exports/taxonomy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个文件在：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https://www.arb-silva.de/current-release/Exports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https://www.arb-silva.de/fileadmin/silva_databases/current/Exports/taxonomy/tax_slv_ssu_138.2.txt.gz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https://www.arb-silva.de/fileadmin/silva_databases/current/Exports/taxonomy/taxmap_slv_ssu_ref_138.2.txt.gz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https://www.arb-silva.de/fileadmin/silva_databases/current/Exports/taxonomy/tax_slv_ssu_138.2.tre.gz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https://www.arb-silva.de/fileadmin/silva_databases/current/Exports/SILVA_138.2_SSURef_NR99_tax_silva_trunc.fasta.gz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tax_slv_ssu_138.2.txt.gz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taxmap_slv_ssu_ref_138.2.txt.gz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tax_slv_ssu_138.2.tre.gz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SILVA_138.2_SSURef_NR99_tax_silva_trunc.fasta.gz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8497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257"/>
    </mc:Choice>
    <mc:Fallback xmlns="">
      <p:transition spd="slow" advTm="10257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5D143-439C-2804-14C3-EA35902D1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F7E57E7-F444-DC16-E513-D7D751DA91D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第三项：自建库分类器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13F670B-8D30-6779-066D-4FFA6292DA5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16BFE64-E077-459B-326A-3A10D0252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7B5A3D-A331-7A19-87D7-19CA48770C31}"/>
              </a:ext>
            </a:extLst>
          </p:cNvPr>
          <p:cNvSpPr txBox="1"/>
          <p:nvPr/>
        </p:nvSpPr>
        <p:spPr>
          <a:xfrm>
            <a:off x="374069" y="938971"/>
            <a:ext cx="11523191" cy="5509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第二步：导入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个文件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FeatureData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SILVATaxonomy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tax_slv_ssu_138.2.txt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taxranks-silva-138.2-ssu-nr99.qza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FeatureData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SILVATaxidMap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taxmap_slv_ssu_ref_nr_138.2.txt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taxmap-silva-138.2-ssu-nr99.qza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'Phylogeny[Rooted]'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tax_slv_ssu_138.2.tre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taxtree-silva-138.2-nr99.qza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FeatureData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RNASequence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SILVA_138.2_SSURef_NR99_tax_silva_trunc.fasta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silva-138.2-ssu-nr99-rna-seqs.qza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22365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137"/>
    </mc:Choice>
    <mc:Fallback xmlns="">
      <p:transition spd="slow" advTm="11137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85428-04F1-DBAD-0A19-03FBE6E2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AC7228E-9EE7-5EA7-8137-FDC98F53E46F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第三项：自建库分类器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C5FAA94-B824-A0D4-67AB-DD1EA88C610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02255FC-A7A5-0A2C-28F7-E38661020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5B2310-C503-AE17-11CE-51AEC732837C}"/>
              </a:ext>
            </a:extLst>
          </p:cNvPr>
          <p:cNvSpPr txBox="1"/>
          <p:nvPr/>
        </p:nvSpPr>
        <p:spPr>
          <a:xfrm>
            <a:off x="334404" y="1711664"/>
            <a:ext cx="11523191" cy="42780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第三步：使用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RESCRIPt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插件逆转录及分类信息解析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RNA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序列转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reverse-transcribe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rna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silva-138.2-ssu-nr99-rna-seqs.qza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解析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分类信息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parse-silva-taxonomy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-taxonomy-tree taxtree-silva-138.2-nr99.qza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-taxonomy-map taxmap-silva-138.2-ssu-nr99.qza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-taxonomy-ranks taxranks-silva-138.2-ssu-nr99.qza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--o-taxonomy silva-138.2-ssu-nr99-tax.qza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随后生成了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silva-138.2-ssu-nr99-seqs.qza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silva-138.2-ssu-nr99-tax.qza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两个文件，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参考第二项的第三步开始进行后续操作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05224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804"/>
    </mc:Choice>
    <mc:Fallback xmlns="">
      <p:transition spd="slow" advTm="11804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3BC550E-EE58-331F-5F08-4A8492A0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pPr/>
              <a:t>66</a:t>
            </a:fld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A77BD3A-5A73-F6F1-915E-11D6147CB345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感谢观看</a:t>
            </a:r>
          </a:p>
        </p:txBody>
      </p:sp>
    </p:spTree>
    <p:extLst>
      <p:ext uri="{BB962C8B-B14F-4D97-AF65-F5344CB8AC3E}">
        <p14:creationId xmlns:p14="http://schemas.microsoft.com/office/powerpoint/2010/main" val="10728636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8624</Words>
  <Application>Microsoft Office PowerPoint</Application>
  <PresentationFormat>宽屏</PresentationFormat>
  <Paragraphs>996</Paragraphs>
  <Slides>66</Slides>
  <Notes>63</Notes>
  <HiddenSlides>0</HiddenSlides>
  <MMClips>2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66</vt:i4>
      </vt:variant>
    </vt:vector>
  </HeadingPairs>
  <TitlesOfParts>
    <vt:vector size="72" baseType="lpstr">
      <vt:lpstr>等线</vt:lpstr>
      <vt:lpstr>等线 Light</vt:lpstr>
      <vt:lpstr>微软雅黑</vt:lpstr>
      <vt:lpstr>Arial</vt:lpstr>
      <vt:lpstr>Times New Roman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 薛</dc:creator>
  <cp:lastModifiedBy>浩 薛</cp:lastModifiedBy>
  <cp:revision>15</cp:revision>
  <dcterms:created xsi:type="dcterms:W3CDTF">2026-08-11T09:29:18Z</dcterms:created>
  <dcterms:modified xsi:type="dcterms:W3CDTF">2026-08-18T15:37:09Z</dcterms:modified>
</cp:coreProperties>
</file>