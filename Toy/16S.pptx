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tags/tag21.xml" ContentType="application/vnd.openxmlformats-officedocument.presentationml.tags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tags/tag23.xml" ContentType="application/vnd.openxmlformats-officedocument.presentationml.tags+xml"/>
  <Override PartName="/ppt/notesSlides/notesSlide27.xml" ContentType="application/vnd.openxmlformats-officedocument.presentationml.notesSlide+xml"/>
  <Override PartName="/ppt/tags/tag24.xml" ContentType="application/vnd.openxmlformats-officedocument.presentationml.tags+xml"/>
  <Override PartName="/ppt/notesSlides/notesSlide28.xml" ContentType="application/vnd.openxmlformats-officedocument.presentationml.notesSlide+xml"/>
  <Override PartName="/ppt/tags/tag25.xml" ContentType="application/vnd.openxmlformats-officedocument.presentationml.tags+xml"/>
  <Override PartName="/ppt/notesSlides/notesSlide29.xml" ContentType="application/vnd.openxmlformats-officedocument.presentationml.notesSlide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notesSlides/notesSlide31.xml" ContentType="application/vnd.openxmlformats-officedocument.presentationml.notesSlide+xml"/>
  <Override PartName="/ppt/tags/tag28.xml" ContentType="application/vnd.openxmlformats-officedocument.presentationml.tags+xml"/>
  <Override PartName="/ppt/notesSlides/notesSlide32.xml" ContentType="application/vnd.openxmlformats-officedocument.presentationml.notesSlide+xml"/>
  <Override PartName="/ppt/tags/tag29.xml" ContentType="application/vnd.openxmlformats-officedocument.presentationml.tags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6.xml" ContentType="application/vnd.openxmlformats-officedocument.presentationml.tags+xml"/>
  <Override PartName="/ppt/notesSlides/notesSlide42.xml" ContentType="application/vnd.openxmlformats-officedocument.presentationml.notesSlide+xml"/>
  <Override PartName="/ppt/tags/tag37.xml" ContentType="application/vnd.openxmlformats-officedocument.presentationml.tags+xml"/>
  <Override PartName="/ppt/notesSlides/notesSlide43.xml" ContentType="application/vnd.openxmlformats-officedocument.presentationml.notesSlide+xml"/>
  <Override PartName="/ppt/tags/tag38.xml" ContentType="application/vnd.openxmlformats-officedocument.presentationml.tags+xml"/>
  <Override PartName="/ppt/notesSlides/notesSlide44.xml" ContentType="application/vnd.openxmlformats-officedocument.presentationml.notesSlide+xml"/>
  <Override PartName="/ppt/tags/tag39.xml" ContentType="application/vnd.openxmlformats-officedocument.presentationml.tags+xml"/>
  <Override PartName="/ppt/notesSlides/notesSlide45.xml" ContentType="application/vnd.openxmlformats-officedocument.presentationml.notesSlide+xml"/>
  <Override PartName="/ppt/tags/tag40.xml" ContentType="application/vnd.openxmlformats-officedocument.presentationml.tags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1"/>
  </p:notesMasterIdLst>
  <p:sldIdLst>
    <p:sldId id="257" r:id="rId2"/>
    <p:sldId id="412" r:id="rId3"/>
    <p:sldId id="353" r:id="rId4"/>
    <p:sldId id="355" r:id="rId5"/>
    <p:sldId id="285" r:id="rId6"/>
    <p:sldId id="408" r:id="rId7"/>
    <p:sldId id="358" r:id="rId8"/>
    <p:sldId id="414" r:id="rId9"/>
    <p:sldId id="400" r:id="rId10"/>
    <p:sldId id="401" r:id="rId11"/>
    <p:sldId id="364" r:id="rId12"/>
    <p:sldId id="413" r:id="rId13"/>
    <p:sldId id="420" r:id="rId14"/>
    <p:sldId id="422" r:id="rId15"/>
    <p:sldId id="427" r:id="rId16"/>
    <p:sldId id="430" r:id="rId17"/>
    <p:sldId id="375" r:id="rId18"/>
    <p:sldId id="432" r:id="rId19"/>
    <p:sldId id="429" r:id="rId20"/>
    <p:sldId id="383" r:id="rId21"/>
    <p:sldId id="398" r:id="rId22"/>
    <p:sldId id="439" r:id="rId23"/>
    <p:sldId id="404" r:id="rId24"/>
    <p:sldId id="481" r:id="rId25"/>
    <p:sldId id="438" r:id="rId26"/>
    <p:sldId id="482" r:id="rId27"/>
    <p:sldId id="468" r:id="rId28"/>
    <p:sldId id="471" r:id="rId29"/>
    <p:sldId id="452" r:id="rId30"/>
    <p:sldId id="473" r:id="rId31"/>
    <p:sldId id="475" r:id="rId32"/>
    <p:sldId id="458" r:id="rId33"/>
    <p:sldId id="462" r:id="rId34"/>
    <p:sldId id="464" r:id="rId35"/>
    <p:sldId id="465" r:id="rId36"/>
    <p:sldId id="459" r:id="rId37"/>
    <p:sldId id="483" r:id="rId38"/>
    <p:sldId id="484" r:id="rId39"/>
    <p:sldId id="485" r:id="rId40"/>
    <p:sldId id="488" r:id="rId41"/>
    <p:sldId id="491" r:id="rId42"/>
    <p:sldId id="494" r:id="rId43"/>
    <p:sldId id="490" r:id="rId44"/>
    <p:sldId id="495" r:id="rId45"/>
    <p:sldId id="496" r:id="rId46"/>
    <p:sldId id="486" r:id="rId47"/>
    <p:sldId id="497" r:id="rId48"/>
    <p:sldId id="498" r:id="rId49"/>
    <p:sldId id="297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0107-F403-C44C-8A76-5EE5430A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2322F8-15C5-F39F-628D-B8C5D8DF7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6EE016-F0DC-1335-9DD2-858EF252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683C5F-B573-BC67-7543-6F69B12CD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411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C7D-8201-E75C-EC95-CC16CDBC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B1C3EF-FFB8-8FE0-EB1F-4E3E9291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2E73C6-1243-CC30-B900-7770895DD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811194-77AF-43A1-16C5-5096D8FDA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839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F6DE1-7D34-C49C-8135-D15BD3D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589577-A55A-D567-2237-D43764DF0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9832F6-5AF5-0DA1-41E8-C2858CA40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61D87B-8FA4-E38F-EE00-71852A8271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54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B51C2-AFF6-F0A3-3E6E-5EC82DA8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7B440-F3D5-D23B-FF0B-3C7778B92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4CF872-D347-8FB1-A711-4D13C87B6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050395-5272-46EF-4CB4-FB0ADD8BF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80376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92C2-81C2-215A-A363-43D95B0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1948AB-B0F1-4F5C-10F0-010EC91A7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38DF56-1AA4-5E1F-9900-0A14FBA0A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8967DF-56F7-BBBD-96B8-035854340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030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7B8-3148-7B0A-87BE-263C05E5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528C0D-FEE4-62B1-03B0-490A97E50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50E499-F9A5-5815-CFC0-029B7651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93D66-3F41-2547-49B2-3FC212FB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81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F7A9C-C1B2-122C-419B-3D3950BD1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25DA89-5B76-6943-C746-8EB1F0DE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DEFB2-6B54-1DED-F244-2F5342FFB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1051D-4BE4-70CB-40A4-732CAE7A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3356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6485-7C30-C99E-564F-BB86FE18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F6B831-686D-6BF5-720F-8BF91A94D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8B92BB-8490-A8EC-82B8-8F709845E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798EC0-416B-0088-AFEC-47CAEFC60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6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CF4E-2ABD-1348-EA5C-359220CAC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20DA6-B76E-DD56-3A9E-D9AF9ABB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D0B898-FF39-E772-9DC7-CF547E5A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A47DEB-0AE9-9405-5370-295691540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021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A0BE-DADA-1552-E01E-FFEDD40C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085112-0606-02EB-25E3-95E12DC0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43A150-8BF7-8540-CB08-1B2BB13B0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B822E7-EF9E-A97B-EF47-C3DCC87D9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838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6819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38C1-084A-0EED-5E75-75AE9C7E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BB641F-305C-A46D-3004-C34168B5B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7876F0-DBE8-1288-F0F8-4DF8187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1E02D-2509-BFCF-4BC5-A2013390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277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7D88-33EE-83A3-418C-E3B08CDB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E0658D-67F1-7F92-C522-4684DAC22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5A062-8DB4-9971-DC0B-F6663E081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B7183-4C93-A1B5-34D8-3ABF5D16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20871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A1D3-1C7B-5DAE-8BFA-AFC33979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B4EAF8-62FC-7891-4039-23D7BD67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B196E-F6A1-1B52-FF0B-FE8C5472E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7ABCC-F9E3-B7D6-0DCA-DF62FB73F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66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ACA7C-7AB1-AC9B-1204-28645F870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F5729-F228-C6D7-2CC4-4D3220EA2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AB186C-728F-22AC-9733-98A23836F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7561E-9EE8-579F-E3DC-8A095EB59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8250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F152-0F68-9034-C714-F69210393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D4CA7C-AF62-EB68-6B08-54D63E00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EE833F-89F7-B46F-99E9-D63043D17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60C9EE-01F8-67C7-F9C4-DD1020E6A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2218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2026/8/12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2026/8/12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05"/>
    </mc:Choice>
    <mc:Fallback xmlns="">
      <p:transition spd="slow" advTm="1320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775091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5"/>
    </mc:Choice>
    <mc:Fallback xmlns="">
      <p:transition spd="slow" advTm="2035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19297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PRJNA1011244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1166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1725010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fasterq-dump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SRR25825413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6699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准备工作</a:t>
            </a:r>
          </a:p>
        </p:txBody>
      </p:sp>
      <p:pic>
        <p:nvPicPr>
          <p:cNvPr id="8" name="音频 7">
            <a:hlinkClick r:id="" action="ppaction://media"/>
            <a:extLst>
              <a:ext uri="{FF2B5EF4-FFF2-40B4-BE49-F238E27FC236}">
                <a16:creationId xmlns:a16="http://schemas.microsoft.com/office/drawing/2014/main" id="{B85A1DD5-0713-5EC7-CF0B-7B50A4B00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5"/>
    </mc:Choice>
    <mc:Fallback xmlns="">
      <p:transition spd="slow" advTm="203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29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6513B0D-DDF7-184F-FED0-74990EA1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900" y="2190639"/>
            <a:ext cx="5518420" cy="44826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9927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407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96229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5"/>
    </mc:Choice>
    <mc:Fallback xmlns="">
      <p:transition spd="slow" advTm="2035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FE1-2C24-1E00-E82F-B78086E2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BD10A58-03B1-DABE-DE8E-03CB1D1EEA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FD92E2-2CFA-5152-8373-35689DB7B13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03A839-26EB-12EC-0DDF-84E2413D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F2F488C-AF9F-7172-63AF-F14A1F91203A}"/>
              </a:ext>
            </a:extLst>
          </p:cNvPr>
          <p:cNvSpPr txBox="1"/>
          <p:nvPr/>
        </p:nvSpPr>
        <p:spPr>
          <a:xfrm>
            <a:off x="334404" y="1394645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112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E4BD-D4B3-D918-B00B-877FEBD3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8922B-DCBA-7E4E-86CF-AE48DA6FC63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53510D3-88CD-B815-B3BB-BCC83D1C1EC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A52B481-6D00-DE53-CB18-E35444B8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C65709-CDCC-AAA7-A3A0-D664E3F06582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873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29612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如果去除引物了可以再进行一次质量评估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如果没有去接头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引物后续直接使用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0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如果进行了去接头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280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392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1E8C-FDA9-ED58-3568-390AAF8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35CBE2-3EE9-B398-0E2B-D12DB7280A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843751D-8B04-BFFB-6290-9057B33C551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C7E4284-00C1-5074-4CF2-2B43C0ED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557EBA-53DF-F3F8-3751-0431FFFEE297}"/>
              </a:ext>
            </a:extLst>
          </p:cNvPr>
          <p:cNvSpPr txBox="1"/>
          <p:nvPr/>
        </p:nvSpPr>
        <p:spPr>
          <a:xfrm>
            <a:off x="334403" y="10885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176398-83E4-54FF-215E-86B368BE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173" y="1178324"/>
            <a:ext cx="3413170" cy="149668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47508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使用示例数据运行一个多小时，建议挂后台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74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C2384B-FBB5-761C-0CFA-D3177387D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04" y="1837556"/>
            <a:ext cx="5085714" cy="2295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544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294740" y="1043684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02DADA2/ASV_RepSeqs.qzv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碱基转换统计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B50DF4-4CEE-D5CA-F618-FAFF8BE6EC9F}"/>
              </a:ext>
            </a:extLst>
          </p:cNvPr>
          <p:cNvSpPr txBox="1"/>
          <p:nvPr/>
        </p:nvSpPr>
        <p:spPr>
          <a:xfrm>
            <a:off x="4934000" y="1600021"/>
            <a:ext cx="6743354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双端测序可以进行双端合并使用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deblur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8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3F02-9759-6FB5-5BE9-DF663DD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F00EC6-367D-41BD-C348-34F14CB3790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D6C14D1-BD9E-BBED-CA47-1CA291E14C7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213492E-7BD7-88AB-6206-A6D4B713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6389A7-4A71-4B87-4915-DD9C9C97528D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--o-clustered-table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--o-clustered-sequences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02DADA2/OTU_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02DADA2/OTU_RepSeqs.qzv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2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B235-A499-6578-AF0F-BF6F4B6A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AC75D4-E592-36C2-24B2-C465546CA3D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792863-4CED-451A-B042-E6EFB28A18F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ACA565-A3C6-7B1E-4AD6-2D1B9574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E523D8-A4BB-35DD-E5A3-8FAFD66737BD}"/>
              </a:ext>
            </a:extLst>
          </p:cNvPr>
          <p:cNvSpPr txBox="1"/>
          <p:nvPr/>
        </p:nvSpPr>
        <p:spPr>
          <a:xfrm>
            <a:off x="334404" y="1102313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cp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old_metadata.tsv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建立新的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文件：可以使用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vim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编辑，或者在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excel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中删除低数据量的样本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创建文件夹存放过滤后的数据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对于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03FilteredData/ASV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_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FilterSamplesTable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filter-samples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02DADA2/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121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ABED-7EBC-EDD3-9925-051155AE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2B5C73-588C-0046-7420-0F243194901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FD65F1F-C67F-0AFC-A9E9-4A185F4938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3AA626-F93D-5815-F31F-414A78E1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D36BCB-BD2D-B66B-FB86-B9D812F386B3}"/>
              </a:ext>
            </a:extLst>
          </p:cNvPr>
          <p:cNvSpPr txBox="1"/>
          <p:nvPr/>
        </p:nvSpPr>
        <p:spPr>
          <a:xfrm>
            <a:off x="334404" y="1625957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如果进行了第五步的低数据量过滤，输入过滤后的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03FilteredData/ASV_FilterSamplesTable.qza 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OTU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1BC18A-4F6F-0642-26F5-0DD9D47DA295}"/>
              </a:ext>
            </a:extLst>
          </p:cNvPr>
          <p:cNvSpPr txBox="1"/>
          <p:nvPr/>
        </p:nvSpPr>
        <p:spPr>
          <a:xfrm>
            <a:off x="6418200" y="2118400"/>
            <a:ext cx="52960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如果没有输入之前的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注意如果没有创建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--i-table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02DADA2/OTU_table.qza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OTU_CleanTable.qza</a:t>
            </a:r>
            <a:endParaRPr lang="zh-CN" alt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510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EE58-BAFE-6962-75FA-A2803883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919671-A542-8154-3264-7058D888D0E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134702-9F70-F70D-1006-D500F81FB7F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7647C62-0FB5-18C2-38C1-AE5F67133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065FAB-58D5-AB4D-5AC1-210E5C6C6DDB}"/>
              </a:ext>
            </a:extLst>
          </p:cNvPr>
          <p:cNvSpPr txBox="1"/>
          <p:nvPr/>
        </p:nvSpPr>
        <p:spPr>
          <a:xfrm>
            <a:off x="334404" y="1474619"/>
            <a:ext cx="11523191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对于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summarize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dir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OTU_TableSummary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5879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下游数据分析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42365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5"/>
    </mc:Choice>
    <mc:Fallback xmlns="">
      <p:transition spd="slow" advTm="2035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output-path 04ASV_export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04ASV_export/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 04ASV_export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tools export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--input-path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--output-path 04OTU_export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EA47-91E8-4025-9260-4799EC3F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00EAF7-D65C-BB6C-B842-3D57B89E85C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C59318-378F-664E-A51D-E9FD227C70D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A268F60-3518-81FD-191A-5C78AFB6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302086-21B9-3D5A-387D-86134976C7C2}"/>
              </a:ext>
            </a:extLst>
          </p:cNvPr>
          <p:cNvSpPr txBox="1"/>
          <p:nvPr/>
        </p:nvSpPr>
        <p:spPr>
          <a:xfrm>
            <a:off x="334404" y="1382286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--p-n-jobs 10 --o-classification 05ASV_taxonomy.qza &gt; 05ASV_taxonomy.log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nohup qiime feature-classifier classify-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sklearn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-classifier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silva-138-99-nb-classifier.qza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-reads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02DADA2/OTU_representative_sequences.qza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--p-n-jobs 10 --o-classification 05OTU_taxonomy.qza &gt; 05OTU_taxonomy.log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4859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AFFBF-6161-DCD2-9E2F-E7A3608F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1B2661-E30C-00FA-6D2D-DDDC3A093EE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95AF29-CB10-F2DB-873C-A112EF74AB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8B4DDA8-B61A-7881-8B73-4810AC55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D7F451-344C-73A1-1525-6B5749F9CF82}"/>
              </a:ext>
            </a:extLst>
          </p:cNvPr>
          <p:cNvSpPr txBox="1"/>
          <p:nvPr/>
        </p:nvSpPr>
        <p:spPr>
          <a:xfrm>
            <a:off x="334404" y="1570143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05OTU_taxonomy.qza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05OTU_taxonomy.qzv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8854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44"/>
    </mc:Choice>
    <mc:Fallback xmlns="">
      <p:transition spd="slow" advTm="15444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133763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05ASV_TaxaBarplot.qzv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taxa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barplot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20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-taxonomy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05OTU_taxonomy.qza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--o-visualization 05OTU_TaxaBarplot.qzv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7299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使用插件构建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rooted_tree.qza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（必做）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06ASV_tree &gt; 06asv_tree.log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导出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代表序列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fasta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构建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06OTU_tree &gt; 06otu_tree.log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02DADA2/OTU_representative_sequences.qza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9979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可视化进化树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分析只需要调整对应的文件夹名称即可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法一：使用插件可视化，需要额外安装插件，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自行尝试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'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setuptools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&lt;81'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empress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法二：导出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等工具美化（推荐）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2887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749F-59E0-9E7F-DF5F-3F4BAB59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F9F93F-B8C4-448D-A0BD-3453EB21304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2E0C56-613E-E9CF-FCEA-E6F7CE074C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B366B1E-990D-B2F1-FD2C-C94A474F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50F6D-11B3-12DD-C3E9-46481C2BA385}"/>
              </a:ext>
            </a:extLst>
          </p:cNvPr>
          <p:cNvSpPr txBox="1"/>
          <p:nvPr/>
        </p:nvSpPr>
        <p:spPr>
          <a:xfrm>
            <a:off x="334404" y="1843950"/>
            <a:ext cx="11523191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为例，如果需要分析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改为对应文件即可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可以将清洗过的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（或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20000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 \</a:t>
            </a:r>
          </a:p>
          <a:p>
            <a:pPr lvl="0"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07ASV_diversity &gt; 07asv_diversity.log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100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07ASV_diversity/chao1_vector.qza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lvl="0"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07ASV_diversity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参考：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指标信息查看：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https://scikit.bio/docs/latest/generated/skbio.diversity.alpha.html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447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07ASV_diversity/aitchison_distance_matrix.qza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07ASV_diversity/euclidean_distance_matrix.qza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2334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08Alpha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08Alpha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Chao1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o-visualization 08Alpha/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chao1.qzv</a:t>
            </a:r>
          </a:p>
          <a:p>
            <a:pPr lvl="0"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  base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"08Alpha/${base}.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648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06ASV_tree/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10534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--p-metrics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shannon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observed_features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chao1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simpson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robbins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08Alpha/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5712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51"/>
    </mc:Choice>
    <mc:Fallback xmlns="">
      <p:transition spd="slow" advTm="57651"/>
    </mc:Fallback>
  </mc:AlternateContent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多样性的分析补充</a:t>
            </a:r>
          </a:p>
        </p:txBody>
      </p:sp>
    </p:spTree>
    <p:extLst>
      <p:ext uri="{BB962C8B-B14F-4D97-AF65-F5344CB8AC3E}">
        <p14:creationId xmlns:p14="http://schemas.microsoft.com/office/powerpoint/2010/main" val="1084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2"/>
    </mc:Choice>
    <mc:Fallback xmlns="">
      <p:transition spd="slow" advTm="2282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第一项：差异检验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09Beta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07ASV_diversity/*_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9729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3"/>
    </mc:Choice>
    <mc:Fallback xmlns="">
      <p:transition spd="slow" advTm="5673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</a:t>
            </a:r>
            <a:r>
              <a:rPr kumimoji="0" lang="en-US" altLang="zh-CN" sz="2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PCoA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结果导出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396178"/>
            <a:ext cx="11523191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58955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3"/>
    </mc:Choice>
    <mc:Fallback xmlns="">
      <p:transition spd="slow" advTm="5673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第三项：距离矩阵导出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673269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09Beta/distances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09Beta/distances/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09Beta/distances/"$name"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7888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3"/>
    </mc:Choice>
    <mc:Fallback xmlns="">
      <p:transition spd="slow" advTm="5673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ED75-266C-087A-8C50-E626F740B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AB2190-CFFE-9F08-E125-527FFE8FD94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Adonis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多元方差分析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8E824D-8D1D-43E0-285E-0AC4E07414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5EEBEC6-2E72-0A00-645C-E1549196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629678-24E8-4395-CB07-B2FCB91CF69B}"/>
              </a:ext>
            </a:extLst>
          </p:cNvPr>
          <p:cNvSpPr txBox="1"/>
          <p:nvPr/>
        </p:nvSpPr>
        <p:spPr>
          <a:xfrm>
            <a:off x="334404" y="1101594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--p-formula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可以设置单因素（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）、多因素（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sex + age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）以及考虑交互（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group * sex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09Beta/adonis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"group"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adonis_bray_curtis.qzv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 group + group * sex 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"$f"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--p-formula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09Beta/adonis/"${name}".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6604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3"/>
    </mc:Choice>
    <mc:Fallback xmlns="">
      <p:transition spd="slow" advTm="5673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54B9-068B-C475-9BC6-3D17522C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EFA6782-A8EB-D174-CE70-B2203E9A08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其他分析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33A8F73-9A29-76E2-8BF4-3E203BD5F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4AD5CD-83D6-BCC5-8FF0-5685463B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5F8D0B-AF16-B742-CE92-A62F9FC5A0F2}"/>
              </a:ext>
            </a:extLst>
          </p:cNvPr>
          <p:cNvSpPr txBox="1"/>
          <p:nvPr/>
        </p:nvSpPr>
        <p:spPr>
          <a:xfrm>
            <a:off x="2217674" y="2613392"/>
            <a:ext cx="775665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相关性检验（连续变量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距离矩阵）：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beta-correlation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Mantel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检验（多次分析距离矩阵之间）：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mantel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t-SNE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tsne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方差分析（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longitudinal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anova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具体参数使用：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4925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3"/>
    </mc:Choice>
    <mc:Fallback xmlns="">
      <p:transition spd="slow" advTm="5673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丰度差异分析补充</a:t>
            </a:r>
          </a:p>
        </p:txBody>
      </p:sp>
    </p:spTree>
    <p:extLst>
      <p:ext uri="{BB962C8B-B14F-4D97-AF65-F5344CB8AC3E}">
        <p14:creationId xmlns:p14="http://schemas.microsoft.com/office/powerpoint/2010/main" val="333382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86"/>
    </mc:Choice>
    <mc:Fallback xmlns="">
      <p:transition spd="slow" advTm="3786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326713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10ANCOMBC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ANCOM-BC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分析（新版本会自动添加伪计数）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group::Healthy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"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设置某一列的对照组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C470609-7E5A-7262-C838-E8608DBA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319" y="1477817"/>
            <a:ext cx="2188972" cy="401987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38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61"/>
    </mc:Choice>
    <mc:Fallback xmlns="">
      <p:transition spd="slow" advTm="2286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FE45C-642F-D93D-0D36-01060F22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4566D0C-8216-FD9D-57A5-5334B9144FF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A326992-0C84-EC7B-A661-8D6BCB7872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08C4601-5028-DC44-4BAF-3A995503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5264F8-44C9-8E7C-EF8F-D1773FF8CC7C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ancombc_exported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2351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06"/>
    </mc:Choice>
    <mc:Fallback xmlns="">
      <p:transition spd="slow" advTm="7906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9F26C-044D-3FA0-5889-42F5A290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260971-B941-6AEE-FBEE-4F3ADA93601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9AFAF7-F769-5C77-40C0-60590E5B9A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C5142A2-3DD1-D0ED-94FA-7F1FFBB0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71441B-1DB4-892A-63A8-762923836742}"/>
              </a:ext>
            </a:extLst>
          </p:cNvPr>
          <p:cNvSpPr txBox="1"/>
          <p:nvPr/>
        </p:nvSpPr>
        <p:spPr>
          <a:xfrm>
            <a:off x="374069" y="1348534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导出柱形图，有时如果按照对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值设置阈值可能得不到差异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10ANCOMBC/da_barplot_q_0.05.qzv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3842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199"/>
    </mc:Choice>
    <mc:Fallback xmlns="">
      <p:transition spd="slow" advTm="13199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C61C-ED99-007C-8BA0-2FD9F25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352D4E-8777-A602-36F4-B0C65AC8B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A6A566-E9B4-89D0-0C6C-9D8F175580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7F63FE-4F09-B15D-1B41-1690BA5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A5BDF3-ED61-D146-16C6-9768BDF55175}"/>
              </a:ext>
            </a:extLst>
          </p:cNvPr>
          <p:cNvSpPr txBox="1"/>
          <p:nvPr/>
        </p:nvSpPr>
        <p:spPr>
          <a:xfrm>
            <a:off x="334404" y="1095805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按科水平合并丰度表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科水平丰度表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17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717"/>
    </mc:Choice>
    <mc:Fallback xmlns="">
      <p:transition spd="slow" advTm="13717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第三项：按阶元进行丰度差异分析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上一步骤我们学习了如何提取到不同阶元的丰度表，接下来可以对某一个阶元进行丰度差异分析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一个分类中的物种有实验组中丰度更高有的对照组丰度更高，按阶元分析可以看整体差异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对科水平进行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ANCOM-BC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，其他阶元等级类比即可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/ASV_CleanTable_L5.qza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group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group::Healthy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10ANCOMBC/ancombc_group_L5.qza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生成差异条形图（使用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值，阈值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0.05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da-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10ANCOMBC/ancombc_group_L5.qza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10ANCOMBC/da_barplot_L5_p_0.05.qzv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93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036"/>
    </mc:Choice>
    <mc:Fallback xmlns="">
      <p:transition spd="slow" advTm="31036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49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51"/>
    </mc:Choice>
    <mc:Fallback xmlns="">
      <p:transition spd="slow" advTm="425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6223</Words>
  <Application>Microsoft Office PowerPoint</Application>
  <PresentationFormat>宽屏</PresentationFormat>
  <Paragraphs>729</Paragraphs>
  <Slides>49</Slides>
  <Notes>46</Notes>
  <HiddenSlides>0</HiddenSlides>
  <MMClips>1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5" baseType="lpstr">
      <vt:lpstr>等线</vt:lpstr>
      <vt:lpstr>等线 Light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10</cp:revision>
  <dcterms:created xsi:type="dcterms:W3CDTF">2026-08-11T09:29:18Z</dcterms:created>
  <dcterms:modified xsi:type="dcterms:W3CDTF">2026-08-12T12:29:49Z</dcterms:modified>
</cp:coreProperties>
</file>