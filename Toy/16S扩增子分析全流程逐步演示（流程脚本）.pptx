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tags/tag24.xml" ContentType="application/vnd.openxmlformats-officedocument.presentationml.tags+xml"/>
  <Override PartName="/ppt/notesSlides/notesSlide28.xml" ContentType="application/vnd.openxmlformats-officedocument.presentationml.notesSlide+xml"/>
  <Override PartName="/ppt/tags/tag25.xml" ContentType="application/vnd.openxmlformats-officedocument.presentationml.tags+xml"/>
  <Override PartName="/ppt/notesSlides/notesSlide29.xml" ContentType="application/vnd.openxmlformats-officedocument.presentationml.notesSlide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ppt/tags/tag27.xml" ContentType="application/vnd.openxmlformats-officedocument.presentationml.tags+xml"/>
  <Override PartName="/ppt/notesSlides/notesSlide31.xml" ContentType="application/vnd.openxmlformats-officedocument.presentationml.notesSlide+xml"/>
  <Override PartName="/ppt/tags/tag28.xml" ContentType="application/vnd.openxmlformats-officedocument.presentationml.tags+xml"/>
  <Override PartName="/ppt/notesSlides/notesSlide32.xml" ContentType="application/vnd.openxmlformats-officedocument.presentationml.notesSlide+xml"/>
  <Override PartName="/ppt/tags/tag29.xml" ContentType="application/vnd.openxmlformats-officedocument.presentationml.tags+xml"/>
  <Override PartName="/ppt/notesSlides/notesSlide33.xml" ContentType="application/vnd.openxmlformats-officedocument.presentationml.notesSlide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7" r:id="rId2"/>
    <p:sldId id="412" r:id="rId3"/>
    <p:sldId id="353" r:id="rId4"/>
    <p:sldId id="355" r:id="rId5"/>
    <p:sldId id="285" r:id="rId6"/>
    <p:sldId id="408" r:id="rId7"/>
    <p:sldId id="358" r:id="rId8"/>
    <p:sldId id="414" r:id="rId9"/>
    <p:sldId id="400" r:id="rId10"/>
    <p:sldId id="401" r:id="rId11"/>
    <p:sldId id="364" r:id="rId12"/>
    <p:sldId id="413" r:id="rId13"/>
    <p:sldId id="420" r:id="rId14"/>
    <p:sldId id="422" r:id="rId15"/>
    <p:sldId id="427" r:id="rId16"/>
    <p:sldId id="430" r:id="rId17"/>
    <p:sldId id="375" r:id="rId18"/>
    <p:sldId id="432" r:id="rId19"/>
    <p:sldId id="429" r:id="rId20"/>
    <p:sldId id="383" r:id="rId21"/>
    <p:sldId id="398" r:id="rId22"/>
    <p:sldId id="439" r:id="rId23"/>
    <p:sldId id="404" r:id="rId24"/>
    <p:sldId id="481" r:id="rId25"/>
    <p:sldId id="438" r:id="rId26"/>
    <p:sldId id="482" r:id="rId27"/>
    <p:sldId id="468" r:id="rId28"/>
    <p:sldId id="471" r:id="rId29"/>
    <p:sldId id="452" r:id="rId30"/>
    <p:sldId id="473" r:id="rId31"/>
    <p:sldId id="475" r:id="rId32"/>
    <p:sldId id="458" r:id="rId33"/>
    <p:sldId id="462" r:id="rId34"/>
    <p:sldId id="464" r:id="rId35"/>
    <p:sldId id="465" r:id="rId36"/>
    <p:sldId id="459" r:id="rId37"/>
    <p:sldId id="297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447F1-515A-40AD-976D-F688464E28D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7CD99-A7E1-483D-9BE8-A41EFC334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82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C2B3-77A8-2799-410D-DAA569A1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A050BE-299B-7885-E385-A7C839A07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7C5B4-7C1F-A8A7-BAF4-EEAC9254E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C22E4-B641-65B6-30C1-A471CEEB8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916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3216-5A1E-DCC4-8071-728DCC2D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8A27AC-D2AB-6163-D730-825E36444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826EFF-D715-ADAC-6668-1A93111EA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F1B466-38E6-6DF9-4E83-B84CA337E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27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E6B4-DE6F-3AAC-F06F-2017082C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9A8570-92DF-EF53-36B2-3365C9652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80EB30-D217-BEFB-97C6-D9D6FAA70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9C664D-9101-BAF3-8E1D-6E55CD568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931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14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2F14-94C5-218F-EE5B-053C7530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97DA36-8D70-F6BD-3D3D-5BFE7F9E9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ED7526-B2BD-D723-61D4-8DF81067F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428741-8FFE-9AE2-B5AB-CAF1303D4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71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6F13-EB3D-1297-8037-CB6BFEA3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2CE32B-5A6D-7AEC-252E-57B3FDB0E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AE756D-D588-1C58-7C5F-37DB7CA10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92ECE1-07D2-83E9-B5D9-07013C1E6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325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5B76-0A7D-BE86-82A5-B0194B50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E05B81-C62B-BBBA-5956-DB66E3BC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DD623-C231-3E23-BF5D-5FE154345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685CC-06A9-B365-F04B-00770EE04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590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6530-58D8-143B-5336-58D2E2EA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DCBE7F-C278-0721-6997-57C5EFC71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213A5-6670-ED09-2356-64979DF71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E7E84-8E3E-3816-B000-488F0D365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239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4477-A984-D051-180A-0B0CFB81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88E243-496B-8C19-0606-DABE51741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537905-4358-2A83-1039-C3C285102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442088-238F-E82E-2D9B-C206DD1DE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999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C2E8-551A-2970-A219-62B09372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FBA4B5-7459-7B9A-610C-BD05AEF7E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BE23F3-914C-B498-3EEA-9988EAC49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533F2-5B92-C0A7-A861-28BD692F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293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0107-F403-C44C-8A76-5EE5430A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2322F8-15C5-F39F-628D-B8C5D8DF7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6EE016-F0DC-1335-9DD2-858EF252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683C5F-B573-BC67-7543-6F69B12CD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411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5C7D-8201-E75C-EC95-CC16CDBC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B1C3EF-FFB8-8FE0-EB1F-4E3E92914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E73C6-1243-CC30-B900-7770895DD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11194-77AF-43A1-16C5-5096D8FDA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839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65A5-9153-C4BB-0702-93C9C549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97BDF-6326-AF7A-7EB1-DD6281D75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7B3AE5-1B13-C783-5306-2F3C8F791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EF27B-1E22-F4B4-E49F-ADAD78FFE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362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D185-F350-4E01-4871-F80197C7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654B2F-7931-D67F-EBE2-7952CAAB9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E1902-075E-5454-7153-36BC425E5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F9194-485F-8784-76E2-58A06863C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285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6DE1-7D34-C49C-8135-D15BD3D7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89577-A55A-D567-2237-D43764DF0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9832F6-5AF5-0DA1-41E8-C2858CA40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61D87B-8FA4-E38F-EE00-71852A827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454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CC90-16F0-1783-DB4C-0FA984DE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729A7A-BFED-52C3-6816-D5DF112AC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3E8CD-6FDC-B50E-C18B-24187B1D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551BE7-84E6-2C6D-DB9C-A51F7C8A9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415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BAF4-4964-075B-C7C4-EA70575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AA0BDD-C697-9DE2-2BA8-A64DDEAE3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9AB52F-4083-C361-5847-79B9CC005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A3B4-1FD5-96D1-826D-A6D7E5070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082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BABC-19AC-10FC-3BC9-F9B6EAD3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2D335A-30B7-F86E-453E-D671C480E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2C037-4241-17A8-46BD-1DA01BAE8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78D259-FC65-ABC5-C075-98B1426CE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910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51C2-AFF6-F0A3-3E6E-5EC82DA8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D7B440-F3D5-D23B-FF0B-3C7778B9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4CF872-D347-8FB1-A711-4D13C87B6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050395-5272-46EF-4CB4-FB0ADD8BF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037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92C2-81C2-215A-A363-43D95B0F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1948AB-B0F1-4F5C-10F0-010EC91A7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38DF56-1AA4-5E1F-9900-0A14FBA0A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967DF-56F7-BBBD-96B8-035854340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30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B8-3148-7B0A-87BE-263C05E5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528C0D-FEE4-62B1-03B0-490A97E50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50E499-F9A5-5815-CFC0-029B7651C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93D66-3F41-2547-49B2-3FC212FB3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781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7A9C-C1B2-122C-419B-3D3950BD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25DA89-5B76-6943-C746-8EB1F0DE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DEFB2-6B54-1DED-F244-2F5342FFB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1051D-4BE4-70CB-40A4-732CAE7A1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335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F04E5-88E7-1497-D467-46DE028D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FF4585-6DF3-93B0-3F4D-4D9203E60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86071D-CDF6-3C11-7416-FA5B887F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7968B-EA3D-C2FD-D22D-534F92796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324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1C2D-773F-A69F-C9F0-BD2FB1C1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C10D1A-6EF3-B276-394F-C2728DECC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0C42E6-A614-7E6E-EC18-D3ADFCAC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A72B3-A42E-6DAD-93F5-9B04D5D87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7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6485-7C30-C99E-564F-BB86FE18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F6B831-686D-6BF5-720F-8BF91A94D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8B92BB-8490-A8EC-82B8-8F709845E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98EC0-416B-0088-AFEC-47CAEFC60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64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CF4E-2ABD-1348-EA5C-359220CA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420DA6-B76E-DD56-3A9E-D9AF9ABBF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D0B898-FF39-E772-9DC7-CF547E5A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47DEB-0AE9-9405-5370-295691540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021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1948-AB27-CA30-399B-7E6078A9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9AD096-CF1A-F349-9E16-22CA1793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BCFCCB-FE7E-98F6-446D-738C5F33B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0C243C-FC4C-B7B6-F4FB-12A7A7775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423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FA5A-F43C-80CB-DAE0-5C880E66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56B210-0EB4-E66B-16BB-7FF0B0088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1A6FC2-4311-40ED-047A-3E326E096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F24E8-1E01-3076-F4B2-22FEEE468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4685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7CFF-9DDF-D1C6-3CED-33827786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D5EC23-D924-68CB-A6CF-11DBB5B13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4C3D5-C399-0338-2883-7D570FC2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65A6A-5697-3168-E278-3A9FC32D5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5239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A0BE-DADA-1552-E01E-FFEDD40C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85112-0606-02EB-25E3-95E12DC0F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3A150-8BF7-8540-CB08-1B2BB13B0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B822E7-EF9E-A97B-EF47-C3DCC87D9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838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1384-498D-379F-BE11-983404C8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08177D-15C9-648D-34DA-FD5326ED8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48C429-5867-B0C0-D228-BD3DB54C2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14EC0-18DA-422E-6792-B6586A2D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14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DB4C-276E-E21B-BCDD-A894D5E6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0B4CB6-960B-FFB0-FC3D-A69B04F5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8075F3-9A7F-E7A2-A1B3-D632EF9C2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D3CD77-9CC9-91E2-9C92-94CFE6C93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9446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87F9-347C-D4D8-16DD-16B49D53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F6E739-BC06-B7A4-31DE-7FDB82D8C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7282AB-DFC6-4BDB-E3B2-3845A7A73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A0847-35B9-F597-6DD6-F7BDCAD6C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9117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3AA8-ADFD-6969-1AE5-6FABA220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261997-9930-0F7A-0369-F01027153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90E5E8-750F-5F24-23AA-3AFD2D977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EC8051-934A-F17D-109C-95926C632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52C78B-7E13-4650-8F08-A7008ADAD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681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9AD24-165F-E0F7-6287-9BF364E8B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CFCCEF-2F49-5349-289F-537228F92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575D1-543B-3555-ED75-D8D5FDF2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E71F-6939-414C-BD31-6CEAF88FF45E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10BD1-F516-E8CE-DF37-2A117C74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18F14-9A8D-DE68-7AE2-6A9BEBD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2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DD1D1-C75F-4B28-A93A-AAC86822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AFFCC-B34E-21FE-81A3-CB6DE727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090AB-61D5-8720-FB04-9511A6F1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BE94-0B50-4834-8370-0A5AC5521CB7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BCF9D-34E7-9773-7825-20FFC846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4491C-30AA-6567-47A7-2DEB37BB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0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98DFF-6DBD-432D-BBEA-829BE4E0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7EDD09-AECE-08AD-FC58-7F38181D4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76AA6-1061-F39A-44D2-B317C21E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26D8-7161-4444-A7B5-98302CD3B4FE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43694-C7EF-A6D1-D9DE-1B58B3D6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9E7D-7685-FB46-1EE4-88D6B9C8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94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BA72B-E0B6-F339-D089-9E995911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DA96E-61D1-9228-F65E-3C936F50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EB93F-CEA3-D8D7-8A62-2DA5A03F9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0BFC0-5391-C499-504D-30FD12FB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6384-DD9F-4B06-9C40-A026C1023E8B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C96270-CA95-893E-1987-E09C54DC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8BE5B0-C100-FCD2-FB1F-509CB4CE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45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6DBC3-9566-EA2F-149E-E0AD4455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AC825E-2250-A2B0-3B14-70D110967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9B32BD-D688-5309-1926-062B44918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14FC6-7955-67AF-961D-356F6712E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AC9F6B-C11B-9BF6-D662-794D533A3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EC9BB6-AD40-9D29-A445-39D1BD49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7A48-5ED2-41E6-9A8A-F94D211D872B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ADAB8B-4D91-D752-45DF-D52E6DB2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F0B29-A065-429C-6177-C68F25B7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60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F36CC-3CC6-CCAD-6B08-B1F5D6EF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EB9A6D-310D-3081-DC0A-03C60D47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C21A-449E-4CD3-AFA7-F53373306E15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4DABA8-87BB-7B55-3E1A-286531B2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1886CA-87C3-3D58-3DC7-0FB6E71C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7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E19C7-5E2B-4DCD-6CE1-771CE298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CD6FA-14EC-4B80-B1E0-DDF3F535C189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17BCFA-1287-F2B0-0829-32B5B78A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40109-3A93-24B3-8B55-A9AB8A7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C3B6B4-E4B2-43D1-9B13-CA298DB78E7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1BCC16-E475-A1DD-E7E7-BD7C6F0A1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8953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3AEEF2-E485-B873-0B98-2EAC3A8FF74A}"/>
              </a:ext>
            </a:extLst>
          </p:cNvPr>
          <p:cNvSpPr txBox="1"/>
          <p:nvPr userDrawn="1"/>
        </p:nvSpPr>
        <p:spPr>
          <a:xfrm>
            <a:off x="310775" y="143073"/>
            <a:ext cx="23022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0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生信分析教学视频</a:t>
            </a:r>
            <a:endParaRPr lang="en-US" altLang="zh-CN" sz="2000" b="1" i="0" baseline="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站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微博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知乎：地上飞猪</a:t>
            </a:r>
          </a:p>
        </p:txBody>
      </p:sp>
    </p:spTree>
    <p:extLst>
      <p:ext uri="{BB962C8B-B14F-4D97-AF65-F5344CB8AC3E}">
        <p14:creationId xmlns:p14="http://schemas.microsoft.com/office/powerpoint/2010/main" val="417230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FB30A-193F-5228-678A-90754B65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DDB0F-6DA5-CB58-587B-BD18EA6DE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F7EF3E-6468-24B0-D7CD-850CE0F9B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B37C5F-808D-11DA-0E65-5972E68B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2E1E-0099-47AA-A182-A849DCB81AD5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1BF31-06C9-F073-EAC0-7140FCAB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1802C8-73F3-CC59-93AC-EDD3565D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2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C16D0-184A-F659-70BD-E0E3BC9B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778F01-EE0D-05D7-C666-12974D3FB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52F40F-A2D4-94E8-0980-46449DEF4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AD412-08D3-9AD4-ECF4-F8449581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F1B5-82FE-491B-A756-21ED348B517B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30F88-5A1C-BDEC-DB8B-65387FB3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491A03-FAC4-90E0-BD84-047712C0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06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1D4AF-F46A-C921-9863-056204E1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F078C-F069-9D55-F3F9-BA0183325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73537-991C-FA66-2093-1D1BA684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A156-5968-4164-862B-986608806F2C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C79D6E-F511-4720-DC68-6763E970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9B2DC6-E276-0E18-80E3-B563DE26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0E19C7-5E2B-4DCD-6CE1-771CE298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2CD6FA-14EC-4B80-B1E0-DDF3F535C18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17BCFA-1287-F2B0-0829-32B5B78A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40109-3A93-24B3-8B55-A9AB8A7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1BCC16-E475-A1DD-E7E7-BD7C6F0A1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8953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95B4BC-3074-A8BE-2382-AFF93A4CB1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526971"/>
            <a:ext cx="12192000" cy="33102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1EBB1F-6D9F-F4A2-A571-00D31384FF62}"/>
              </a:ext>
            </a:extLst>
          </p:cNvPr>
          <p:cNvSpPr txBox="1"/>
          <p:nvPr userDrawn="1"/>
        </p:nvSpPr>
        <p:spPr>
          <a:xfrm>
            <a:off x="3453737" y="6561680"/>
            <a:ext cx="5284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生物信息学教学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地上飞猪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| E-mail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studid@163.com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6646B9-A0D9-DD3D-0A3D-DFEBDDFBB41B}"/>
              </a:ext>
            </a:extLst>
          </p:cNvPr>
          <p:cNvSpPr txBox="1"/>
          <p:nvPr userDrawn="1"/>
        </p:nvSpPr>
        <p:spPr>
          <a:xfrm>
            <a:off x="310775" y="143073"/>
            <a:ext cx="23022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0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生信分析教学视频</a:t>
            </a:r>
            <a:endParaRPr lang="en-US" altLang="zh-CN" sz="2000" b="1" i="0" baseline="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站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微博</a:t>
            </a:r>
            <a:r>
              <a:rPr lang="en-US" altLang="zh-CN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400" b="0" i="1" baseline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知乎：地上飞猪</a:t>
            </a:r>
          </a:p>
        </p:txBody>
      </p:sp>
    </p:spTree>
    <p:extLst>
      <p:ext uri="{BB962C8B-B14F-4D97-AF65-F5344CB8AC3E}">
        <p14:creationId xmlns:p14="http://schemas.microsoft.com/office/powerpoint/2010/main" val="2673149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813FDC-CA08-E093-1ED9-9DED664AC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40681-7837-3737-B767-EBFA8D5D3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CF84F-E193-AF2A-E894-E901C7D7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45D8-F34D-4E14-BB68-8B203452FFF0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FE64B-ED11-025A-62E1-06836A14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F0CF9-3CEF-4176-F46B-3719932D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97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F8A608-86F0-AE62-4C22-692999A4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B64499-4B3F-6A20-76DE-E0114E7E0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0507A-5134-2D1A-1631-8F83401AF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AFBAA-B4B9-4901-A71A-C2527D37FAB5}" type="datetime1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BE2BF-23B4-0A53-8559-60ED173D4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09840-5F13-931E-724A-E32CEFCBD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4060" y="63674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3C3B6B4-E4B2-43D1-9B13-CA298DB78E7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188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61DC8B8-CF3A-8383-9872-9A9F51E5FBBE}"/>
              </a:ext>
            </a:extLst>
          </p:cNvPr>
          <p:cNvSpPr txBox="1"/>
          <p:nvPr/>
        </p:nvSpPr>
        <p:spPr>
          <a:xfrm>
            <a:off x="595312" y="3136612"/>
            <a:ext cx="11001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16S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扩增子分析全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流程逐步演示（流程脚本）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44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5"/>
    </mc:Choice>
    <mc:Fallback xmlns="">
      <p:transition spd="slow" advTm="132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CAB1-541F-F4A2-DC3A-9981606E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FA42D40-417A-0504-2113-D06CCFCEB795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6F31C7-9496-2DED-21B4-C744941D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3EB88E-DDD8-95ED-B297-1919BE591B30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Ⅰ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示例数据下载（不需要可跳过）</a:t>
            </a:r>
          </a:p>
        </p:txBody>
      </p:sp>
    </p:spTree>
    <p:extLst>
      <p:ext uri="{BB962C8B-B14F-4D97-AF65-F5344CB8AC3E}">
        <p14:creationId xmlns:p14="http://schemas.microsoft.com/office/powerpoint/2010/main" val="77509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53DE-DC84-D33B-32AE-E6FE0A76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FA086E-4987-C329-22C3-9FEFE495933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示例数据：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Metadata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38E71F0-28B2-92AD-691C-5D4933EE85D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4598235-C61E-BC5A-5EFC-7FE9EFA8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F29FE-8586-B739-8CD9-BD8A8397BFD3}"/>
              </a:ext>
            </a:extLst>
          </p:cNvPr>
          <p:cNvSpPr txBox="1"/>
          <p:nvPr/>
        </p:nvSpPr>
        <p:spPr>
          <a:xfrm>
            <a:off x="334403" y="1192976"/>
            <a:ext cx="115231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替换下方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project 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https://www.ncbi.nlm.nih.gov/Traces/study/?acc=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PRJNA1011244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116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EA61-10AE-97C6-1D61-DE98ABBE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EEED92-5F95-71D7-0A25-6A2D1945F27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示例数据：下载数据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02CFE00-D9B5-F265-0052-1DADBB023BF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D88E0B5-A6AB-0285-47ED-F97F79F4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55EEB5-9EDC-8D4B-58BC-0A4ED025AF58}"/>
              </a:ext>
            </a:extLst>
          </p:cNvPr>
          <p:cNvSpPr txBox="1"/>
          <p:nvPr/>
        </p:nvSpPr>
        <p:spPr>
          <a:xfrm>
            <a:off x="334404" y="1725010"/>
            <a:ext cx="1152319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需要安装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-tools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，单独下载替换下边的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编号即可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fasterq-dump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SRR25825413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批量下载，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sra_ids.txt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SRA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编号列表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bash -c "cat sra_ids.txt |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xargs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-n 1 -P 8 -I {}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-c 'fasterq-dump --split-3 -e 2 -t 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tmp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-O ./00RawData {} &amp;&amp;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gzip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./00RawData/{}*.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'" &gt; download.log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669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E7D7B8B-6D1D-BA63-249B-B9BE6309136A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2374D9-C02B-1CD1-D5EA-410DF4EE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9B4D55-D768-F94D-1DDC-82A726BC5EA4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Ⅱ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准备工作</a:t>
            </a:r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B85A1DD5-0713-5EC7-CF0B-7B50A4B008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2388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185F8F-829B-B7CF-2182-D9E113A7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D9ABE65-58BD-D1E0-5C47-C5733C38A4B6}"/>
              </a:ext>
            </a:extLst>
          </p:cNvPr>
          <p:cNvGraphicFramePr>
            <a:graphicFrameLocks noGrp="1"/>
          </p:cNvGraphicFramePr>
          <p:nvPr/>
        </p:nvGraphicFramePr>
        <p:xfrm>
          <a:off x="3044481" y="1636739"/>
          <a:ext cx="563816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380">
                  <a:extLst>
                    <a:ext uri="{9D8B030D-6E8A-4147-A177-3AD203B41FA5}">
                      <a16:colId xmlns:a16="http://schemas.microsoft.com/office/drawing/2014/main" val="2431581903"/>
                    </a:ext>
                  </a:extLst>
                </a:gridCol>
                <a:gridCol w="1629093">
                  <a:extLst>
                    <a:ext uri="{9D8B030D-6E8A-4147-A177-3AD203B41FA5}">
                      <a16:colId xmlns:a16="http://schemas.microsoft.com/office/drawing/2014/main" val="3532408828"/>
                    </a:ext>
                  </a:extLst>
                </a:gridCol>
                <a:gridCol w="2619693">
                  <a:extLst>
                    <a:ext uri="{9D8B030D-6E8A-4147-A177-3AD203B41FA5}">
                      <a16:colId xmlns:a16="http://schemas.microsoft.com/office/drawing/2014/main" val="361296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QIIME2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scikit-learn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分类器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7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待发布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9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1.7.1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Silva</a:t>
                      </a:r>
                      <a:r>
                        <a:rPr lang="zh-CN" altLang="en-US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数据库（不好打开）</a:t>
                      </a:r>
                      <a:endParaRPr lang="zh-CN" altLang="zh-CN" sz="1600" b="0" i="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8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2026.4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数据库（不好打开）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5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8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88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80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2025.4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54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2024.10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26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2024.5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1.4.2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2024-05-30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3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2024.2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56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2023.9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76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2023.7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0.24.1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silva-138-99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2021-05-09</a:t>
                      </a:r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lang="en-US" altLang="zh-CN" sz="16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5332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8EC63D8-4729-068B-37B3-14D9AB1F3DFB}"/>
              </a:ext>
            </a:extLst>
          </p:cNvPr>
          <p:cNvSpPr txBox="1"/>
          <p:nvPr/>
        </p:nvSpPr>
        <p:spPr>
          <a:xfrm>
            <a:off x="3425236" y="1075607"/>
            <a:ext cx="487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版本与预训练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分类器兼容性对照表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047065-BDB4-1C43-D13D-9CC57A79F88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5DA9C35-FE89-2F99-C8BC-E06E53E1452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29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550-37E0-33B8-43F3-5C4B8A9A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9E52D4-FD89-2BB1-07FA-B56D51DF5E46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136135B-BA83-14E7-F5A0-E452D35FF65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570ED04-9436-260B-5742-58908A80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5CD11D-EDB5-2BB7-01AB-D7C671829853}"/>
              </a:ext>
            </a:extLst>
          </p:cNvPr>
          <p:cNvSpPr txBox="1"/>
          <p:nvPr/>
        </p:nvSpPr>
        <p:spPr>
          <a:xfrm>
            <a:off x="334404" y="1013814"/>
            <a:ext cx="1152319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需要提前安装并配置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Miniconda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软件下载：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https://library.qiime2.org/quickstart/qiime2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分类器下载：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https://library.qiime2.org/data-resources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513B0D-DDF7-184F-FED0-74990EA19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900" y="2190639"/>
            <a:ext cx="5518420" cy="44826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992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5BF5-0BFB-5942-4C9B-065497F9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1B1A12-0D4B-5123-1CF7-EC19A8D6E6B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第一步：安装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QIIME 2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BE3A7B5-3154-3428-E3A8-C4B9EADF1B7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9354C62-9896-C9E7-7FC0-73EDD56E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D07658-971C-4488-82BE-D93503B66675}"/>
              </a:ext>
            </a:extLst>
          </p:cNvPr>
          <p:cNvSpPr txBox="1"/>
          <p:nvPr/>
        </p:nvSpPr>
        <p:spPr>
          <a:xfrm>
            <a:off x="334404" y="1192976"/>
            <a:ext cx="11523191" cy="5386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需要提前安装并配置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Miniconda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参考官方文档：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https://library.qiime2.org/quickstart/qiime2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无法读取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yml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GitHub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文件代理网页，或者手动从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Github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下载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yml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到本地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qiime2-2026.1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https://gh-proxy.org/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https://raw.githubusercontent.com/qiime2/distributions/refs/heads/dev/2026.1/amplicon/released/qiime2-amplicon-ubuntu-latest-conda.yml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codna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运行太慢，可以使用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mamba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mamba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qiime2-2026.1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https://raw.githubusercontent.com/qiime2/distributions/refs/heads/dev/2026.1/amplicon/released/qiime2-amplicon-ubuntu-latest-conda.yml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版本太新依赖文件找不到，可以下载旧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稳定版本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--name qiime2-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--file https://raw.githubusercontent.com/qiime2/distributions/refs/heads/dev/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/amplicon/released/qiime2-amplicon-ubuntu-latest-conda.yml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07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A02D-9ED4-9C3D-3CF6-6FD2C3F2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78FAB6-A7C4-EF1B-BB76-B6F5079765B9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第二步：下载分类器（如需）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96EC2C-6230-B303-3483-0417C1EF9F06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42D9DA8-3B3F-367D-50B7-20806EFC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774CB4-8131-4498-C606-465963D2AECF}"/>
              </a:ext>
            </a:extLst>
          </p:cNvPr>
          <p:cNvSpPr txBox="1"/>
          <p:nvPr/>
        </p:nvSpPr>
        <p:spPr>
          <a:xfrm>
            <a:off x="334404" y="1005127"/>
            <a:ext cx="11523191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#16S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的分类器下载：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https://library.qiime2.org/data-resources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注意下载的分类器版本要与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版本对应。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wget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https://data.qiime2.org/classifiers/sklearn-1.4.2/silva/silva-138-99-nb-classifier.qza&amp;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wget https://data.qiime2.org/2024.2/common/silva-138-99-nb-classifier.qza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60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1009-7878-74DD-C566-2D776AFC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DD7A8B-08D3-9D73-3A56-DB4F7BBAA2E7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第二步：下载分类器（如需）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3EC933A-B799-359D-C1ED-F2C0D11B40F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3D63227-88A3-AE80-E8E0-EEED1185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9CDFC4-E559-776C-8898-42886F6067ED}"/>
              </a:ext>
            </a:extLst>
          </p:cNvPr>
          <p:cNvSpPr txBox="1"/>
          <p:nvPr/>
        </p:nvSpPr>
        <p:spPr>
          <a:xfrm>
            <a:off x="334402" y="1098947"/>
            <a:ext cx="11523191" cy="615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UNITE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数据库：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https://unite.ut.ee/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（建议有条件从官网下载）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ITS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的分类器下载：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https://github.com/colinbrislawn/unite-train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641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7544-0781-4263-CB19-AB620DFE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7D72F02-1DBB-AAB0-4EF2-944FFE496754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第三步：准备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manifest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9911601-FB8C-FBCB-D923-EEAE1DB433B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BFA430F-AE5F-5119-80A2-07355965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46B26-2578-CE25-DA0F-6622AEFCB7B7}"/>
              </a:ext>
            </a:extLst>
          </p:cNvPr>
          <p:cNvSpPr txBox="1"/>
          <p:nvPr/>
        </p:nvSpPr>
        <p:spPr>
          <a:xfrm>
            <a:off x="334404" y="1394645"/>
            <a:ext cx="11523191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官方教程：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https://amplicon-docs.qiime2.org/en/stable/how-to-guides/how-to-import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首先准备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，可以使用下边的命令快速整理文件路径，第一列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sample-id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应当是样本名称。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红色部分按照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文件命名规则修改。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你也可以在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excel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中完成修改。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双端测序结果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echo -e "sample-id\tforward-absolute-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treverse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-absolute-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 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for f in *_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=${f%_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 echo -e "${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"$f")\t$(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"${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}_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")" &gt;&gt;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单端测序结果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echo -e "sample-id\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tabsolute-filepath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 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for f in 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 echo -e "${f%.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fastq.gz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}\t$(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realpath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"$f")" &gt;&gt;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99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AF29-3E2D-26B0-98AB-EB18F0D9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188E6EC-6AD1-DCAA-902A-008D0CCE8009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0AF8EC-D79F-1545-046D-C6A4E75B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3172B7-D6A6-258D-32E4-79D1CF6EA3E4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Ⅲ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上游数据分析</a:t>
            </a:r>
          </a:p>
        </p:txBody>
      </p:sp>
    </p:spTree>
    <p:extLst>
      <p:ext uri="{BB962C8B-B14F-4D97-AF65-F5344CB8AC3E}">
        <p14:creationId xmlns:p14="http://schemas.microsoft.com/office/powerpoint/2010/main" val="39622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2FE1-2C24-1E00-E82F-B78086E2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D10A58-03B1-DABE-DE8E-03CB1D1EEAF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第一步：导入序列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FD92E2-2CFA-5152-8373-35689DB7B13F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03A839-26EB-12EC-0DDF-84E2413D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2F488C-AF9F-7172-63AF-F14A1F91203A}"/>
              </a:ext>
            </a:extLst>
          </p:cNvPr>
          <p:cNvSpPr txBox="1"/>
          <p:nvPr/>
        </p:nvSpPr>
        <p:spPr>
          <a:xfrm>
            <a:off x="334404" y="1394645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官方教程：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https://amplicon-docs.qiime2.org/en/stable/how-to-guides/how-to-import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import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--type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SampleData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PairedEndSequencesWithQuality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]'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--input-path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--output-path 01RawDemux.qza\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--input-format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PairedEndFastqManifestPhred33V2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import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--type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SampleData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SequencesWithQuality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]'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--input-path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manifest.tsv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--output-path 01RawDemux.qza\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--input-format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SingleEndFastqManifestPhred33V2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41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6E4BD-D4B3-D918-B00B-877FEBD3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A8922B-DCBA-7E4E-86CF-AE48DA6FC632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第一步：导入序列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53510D3-88CD-B815-B3BB-BCC83D1C1EC2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A52B481-6D00-DE53-CB18-E35444B8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C65709-CDCC-AAA7-A3A0-D664E3F06582}"/>
              </a:ext>
            </a:extLst>
          </p:cNvPr>
          <p:cNvSpPr txBox="1"/>
          <p:nvPr/>
        </p:nvSpPr>
        <p:spPr>
          <a:xfrm>
            <a:off x="334403" y="4107391"/>
            <a:ext cx="1152319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查看数据质量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将红色部分替换为刚才输出的文件名称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demux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01RawDemux_summary.qzv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运行完成之后可以在：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87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631C-B729-ACC6-23F5-F044DC31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6B74BA-15FD-6967-B000-BC77B987385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第二步：去引物（如需）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3311D3A-92EF-0740-2818-C0F880B9A2F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664BE0A-2B99-4175-AEA0-F5A17D0D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B6F0D1-3AB1-2148-C3FD-BE2A6305DBC1}"/>
              </a:ext>
            </a:extLst>
          </p:cNvPr>
          <p:cNvSpPr txBox="1"/>
          <p:nvPr/>
        </p:nvSpPr>
        <p:spPr>
          <a:xfrm>
            <a:off x="320549" y="1296125"/>
            <a:ext cx="1152319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如果去除引物了可以再进行一次质量评估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demux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01CutadaptDemux_summary.qza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运行完成之后可以在：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如果没有去接头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引物后续直接使用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文件继续分析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23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6BDC-3940-72F4-5622-9791D23E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CA767F-CAF1-9396-4265-F35247C9ED3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0751D25-BF3C-7725-4F28-57771FC1A854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DC6EA87-A411-4A8B-EBC0-013E81D8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C9A9BE-32ED-FD43-F28D-2C6A2AEEE25D}"/>
              </a:ext>
            </a:extLst>
          </p:cNvPr>
          <p:cNvSpPr txBox="1"/>
          <p:nvPr/>
        </p:nvSpPr>
        <p:spPr>
          <a:xfrm>
            <a:off x="334404" y="1009980"/>
            <a:ext cx="1152319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如果进行了去接头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引物：将导入文件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可以根据选择的导入文件的评估报告设定截断阈值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双端测序去噪，运行时间长建议挂后台或调用多线程（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dada2 denoise-paired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01CutadaptDemux.qza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280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--p-n-threads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--p-trim-left-f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--p-trim-left-r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单端测序去噪，运行时间长建议挂后台或调用多线程（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dada2 denoise-single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--p-trim-left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250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--p-n-threads 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392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1E8C-FDA9-ED58-3568-390AAF83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35CBE2-3EE9-B398-0E2B-D12DB7280A6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843751D-8B04-BFFB-6290-9057B33C551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C7E4284-00C1-5074-4CF2-2B43C0ED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557EBA-53DF-F3F8-3751-0431FFFEE297}"/>
              </a:ext>
            </a:extLst>
          </p:cNvPr>
          <p:cNvSpPr txBox="1"/>
          <p:nvPr/>
        </p:nvSpPr>
        <p:spPr>
          <a:xfrm>
            <a:off x="334403" y="1088538"/>
            <a:ext cx="1152319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注意事项：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根据质量分数确定截断值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可以找到中位数开始跌破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Q20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或者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Q30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的位置作为截断值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也可以自己设定阈值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--p-n-threads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可以设置线程数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建议挂后台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dada2 denoise-paired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01CutadaptDemux.qza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240 --p-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230 --p-n-threads 0 --p-trim-left-f 0 --p-trim-left-r 0 --output-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 &gt; 02DADA2.log 2&gt;&amp;1 &amp;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176398-83E4-54FF-215E-86B368BE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173" y="1178324"/>
            <a:ext cx="3413170" cy="14966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750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97BE-8B82-F846-E3F4-CB2533B3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2B5AFF-D15C-1107-AF5B-96FE409D5CB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C69CC9-6AE4-DFD1-46F0-61BED813FEF4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2085AB1-A67F-6803-151D-A6E1E5A9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3D83FA-534C-7048-A616-B08E42571AE1}"/>
              </a:ext>
            </a:extLst>
          </p:cNvPr>
          <p:cNvSpPr txBox="1"/>
          <p:nvPr/>
        </p:nvSpPr>
        <p:spPr>
          <a:xfrm>
            <a:off x="334403" y="1088538"/>
            <a:ext cx="1152319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使用示例数据运行一个多小时，建议挂后台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dada2 denoise-paired --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-demultiplexed-seqs 01CutadaptDemux.qza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 240 --p-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 230 --p-n-threads 0 --p-trim-left-f 0 --p-trim-left-r 0 --output-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 &gt; 02DADA2.log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4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12A60-5F05-71F4-A03F-E6A74270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CA53DA-8A47-E782-D638-7F0D33509339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1871D1-52BF-9A9D-BF24-4DDD3D0E7957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748D5F0-326F-516B-B674-BFF29B84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4D2DC5-6746-85E6-4066-CAC4209E73A3}"/>
              </a:ext>
            </a:extLst>
          </p:cNvPr>
          <p:cNvSpPr txBox="1"/>
          <p:nvPr/>
        </p:nvSpPr>
        <p:spPr>
          <a:xfrm>
            <a:off x="320549" y="1397730"/>
            <a:ext cx="11523191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figaro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可以计算截断值（注意去噪时使用未去接头的文件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01RawDemux.qza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https://www.jianshu.com/p/66ebd1d4558a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软件链接：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https://github.com/Zymo-Research/figaro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安装方法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 clone https://github.com/Zymo-Research/figaro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cd figaro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pip3 install –r requirements.txt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使用方法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已经去除引物的数据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选项指定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，没有可以指定引物长度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指定扩增子长度（不含引物接头，如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V3-V4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区长度大概为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464  bp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指定测序文件名格式：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nononsense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格式是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XXX_1.fastq.gz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下机数据指定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指定错误可能会报错，你可以尝试指定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zymo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illumina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keriksson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nononsense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fvieira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yzhang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如果报错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conda env create -n figaro --file http://john-quensen.com/wp-content/uploads/2020/03/figaro.yml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python $SOFTWARE/figaro/figaro.py -i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00RawData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-o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00RawData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-f 1 -r 1 -a 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464</a:t>
            </a:r>
            <a:r>
              <a:rPr kumimoji="0" lang="pt-B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-F nononsense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6DB36D-24A4-82B3-9B17-9BE0DA930BEB}"/>
              </a:ext>
            </a:extLst>
          </p:cNvPr>
          <p:cNvSpPr txBox="1"/>
          <p:nvPr/>
        </p:nvSpPr>
        <p:spPr>
          <a:xfrm>
            <a:off x="11252742" y="10034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可跳过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C2384B-FBB5-761C-0CFA-D3177387D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04" y="1837556"/>
            <a:ext cx="5085714" cy="2295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5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70CA-4A74-7DE5-72FC-C21ABFAD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CE8A70-69F7-F40D-6B42-62C8B7555F71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DADA2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去噪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EE1EF56-9638-D574-FD98-18EADB325A9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D49E2CE-F42D-2FF1-6D86-F8568630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488E2-BE9F-AD81-8675-E0E1ED3961BE}"/>
              </a:ext>
            </a:extLst>
          </p:cNvPr>
          <p:cNvSpPr txBox="1"/>
          <p:nvPr/>
        </p:nvSpPr>
        <p:spPr>
          <a:xfrm>
            <a:off x="294740" y="1043684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1. ASV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ASV_TableSummary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2. ASV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tabulate-seqs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02DADA2/ASV_RepSeqs.qzv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3.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去噪统计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denoising_stats.qza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denoising_stats.qzv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4.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碱基转换统计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base_transition_stats.qza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</a:t>
            </a:r>
            <a:r>
              <a:rPr kumimoji="0" lang="en-US" altLang="zh-C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base_transition_stats.qzv</a:t>
            </a: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B50DF4-4CEE-D5CA-F618-FAFF8BE6EC9F}"/>
              </a:ext>
            </a:extLst>
          </p:cNvPr>
          <p:cNvSpPr txBox="1"/>
          <p:nvPr/>
        </p:nvSpPr>
        <p:spPr>
          <a:xfrm>
            <a:off x="4934000" y="1600021"/>
            <a:ext cx="6743354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对于单端测序也可以使用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deblur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去噪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双端测序可以进行双端合并使用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deblur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去噪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16s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可以使用内置数据库：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deblur denoise-16S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其他扩增子可以自定义数据库：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deblur denoise-other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https://blog.csdn.net/weixin_44264742/article/details/135777553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官方文档：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https://amplicon-docs.qiime2.org/en/stable/references/plugins/deblur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3F02-9759-6FB5-5BE9-DF663DD2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F00EC6-367D-41BD-C348-34F14CB3790E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OTU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聚类（可选）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D6C14D1-BD9E-BBED-CA47-1CA291E14C7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213492E-7BD7-88AB-6206-A6D4B713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6389A7-4A71-4B87-4915-DD9C9C97528D}"/>
              </a:ext>
            </a:extLst>
          </p:cNvPr>
          <p:cNvSpPr txBox="1"/>
          <p:nvPr/>
        </p:nvSpPr>
        <p:spPr>
          <a:xfrm>
            <a:off x="334404" y="1102313"/>
            <a:ext cx="11523191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有研究使用将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进行聚类生成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进行扩增子分析，但是目前认为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的分辨率更高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后续建树、多样性等分析流程基本一致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可以考虑是否进行该步骤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--p-perc-identity 0.97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相似度阈值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vsearch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cluster-features-de-novo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02DADA2/representative_sequences.qza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--p-perc-identity 0.97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--p-strand plus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--p-threads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--o-clustered-table 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--o-clustered-sequences 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OTU_representative_sequences.qza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1. 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丰度表统计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OTU_table.qza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02DADA2/OTU_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TableSummary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2. ASV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tabulate-seqs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-data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02DADA2/OTU_representative_sequences.qza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02DADA2/OTU_RepSeqs.qzv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2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B235-A499-6578-AF0F-BF6F4B6A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AC75D4-E592-36C2-24B2-C465546CA3D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第五步：低数据量样本过滤（可选）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792863-4CED-451A-B042-E6EFB28A18F3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2ACA565-A3C6-7B1E-4AD6-2D1B9574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523D8-A4BB-35DD-E5A3-8FAFD66737BD}"/>
              </a:ext>
            </a:extLst>
          </p:cNvPr>
          <p:cNvSpPr txBox="1"/>
          <p:nvPr/>
        </p:nvSpPr>
        <p:spPr>
          <a:xfrm>
            <a:off x="334404" y="1102313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可以备份一下原来的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old_metadata.tsv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建立新的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文件：可以使用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vim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编辑，或者在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excel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中删除低数据量的样本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整理完成之后进行下面的操作：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创建文件夹存放过滤后的数据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mkdir 03FilteredData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对于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filter-samples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03FilteredData/ASV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FilterSamplesTable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qza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（不演示）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filter-samples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02DADA2/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OTU_table.qza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OTU_FilterSamplesTable.qza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21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ABED-7EBC-EDD3-9925-051155AE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A2B5C73-588C-0046-7420-0F243194901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第六步：低丰度序列过滤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FD65F1F-C67F-0AFC-A9E9-4A185F49381E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C3AA626-F93D-5815-F31F-414A78E1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D36BCB-BD2D-B66B-FB86-B9D812F386B3}"/>
              </a:ext>
            </a:extLst>
          </p:cNvPr>
          <p:cNvSpPr txBox="1"/>
          <p:nvPr/>
        </p:nvSpPr>
        <p:spPr>
          <a:xfrm>
            <a:off x="334404" y="1625957"/>
            <a:ext cx="11523191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低丰度过滤：将总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reads&lt;10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（这个数值可以根据需求修改）的序列过滤掉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如果进行了第五步的低数据量过滤，输入过滤后的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03FilteredData/ASV_FilterSamplesTable.qza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ASV_CleanTable.qza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OTU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OTU_FilterSamplesTable.qza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--o-filtered-table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1BC18A-4F6F-0642-26F5-0DD9D47DA295}"/>
              </a:ext>
            </a:extLst>
          </p:cNvPr>
          <p:cNvSpPr txBox="1"/>
          <p:nvPr/>
        </p:nvSpPr>
        <p:spPr>
          <a:xfrm>
            <a:off x="6418200" y="2118400"/>
            <a:ext cx="52960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如果没有输入之前的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注意如果没有创建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需要提前创建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03FilteredData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02DADA2/table.qza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filter-features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--i-table </a:t>
            </a: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02DADA2/OTU_table.qza </a:t>
            </a: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--p-min-frequency 10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--o-filtered-table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OTU_CleanTable.qza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10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EE58-BAFE-6962-75FA-A2803883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919671-A542-8154-3264-7058D888D0E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第六步：低丰度序列过滤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E134702-9F70-F70D-1006-D500F81FB7F0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7647C62-0FB5-18C2-38C1-AE5F6713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065FAB-58D5-AB4D-5AC1-210E5C6C6DDB}"/>
              </a:ext>
            </a:extLst>
          </p:cNvPr>
          <p:cNvSpPr txBox="1"/>
          <p:nvPr/>
        </p:nvSpPr>
        <p:spPr>
          <a:xfrm>
            <a:off x="334404" y="1474619"/>
            <a:ext cx="11523191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对过滤后的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ASV/OTU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丰度表进行统计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feature-table summarize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ASV_TableSummary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（不演示）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feature-table summarize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--output-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dir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03FilteredData/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OTU_TableSummary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587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CCBA-18EB-099F-6A01-CBC44A63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BCC8241-3699-DA81-3562-CA54C9BB0D9A}"/>
              </a:ext>
            </a:extLst>
          </p:cNvPr>
          <p:cNvSpPr/>
          <p:nvPr/>
        </p:nvSpPr>
        <p:spPr>
          <a:xfrm>
            <a:off x="0" y="2634673"/>
            <a:ext cx="12191999" cy="15886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18852C-CDAB-598E-1C3C-7721B795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93D28D-CF46-D0F3-A921-706A7A9FB1DA}"/>
              </a:ext>
            </a:extLst>
          </p:cNvPr>
          <p:cNvSpPr txBox="1"/>
          <p:nvPr/>
        </p:nvSpPr>
        <p:spPr>
          <a:xfrm>
            <a:off x="477655" y="3075057"/>
            <a:ext cx="11236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Ⅳ  </a:t>
            </a:r>
            <a:r>
              <a:rPr kumimoji="0" lang="zh-CN" altLang="en-US" sz="4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下游数据分析</a:t>
            </a:r>
          </a:p>
        </p:txBody>
      </p:sp>
    </p:spTree>
    <p:extLst>
      <p:ext uri="{BB962C8B-B14F-4D97-AF65-F5344CB8AC3E}">
        <p14:creationId xmlns:p14="http://schemas.microsoft.com/office/powerpoint/2010/main" val="342365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"/>
    </mc:Choice>
    <mc:Fallback xmlns="">
      <p:transition spd="slow" advTm="203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63FD-98D4-8281-C472-427FEF01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8CF518-D667-8DA8-9A6A-12B15E67705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ASV/OTU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丰度表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2142398-6D64-45C8-205C-CD0A7DB9A347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8EA4C60-EA18-BCBB-19B9-6EC005CB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3D042-CE39-05BF-F240-97DF74DB72F2}"/>
              </a:ext>
            </a:extLst>
          </p:cNvPr>
          <p:cNvSpPr txBox="1"/>
          <p:nvPr/>
        </p:nvSpPr>
        <p:spPr>
          <a:xfrm>
            <a:off x="334404" y="943597"/>
            <a:ext cx="11523191" cy="550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格式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03FilteredData/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output-path 04ASV_export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转换为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环境中不需要额外配置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convert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04ASV_export/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table.biom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 04ASV_export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--to-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lvl="0">
              <a:defRPr/>
            </a:pP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tools export \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--input-path 03FilteredData/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--output-path 04OTU_export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biom convert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04OTU_export/feature-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table.biom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-o 04OTU_export/feature-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table.tsv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--to-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tsv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71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EA47-91E8-4025-9260-4799EC3F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900EAF7-D65C-BB6C-B842-3D57B89E85CA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3C59318-378F-664E-A51D-E9FD227C70DA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A268F60-3518-81FD-191A-5C78AFB6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302086-21B9-3D5A-387D-86134976C7C2}"/>
              </a:ext>
            </a:extLst>
          </p:cNvPr>
          <p:cNvSpPr txBox="1"/>
          <p:nvPr/>
        </p:nvSpPr>
        <p:spPr>
          <a:xfrm>
            <a:off x="334404" y="1382286"/>
            <a:ext cx="11523191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下载与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版本对应的分类器，比如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silva-138-99-nb-classifier.qza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ASV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feature-classifier classify-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sklearn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-classifier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silva-138-99-nb-classifier.qza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-reads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--p-n-jobs 10 --o-classification 05ASV_taxonomy.qza &gt; 05ASV_taxonomy.log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nohup qiime feature-classifier classify-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sklearn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-classifier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silva-138-99-nb-classifier.qza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-reads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02DADA2/OTU_representative_sequences.qza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--p-n-jobs 10 --o-classification 05OTU_taxonomy.qza &gt; 05OTU_taxonomy.log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85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FFBF-6161-DCD2-9E2F-E7A3608F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1B2661-E30C-00FA-6D2D-DDDC3A093EE6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95AF29-CB10-F2DB-873C-A112EF74ABE1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8B4DDA8-B61A-7881-8B73-4810AC55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D7F451-344C-73A1-1525-6B5749F9CF82}"/>
              </a:ext>
            </a:extLst>
          </p:cNvPr>
          <p:cNvSpPr txBox="1"/>
          <p:nvPr/>
        </p:nvSpPr>
        <p:spPr>
          <a:xfrm>
            <a:off x="334404" y="1570143"/>
            <a:ext cx="11523191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05ASV_taxonomy.qza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05ASV_taxonomy.qzv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metadata tabulate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--m-input-file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05OTU_taxonomy.qza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05OTU_taxonomy.qzv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885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2AC-A78D-1E4B-24B7-231360A1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D4CE20-09F5-10CF-574C-9C131B888DB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第二步：物种注释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209D5D-7641-8690-F766-F4D58873D93B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1FC8A29-F41F-3371-87E0-B2A28580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C42F27-BE96-24A6-B06B-C51FE4A49BAD}"/>
              </a:ext>
            </a:extLst>
          </p:cNvPr>
          <p:cNvSpPr txBox="1"/>
          <p:nvPr/>
        </p:nvSpPr>
        <p:spPr>
          <a:xfrm>
            <a:off x="334404" y="1337630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绘制物种堆叠图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taxa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barplot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-taxonomy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05ASV_taxonomy.qza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05ASV_TaxaBarplot.qzv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qiime taxa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barplot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-table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03FilteredData/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OTU_CleanTable.qza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-taxonomy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05OTU_taxonomy.qza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--m-metadata-file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metadata.tsv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</a:p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--o-visualization 05OTU_TaxaBarplot.qzv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729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BB8B-49E4-80ED-8FB8-ADB1D27E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4845AC-EAD0-7006-5FDD-FA0F3D75F170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第三步：系统发育树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43C8C5D-4212-667F-68A2-4471176904BD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C2531F2-5D15-684A-DF86-BE05B33D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773984-BF44-9682-51E4-097F703475E0}"/>
              </a:ext>
            </a:extLst>
          </p:cNvPr>
          <p:cNvSpPr txBox="1"/>
          <p:nvPr/>
        </p:nvSpPr>
        <p:spPr>
          <a:xfrm>
            <a:off x="334404" y="1102313"/>
            <a:ext cx="11523191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一些多样性指数会用到系统发育树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使用插件构建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rooted_tree.qza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（必做）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phylogeny align-to-tree-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mafft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fasttree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10 --output-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06ASV_tree &gt; 06asv_tree.log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导出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代表序列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fasta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02DADA2/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representative_sequences.qza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04ASV_export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OTU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构建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phylogeny align-to-tree-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mafft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fasttree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-sequences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02DADA2/OTU_representative_sequences.qza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--p-n-threads 10 --output-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06OTU_tree &gt; 06otu_tree.log 2&gt;&amp;1 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代表序列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fasta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--input-path 02DADA2/OTU_representative_sequences.qza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--output-path 04OTU_export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997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FD5B-BB01-E54D-865D-17052092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853B76-B3D9-B1C0-6F70-C8ADF2CD32DA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第三步：系统发育树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CB44212-6184-A875-D250-350C5944F638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84C8C79-1406-5FD3-2D8E-4695DCCC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046EA0-B104-17ED-8A03-870CB3914041}"/>
              </a:ext>
            </a:extLst>
          </p:cNvPr>
          <p:cNvSpPr txBox="1"/>
          <p:nvPr/>
        </p:nvSpPr>
        <p:spPr>
          <a:xfrm>
            <a:off x="334404" y="1192976"/>
            <a:ext cx="11523191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可视化进化树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为例，如果需要对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OTU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分析只需要调整对应的文件夹名称即可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法一：使用插件可视化，需要额外安装插件，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自行尝试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pip install '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setuptools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&lt;81'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pip install empress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empress tree-plot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-tree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empress tree-plot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-tree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unrooted_tree.qzv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法二：导出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nwk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树形文件，自行在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ITOL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Chiplot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等工具美化（推荐）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--input-path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--output-path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无根树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tools export --input-path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tree.qza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--output-path 06ASV_tree/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unrooted_tree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28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749F-59E0-9E7F-DF5F-3F4BAB59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F9F93F-B8C4-448D-A0BD-3453EB21304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/Beta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E2E0C56-613E-E9CF-FCEA-E6F7CE074C6A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B366B1E-990D-B2F1-FD2C-C94A474F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50F6D-11B3-12DD-C3E9-46481C2BA385}"/>
              </a:ext>
            </a:extLst>
          </p:cNvPr>
          <p:cNvSpPr txBox="1"/>
          <p:nvPr/>
        </p:nvSpPr>
        <p:spPr>
          <a:xfrm>
            <a:off x="334404" y="1843950"/>
            <a:ext cx="11523191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为例，如果需要分析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OUT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改为对应文件即可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可以将清洗过的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ASV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（或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OTU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summary.qzv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https://view.qiime2.org/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查看最小的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Frequency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值作为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--p-sampling-depth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（抽平深度）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nohup qiime diversity core-metrics-phylogenetic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-phylogeny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06ASV_tree/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03FilteredData/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--p-sampling-depth 20000 \</a:t>
            </a:r>
          </a:p>
          <a:p>
            <a:pPr lvl="0"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--p-n-jobs-or-threads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 \</a:t>
            </a:r>
          </a:p>
          <a:p>
            <a:pPr lvl="0"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--m-metadata-file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--output-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07ASV_diversity &gt; 07asv_diversity.log 2&gt;&amp;1 &amp;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00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811C-8425-BE09-0D05-06C7E433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AB15F1-D792-F513-2D8E-3CF79764135D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0C15F0A-0AA6-E9D2-EFE5-DAC1EC968F82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2B13725-CAB7-5F50-3795-BC79D346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8536F5-D5B7-85F3-B8A7-C6B3898559D6}"/>
              </a:ext>
            </a:extLst>
          </p:cNvPr>
          <p:cNvSpPr txBox="1"/>
          <p:nvPr/>
        </p:nvSpPr>
        <p:spPr>
          <a:xfrm>
            <a:off x="334404" y="1040757"/>
            <a:ext cx="11523191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多样性指数，注意导入文件的是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diversity core-metrics-phylogenetic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导出的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 --i-table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--o-alpha-diversity 07ASV_diversity/chao1_vector.qza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</a:p>
          <a:p>
            <a:pPr lvl="0"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 --i-table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rarefied_table.qza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--o-alpha-diversity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07ASV_diversity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/simpson_vector.qza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剩余的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('ace',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berger_parker_d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brillouin_d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'chao1', 'chao1_ci', 'dominance', 'doubles',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enspie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esty_ci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fisher_alpha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gini_index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goods_coverage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heip_e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kempton_taylor_q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lladser_pe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margalef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menhinick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michaelis_menten_fit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observed_features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pielou_e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robbins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simpson_e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'singles', 'strong’)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https://amplicon-docs.qiime2.org/en/stable/references/plugins/diversity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指标信息查看：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https://scikit.bio/docs/latest/generated/skbio.diversity.alpha.html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447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6D52-CB39-89FA-132F-F37A611A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AB1B12-170C-D722-C774-2B96CD0CBA38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2252D7A-427D-0A99-3652-4F7FB2D3587F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B8C254A-3956-3CFE-B043-1EB6E6A2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128BC-F30A-3541-80D0-CA40276B62C4}"/>
              </a:ext>
            </a:extLst>
          </p:cNvPr>
          <p:cNvSpPr txBox="1"/>
          <p:nvPr/>
        </p:nvSpPr>
        <p:spPr>
          <a:xfrm>
            <a:off x="334404" y="1285340"/>
            <a:ext cx="11523191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Beta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Aitchison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距离</a:t>
            </a: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 --i-table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07ASV_diversity/rarefied_table.qza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aitchison --o-distance-matrix 07ASV_diversity/aitchison_distance_matrix.qza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补充计算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Euclidean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距离</a:t>
            </a: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beta --i-table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07ASV_diversity/rarefied_table.qza </a:t>
            </a: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--p-metric euclidean --o-distance-matrix 07ASV_diversity/euclidean_distance_matrix.qza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剩余的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Beta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aitchison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braycurtis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canberra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canberra_adkins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chebyshev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cityblock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'correlation', 'cosine', 'dice', 'euclidean', 'hamming',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jaccard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jensenshannon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'matching',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minkowski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rogerstanimoto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russellrao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seuclidean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sokalsneath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sqeuclidean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'yule')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https://amplicon-docs.qiime2.org/en/stable/references/plugins/diversity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233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9877-D698-B6A4-7B6C-0C0BC9F7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17236-627B-6DB0-F172-A9911A39026B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</a:t>
            </a:r>
            <a:r>
              <a:rPr lang="en-US" altLang="zh-CN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Alpha/Beta</a:t>
            </a:r>
            <a:r>
              <a:rPr lang="zh-CN" altLang="en-US" sz="2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多样性指数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B52740-5E3C-57AF-D3CA-484B7EAFB86B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B337019-0839-EC54-AB8C-EADE4FF3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E9A587-6884-A48C-2808-82642B1A0B11}"/>
              </a:ext>
            </a:extLst>
          </p:cNvPr>
          <p:cNvSpPr txBox="1"/>
          <p:nvPr/>
        </p:nvSpPr>
        <p:spPr>
          <a:xfrm>
            <a:off x="334404" y="1035959"/>
            <a:ext cx="11523191" cy="54168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Alpha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多样性数据导出及差异性检验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需要提前创建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08Alpha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文件夹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mkdir 08Alpha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Shannon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07ASV_diversity/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_vector.qza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--o-visualization 08Alpha/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shannon.qzv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Chao1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07ASV_diversity/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_vector.qza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--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o-visualization 08Alpha/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chao1.qzv</a:t>
            </a:r>
          </a:p>
          <a:p>
            <a:pPr lvl="0">
              <a:defRPr/>
            </a:pP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批处理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file in 07ASV_diversity/*_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do</a:t>
            </a:r>
          </a:p>
          <a:p>
            <a:pPr lvl="0"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base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=$(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basename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"$file" _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vector.qza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vl="0"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 diversity alpha-group-significance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-alpha-diversity "$file"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--m-metadata-file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--o-visualization "08Alpha/${base}.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qzv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</a:p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64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819E-3E0D-488F-95F7-186EFD3B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6F9D80-FCFD-5956-E0BC-326F6B5DAF4C}"/>
              </a:ext>
            </a:extLst>
          </p:cNvPr>
          <p:cNvSpPr txBox="1"/>
          <p:nvPr/>
        </p:nvSpPr>
        <p:spPr>
          <a:xfrm>
            <a:off x="6520904" y="212431"/>
            <a:ext cx="5193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第五步：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稀疏曲线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537B2B8-E846-3B87-EAD5-8B6CAE69F4E5}"/>
              </a:ext>
            </a:extLst>
          </p:cNvPr>
          <p:cNvCxnSpPr>
            <a:cxnSpLocks/>
          </p:cNvCxnSpPr>
          <p:nvPr/>
        </p:nvCxnSpPr>
        <p:spPr>
          <a:xfrm flipH="1">
            <a:off x="6754830" y="702703"/>
            <a:ext cx="47255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98750E3-1DF8-8B4A-85A5-13FB75B1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C3B6B4-E4B2-43D1-9B13-CA298DB78E79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885343-C3A0-47D7-5972-C7BA322D21B3}"/>
              </a:ext>
            </a:extLst>
          </p:cNvPr>
          <p:cNvSpPr txBox="1"/>
          <p:nvPr/>
        </p:nvSpPr>
        <p:spPr>
          <a:xfrm>
            <a:off x="334404" y="1192976"/>
            <a:ext cx="11523191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可以指定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多样性指数，不同指数中间空格间隔，注意大小写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qiime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diversity alpha-rarefaction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-table 03FilteredData/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ASV_CleanTable.qza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-phylogeny 06ASV_tree/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rooted_tree.qza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--p-max-depth 10534 \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--p-metrics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shannon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observed_features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chao1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simpson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robbins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\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--p-steps 20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--m-metadata-file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metadata.tsv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--o-visualization 08Alpha/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Alpha_rarefaction_curves.qzv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支持的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多样性指数还有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metrics: Set[Str % Choices('ace',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berger_parker_d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brillouin_d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'chao1', 'dominance', 'doubles',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enspie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faith_pd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fisher_alpha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gini_index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goods_coverage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heip_e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lladser_pe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margalef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mcintosh_e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menhinick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michaelis_menten_fit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observed_features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pielou_e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robbins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shannon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simpson_e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', 'singles')]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https://amplicon-docs.qiime2.org/en/stable/references/plugins/diversity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指标信息查看：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https://scikit.bio/docs/latest/generated/skbio.diversity.alpha.html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571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51"/>
    </mc:Choice>
    <mc:Fallback xmlns="">
      <p:transition spd="slow" advTm="57651"/>
    </mc:Fallback>
  </mc:AlternateContent>
  <p:extLst>
    <p:ext uri="{E180D4A7-C9FB-4DFB-919C-405C955672EB}">
      <p14:showEvtLst xmlns:p14="http://schemas.microsoft.com/office/powerpoint/2010/main">
        <p14:playEvt time="291" objId="4"/>
        <p14:triggerEvt type="onClick" time="292" objId="4"/>
        <p14:pauseEvt time="54649" objId="4"/>
        <p14:seekEvt time="54649" objId="4" seek="54338"/>
        <p14:resumeEvt time="54650" objId="4"/>
        <p14:pauseEvt time="55109" objId="4"/>
        <p14:seekEvt time="55109" objId="4" seek="54779"/>
        <p14:resumeEvt time="55110" objId="4"/>
        <p14:pauseEvt time="57651" objId="4"/>
        <p14:stopEvt time="57651" objId="4"/>
      </p14:showEvt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BC550E-EE58-331F-5F08-4A8492A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B6B4-E4B2-43D1-9B13-CA298DB78E79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77BD3A-5A73-F6F1-915E-11D6147CB345}"/>
              </a:ext>
            </a:extLst>
          </p:cNvPr>
          <p:cNvSpPr txBox="1"/>
          <p:nvPr/>
        </p:nvSpPr>
        <p:spPr>
          <a:xfrm>
            <a:off x="595312" y="3136612"/>
            <a:ext cx="11001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107286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1"/>
    </mc:Choice>
    <mc:Fallback xmlns="">
      <p:transition spd="slow" advTm="425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4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4739</Words>
  <Application>Microsoft Office PowerPoint</Application>
  <PresentationFormat>宽屏</PresentationFormat>
  <Paragraphs>541</Paragraphs>
  <Slides>37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等线 Light</vt:lpstr>
      <vt:lpstr>微软雅黑</vt:lpstr>
      <vt:lpstr>Arial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 薛</dc:creator>
  <cp:lastModifiedBy>浩 薛</cp:lastModifiedBy>
  <cp:revision>6</cp:revision>
  <dcterms:created xsi:type="dcterms:W3CDTF">2026-08-11T09:29:18Z</dcterms:created>
  <dcterms:modified xsi:type="dcterms:W3CDTF">2026-08-11T09:36:45Z</dcterms:modified>
</cp:coreProperties>
</file>